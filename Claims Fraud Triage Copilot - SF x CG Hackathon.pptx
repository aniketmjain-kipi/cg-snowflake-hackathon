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7" r:id="rId5"/>
    <p:sldMasterId id="214748366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Akshaya Jayakumar"/>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11" Type="http://schemas.openxmlformats.org/officeDocument/2006/relationships/slide" Target="slides/slide4.xml"/><Relationship Id="rId10" Type="http://schemas.openxmlformats.org/officeDocument/2006/relationships/slide" Target="slides/slide3.xml"/><Relationship Id="rId21" Type="http://schemas.openxmlformats.org/officeDocument/2006/relationships/slide" Target="slides/slide14.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slide" Target="slides/slide12.xml"/><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9-16T12:52:33.086">
    <p:pos x="225" y="408"/>
    <p:text>remove the Thank you from here. just have q &amp;a. thank you always at the complete end</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b71988b81_4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g3fb71988b81_41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71988b81_41_29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g3fb71988b81_41_290: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g3fb71988b81_41_29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fb71988b81_41_76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g3fb71988b81_41_763: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g3fb71988b81_41_76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fbaa233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g3fbaa233f3c_0_4: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fb71988b81_142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g3fb71988b81_142_847: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409edba4d58_11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g409edba4d58_11_454:notes"/>
          <p:cNvSpPr/>
          <p:nvPr>
            <p:ph idx="2" type="sldImg"/>
          </p:nvPr>
        </p:nvSpPr>
        <p:spPr>
          <a:xfrm>
            <a:off x="1142653" y="685800"/>
            <a:ext cx="457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fb71988b81_142_110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g3fb71988b81_142_1100: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g3fb71988b81_142_110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409edba4d58_1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g409edba4d58_11_3: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409edba4d58_11_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g409edba4d58_11_640: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fb71988b81_0_8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g3fb71988b81_0_834: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h4511155e487c4e21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h4511155e487c4e21_4_0: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h6087e150f57e635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h6087e150f57e6355_0_1: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409edba4d58_11_86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 name="Google Shape;431;g409edba4d58_11_862: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g409edba4d58_11_86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fb71988b81_4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g3fb71988b81_4_4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2"/>
          <p:cNvSpPr txBox="1"/>
          <p:nvPr>
            <p:ph type="title"/>
          </p:nvPr>
        </p:nvSpPr>
        <p:spPr>
          <a:xfrm>
            <a:off x="333375" y="464582"/>
            <a:ext cx="7596664" cy="33908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1" i="0" sz="2100">
                <a:solidFill>
                  <a:srgbClr val="1A1A1A"/>
                </a:solidFill>
                <a:latin typeface="Cambria"/>
                <a:ea typeface="Cambria"/>
                <a:cs typeface="Cambria"/>
                <a:sym typeface="Cambria"/>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Google Shape;13;p2"/>
          <p:cNvSpPr txBox="1"/>
          <p:nvPr>
            <p:ph idx="1" type="body"/>
          </p:nvPr>
        </p:nvSpPr>
        <p:spPr>
          <a:xfrm>
            <a:off x="310753" y="1196578"/>
            <a:ext cx="8520113" cy="30861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100"/>
              <a:buNone/>
              <a:defRPr b="0" i="0">
                <a:solidFill>
                  <a:schemeClr val="dk1"/>
                </a:solidFill>
              </a:defRPr>
            </a:lvl1pPr>
            <a:lvl2pPr indent="-228600" lvl="1" marL="914400" algn="l">
              <a:spcBef>
                <a:spcPts val="0"/>
              </a:spcBef>
              <a:spcAft>
                <a:spcPts val="0"/>
              </a:spcAft>
              <a:buSzPts val="1100"/>
              <a:buNone/>
              <a:defRPr/>
            </a:lvl2pPr>
            <a:lvl3pPr indent="-228600" lvl="2" marL="1371600" algn="l">
              <a:spcBef>
                <a:spcPts val="0"/>
              </a:spcBef>
              <a:spcAft>
                <a:spcPts val="0"/>
              </a:spcAft>
              <a:buSzPts val="1100"/>
              <a:buNone/>
              <a:defRPr/>
            </a:lvl3pPr>
            <a:lvl4pPr indent="-228600" lvl="3" marL="1828800" algn="l">
              <a:spcBef>
                <a:spcPts val="0"/>
              </a:spcBef>
              <a:spcAft>
                <a:spcPts val="0"/>
              </a:spcAft>
              <a:buSzPts val="1100"/>
              <a:buNone/>
              <a:defRPr/>
            </a:lvl4pPr>
            <a:lvl5pPr indent="-228600" lvl="4" marL="2286000" algn="l">
              <a:spcBef>
                <a:spcPts val="0"/>
              </a:spcBef>
              <a:spcAft>
                <a:spcPts val="0"/>
              </a:spcAft>
              <a:buSzPts val="1100"/>
              <a:buNone/>
              <a:defRPr/>
            </a:lvl5pPr>
            <a:lvl6pPr indent="-228600" lvl="5" marL="2743200" algn="l">
              <a:spcBef>
                <a:spcPts val="0"/>
              </a:spcBef>
              <a:spcAft>
                <a:spcPts val="0"/>
              </a:spcAft>
              <a:buSzPts val="1100"/>
              <a:buNone/>
              <a:defRPr/>
            </a:lvl6pPr>
            <a:lvl7pPr indent="-228600" lvl="6" marL="3200400" algn="l">
              <a:spcBef>
                <a:spcPts val="0"/>
              </a:spcBef>
              <a:spcAft>
                <a:spcPts val="0"/>
              </a:spcAft>
              <a:buSzPts val="1100"/>
              <a:buNone/>
              <a:defRPr/>
            </a:lvl7pPr>
            <a:lvl8pPr indent="-228600" lvl="7" marL="3657600" algn="l">
              <a:spcBef>
                <a:spcPts val="0"/>
              </a:spcBef>
              <a:spcAft>
                <a:spcPts val="0"/>
              </a:spcAft>
              <a:buSzPts val="1100"/>
              <a:buNone/>
              <a:defRPr/>
            </a:lvl8pPr>
            <a:lvl9pPr indent="-228600" lvl="8" marL="4114800" algn="l">
              <a:spcBef>
                <a:spcPts val="0"/>
              </a:spcBef>
              <a:spcAft>
                <a:spcPts val="0"/>
              </a:spcAft>
              <a:buSzPts val="1100"/>
              <a:buNone/>
              <a:defRPr/>
            </a:lvl9pPr>
          </a:lstStyle>
          <a:p/>
        </p:txBody>
      </p:sp>
      <p:sp>
        <p:nvSpPr>
          <p:cNvPr id="14" name="Google Shape;14;p2"/>
          <p:cNvSpPr txBox="1"/>
          <p:nvPr>
            <p:ph idx="11" type="ftr"/>
          </p:nvPr>
        </p:nvSpPr>
        <p:spPr>
          <a:xfrm>
            <a:off x="333375" y="4961334"/>
            <a:ext cx="2547461" cy="104775"/>
          </a:xfrm>
          <a:prstGeom prst="rect">
            <a:avLst/>
          </a:prstGeom>
          <a:noFill/>
          <a:ln>
            <a:noFill/>
          </a:ln>
        </p:spPr>
        <p:txBody>
          <a:bodyPr anchorCtr="0" anchor="t" bIns="0" lIns="0" spcFirstLastPara="1" rIns="0" wrap="square" tIns="0">
            <a:spAutoFit/>
          </a:bodyPr>
          <a:lstStyle>
            <a:lvl1pPr lvl="0">
              <a:spcBef>
                <a:spcPts val="0"/>
              </a:spcBef>
              <a:spcAft>
                <a:spcPts val="0"/>
              </a:spcAft>
              <a:buSzPts val="1100"/>
              <a:buNone/>
              <a:defRPr b="0" i="0" sz="700">
                <a:solidFill>
                  <a:srgbClr val="5B6B6B"/>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 name="Google Shape;15;p2"/>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 name="Google Shape;16;p2"/>
          <p:cNvSpPr txBox="1"/>
          <p:nvPr>
            <p:ph idx="12" type="sldNum"/>
          </p:nvPr>
        </p:nvSpPr>
        <p:spPr>
          <a:xfrm>
            <a:off x="8750617" y="4961334"/>
            <a:ext cx="134778" cy="104775"/>
          </a:xfrm>
          <a:prstGeom prst="rect">
            <a:avLst/>
          </a:prstGeom>
          <a:noFill/>
          <a:ln>
            <a:noFill/>
          </a:ln>
        </p:spPr>
        <p:txBody>
          <a:bodyPr anchorCtr="0" anchor="t" bIns="0" lIns="0" spcFirstLastPara="1" rIns="0" wrap="square" tIns="0">
            <a:spAutoFit/>
          </a:bodyPr>
          <a:lstStyle>
            <a:lvl1pPr indent="0" lvl="0" marL="50800">
              <a:lnSpc>
                <a:spcPct val="106111"/>
              </a:lnSpc>
              <a:spcBef>
                <a:spcPts val="0"/>
              </a:spcBef>
              <a:buNone/>
              <a:defRPr b="0" i="0" sz="700">
                <a:solidFill>
                  <a:srgbClr val="5B6B6B"/>
                </a:solidFill>
                <a:latin typeface="Calibri"/>
                <a:ea typeface="Calibri"/>
                <a:cs typeface="Calibri"/>
                <a:sym typeface="Calibri"/>
              </a:defRPr>
            </a:lvl1pPr>
            <a:lvl2pPr indent="0" lvl="1" marL="50800">
              <a:lnSpc>
                <a:spcPct val="106111"/>
              </a:lnSpc>
              <a:spcBef>
                <a:spcPts val="0"/>
              </a:spcBef>
              <a:buNone/>
              <a:defRPr b="0" i="0" sz="700">
                <a:solidFill>
                  <a:srgbClr val="5B6B6B"/>
                </a:solidFill>
                <a:latin typeface="Calibri"/>
                <a:ea typeface="Calibri"/>
                <a:cs typeface="Calibri"/>
                <a:sym typeface="Calibri"/>
              </a:defRPr>
            </a:lvl2pPr>
            <a:lvl3pPr indent="0" lvl="2" marL="50800">
              <a:lnSpc>
                <a:spcPct val="106111"/>
              </a:lnSpc>
              <a:spcBef>
                <a:spcPts val="0"/>
              </a:spcBef>
              <a:buNone/>
              <a:defRPr b="0" i="0" sz="700">
                <a:solidFill>
                  <a:srgbClr val="5B6B6B"/>
                </a:solidFill>
                <a:latin typeface="Calibri"/>
                <a:ea typeface="Calibri"/>
                <a:cs typeface="Calibri"/>
                <a:sym typeface="Calibri"/>
              </a:defRPr>
            </a:lvl3pPr>
            <a:lvl4pPr indent="0" lvl="3" marL="50800">
              <a:lnSpc>
                <a:spcPct val="106111"/>
              </a:lnSpc>
              <a:spcBef>
                <a:spcPts val="0"/>
              </a:spcBef>
              <a:buNone/>
              <a:defRPr b="0" i="0" sz="700">
                <a:solidFill>
                  <a:srgbClr val="5B6B6B"/>
                </a:solidFill>
                <a:latin typeface="Calibri"/>
                <a:ea typeface="Calibri"/>
                <a:cs typeface="Calibri"/>
                <a:sym typeface="Calibri"/>
              </a:defRPr>
            </a:lvl4pPr>
            <a:lvl5pPr indent="0" lvl="4" marL="50800">
              <a:lnSpc>
                <a:spcPct val="106111"/>
              </a:lnSpc>
              <a:spcBef>
                <a:spcPts val="0"/>
              </a:spcBef>
              <a:buNone/>
              <a:defRPr b="0" i="0" sz="700">
                <a:solidFill>
                  <a:srgbClr val="5B6B6B"/>
                </a:solidFill>
                <a:latin typeface="Calibri"/>
                <a:ea typeface="Calibri"/>
                <a:cs typeface="Calibri"/>
                <a:sym typeface="Calibri"/>
              </a:defRPr>
            </a:lvl5pPr>
            <a:lvl6pPr indent="0" lvl="5" marL="50800">
              <a:lnSpc>
                <a:spcPct val="106111"/>
              </a:lnSpc>
              <a:spcBef>
                <a:spcPts val="0"/>
              </a:spcBef>
              <a:buNone/>
              <a:defRPr b="0" i="0" sz="700">
                <a:solidFill>
                  <a:srgbClr val="5B6B6B"/>
                </a:solidFill>
                <a:latin typeface="Calibri"/>
                <a:ea typeface="Calibri"/>
                <a:cs typeface="Calibri"/>
                <a:sym typeface="Calibri"/>
              </a:defRPr>
            </a:lvl6pPr>
            <a:lvl7pPr indent="0" lvl="6" marL="50800">
              <a:lnSpc>
                <a:spcPct val="106111"/>
              </a:lnSpc>
              <a:spcBef>
                <a:spcPts val="0"/>
              </a:spcBef>
              <a:buNone/>
              <a:defRPr b="0" i="0" sz="700">
                <a:solidFill>
                  <a:srgbClr val="5B6B6B"/>
                </a:solidFill>
                <a:latin typeface="Calibri"/>
                <a:ea typeface="Calibri"/>
                <a:cs typeface="Calibri"/>
                <a:sym typeface="Calibri"/>
              </a:defRPr>
            </a:lvl7pPr>
            <a:lvl8pPr indent="0" lvl="7" marL="50800">
              <a:lnSpc>
                <a:spcPct val="106111"/>
              </a:lnSpc>
              <a:spcBef>
                <a:spcPts val="0"/>
              </a:spcBef>
              <a:buNone/>
              <a:defRPr b="0" i="0" sz="700">
                <a:solidFill>
                  <a:srgbClr val="5B6B6B"/>
                </a:solidFill>
                <a:latin typeface="Calibri"/>
                <a:ea typeface="Calibri"/>
                <a:cs typeface="Calibri"/>
                <a:sym typeface="Calibri"/>
              </a:defRPr>
            </a:lvl8pPr>
            <a:lvl9pPr indent="0" lvl="8" marL="50800">
              <a:lnSpc>
                <a:spcPct val="106111"/>
              </a:lnSpc>
              <a:spcBef>
                <a:spcPts val="0"/>
              </a:spcBef>
              <a:buNone/>
              <a:defRPr b="0" i="0" sz="700">
                <a:solidFill>
                  <a:srgbClr val="5B6B6B"/>
                </a:solidFill>
                <a:latin typeface="Calibri"/>
                <a:ea typeface="Calibri"/>
                <a:cs typeface="Calibri"/>
                <a:sym typeface="Calibri"/>
              </a:defRPr>
            </a:lvl9pPr>
          </a:lstStyle>
          <a:p>
            <a:pPr indent="0" lvl="0" marL="5080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7" name="Shape 17"/>
        <p:cNvGrpSpPr/>
        <p:nvPr/>
      </p:nvGrpSpPr>
      <p:grpSpPr>
        <a:xfrm>
          <a:off x="0" y="0"/>
          <a:ext cx="0" cy="0"/>
          <a:chOff x="0" y="0"/>
          <a:chExt cx="0" cy="0"/>
        </a:xfrm>
      </p:grpSpPr>
      <p:sp>
        <p:nvSpPr>
          <p:cNvPr id="18" name="Google Shape;18;p3"/>
          <p:cNvSpPr txBox="1"/>
          <p:nvPr>
            <p:ph type="title"/>
          </p:nvPr>
        </p:nvSpPr>
        <p:spPr>
          <a:xfrm>
            <a:off x="333375" y="464582"/>
            <a:ext cx="7596664" cy="33908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1" i="0" sz="2100">
                <a:solidFill>
                  <a:srgbClr val="1A1A1A"/>
                </a:solidFill>
                <a:latin typeface="Cambria"/>
                <a:ea typeface="Cambria"/>
                <a:cs typeface="Cambria"/>
                <a:sym typeface="Cambria"/>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Google Shape;19;p3"/>
          <p:cNvSpPr txBox="1"/>
          <p:nvPr>
            <p:ph idx="11" type="ftr"/>
          </p:nvPr>
        </p:nvSpPr>
        <p:spPr>
          <a:xfrm>
            <a:off x="333375" y="4961334"/>
            <a:ext cx="2547461" cy="104775"/>
          </a:xfrm>
          <a:prstGeom prst="rect">
            <a:avLst/>
          </a:prstGeom>
          <a:noFill/>
          <a:ln>
            <a:noFill/>
          </a:ln>
        </p:spPr>
        <p:txBody>
          <a:bodyPr anchorCtr="0" anchor="t" bIns="0" lIns="0" spcFirstLastPara="1" rIns="0" wrap="square" tIns="0">
            <a:spAutoFit/>
          </a:bodyPr>
          <a:lstStyle>
            <a:lvl1pPr lvl="0">
              <a:spcBef>
                <a:spcPts val="0"/>
              </a:spcBef>
              <a:spcAft>
                <a:spcPts val="0"/>
              </a:spcAft>
              <a:buSzPts val="1100"/>
              <a:buNone/>
              <a:defRPr b="0" i="0" sz="700">
                <a:solidFill>
                  <a:srgbClr val="5B6B6B"/>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 name="Google Shape;20;p3"/>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 name="Google Shape;21;p3"/>
          <p:cNvSpPr txBox="1"/>
          <p:nvPr>
            <p:ph idx="12" type="sldNum"/>
          </p:nvPr>
        </p:nvSpPr>
        <p:spPr>
          <a:xfrm>
            <a:off x="8750617" y="4961334"/>
            <a:ext cx="134778" cy="104775"/>
          </a:xfrm>
          <a:prstGeom prst="rect">
            <a:avLst/>
          </a:prstGeom>
          <a:noFill/>
          <a:ln>
            <a:noFill/>
          </a:ln>
        </p:spPr>
        <p:txBody>
          <a:bodyPr anchorCtr="0" anchor="t" bIns="0" lIns="0" spcFirstLastPara="1" rIns="0" wrap="square" tIns="0">
            <a:spAutoFit/>
          </a:bodyPr>
          <a:lstStyle>
            <a:lvl1pPr indent="0" lvl="0" marL="50800">
              <a:lnSpc>
                <a:spcPct val="106111"/>
              </a:lnSpc>
              <a:spcBef>
                <a:spcPts val="0"/>
              </a:spcBef>
              <a:buNone/>
              <a:defRPr b="0" i="0" sz="700">
                <a:solidFill>
                  <a:srgbClr val="5B6B6B"/>
                </a:solidFill>
                <a:latin typeface="Calibri"/>
                <a:ea typeface="Calibri"/>
                <a:cs typeface="Calibri"/>
                <a:sym typeface="Calibri"/>
              </a:defRPr>
            </a:lvl1pPr>
            <a:lvl2pPr indent="0" lvl="1" marL="50800">
              <a:lnSpc>
                <a:spcPct val="106111"/>
              </a:lnSpc>
              <a:spcBef>
                <a:spcPts val="0"/>
              </a:spcBef>
              <a:buNone/>
              <a:defRPr b="0" i="0" sz="700">
                <a:solidFill>
                  <a:srgbClr val="5B6B6B"/>
                </a:solidFill>
                <a:latin typeface="Calibri"/>
                <a:ea typeface="Calibri"/>
                <a:cs typeface="Calibri"/>
                <a:sym typeface="Calibri"/>
              </a:defRPr>
            </a:lvl2pPr>
            <a:lvl3pPr indent="0" lvl="2" marL="50800">
              <a:lnSpc>
                <a:spcPct val="106111"/>
              </a:lnSpc>
              <a:spcBef>
                <a:spcPts val="0"/>
              </a:spcBef>
              <a:buNone/>
              <a:defRPr b="0" i="0" sz="700">
                <a:solidFill>
                  <a:srgbClr val="5B6B6B"/>
                </a:solidFill>
                <a:latin typeface="Calibri"/>
                <a:ea typeface="Calibri"/>
                <a:cs typeface="Calibri"/>
                <a:sym typeface="Calibri"/>
              </a:defRPr>
            </a:lvl3pPr>
            <a:lvl4pPr indent="0" lvl="3" marL="50800">
              <a:lnSpc>
                <a:spcPct val="106111"/>
              </a:lnSpc>
              <a:spcBef>
                <a:spcPts val="0"/>
              </a:spcBef>
              <a:buNone/>
              <a:defRPr b="0" i="0" sz="700">
                <a:solidFill>
                  <a:srgbClr val="5B6B6B"/>
                </a:solidFill>
                <a:latin typeface="Calibri"/>
                <a:ea typeface="Calibri"/>
                <a:cs typeface="Calibri"/>
                <a:sym typeface="Calibri"/>
              </a:defRPr>
            </a:lvl4pPr>
            <a:lvl5pPr indent="0" lvl="4" marL="50800">
              <a:lnSpc>
                <a:spcPct val="106111"/>
              </a:lnSpc>
              <a:spcBef>
                <a:spcPts val="0"/>
              </a:spcBef>
              <a:buNone/>
              <a:defRPr b="0" i="0" sz="700">
                <a:solidFill>
                  <a:srgbClr val="5B6B6B"/>
                </a:solidFill>
                <a:latin typeface="Calibri"/>
                <a:ea typeface="Calibri"/>
                <a:cs typeface="Calibri"/>
                <a:sym typeface="Calibri"/>
              </a:defRPr>
            </a:lvl5pPr>
            <a:lvl6pPr indent="0" lvl="5" marL="50800">
              <a:lnSpc>
                <a:spcPct val="106111"/>
              </a:lnSpc>
              <a:spcBef>
                <a:spcPts val="0"/>
              </a:spcBef>
              <a:buNone/>
              <a:defRPr b="0" i="0" sz="700">
                <a:solidFill>
                  <a:srgbClr val="5B6B6B"/>
                </a:solidFill>
                <a:latin typeface="Calibri"/>
                <a:ea typeface="Calibri"/>
                <a:cs typeface="Calibri"/>
                <a:sym typeface="Calibri"/>
              </a:defRPr>
            </a:lvl6pPr>
            <a:lvl7pPr indent="0" lvl="6" marL="50800">
              <a:lnSpc>
                <a:spcPct val="106111"/>
              </a:lnSpc>
              <a:spcBef>
                <a:spcPts val="0"/>
              </a:spcBef>
              <a:buNone/>
              <a:defRPr b="0" i="0" sz="700">
                <a:solidFill>
                  <a:srgbClr val="5B6B6B"/>
                </a:solidFill>
                <a:latin typeface="Calibri"/>
                <a:ea typeface="Calibri"/>
                <a:cs typeface="Calibri"/>
                <a:sym typeface="Calibri"/>
              </a:defRPr>
            </a:lvl7pPr>
            <a:lvl8pPr indent="0" lvl="7" marL="50800">
              <a:lnSpc>
                <a:spcPct val="106111"/>
              </a:lnSpc>
              <a:spcBef>
                <a:spcPts val="0"/>
              </a:spcBef>
              <a:buNone/>
              <a:defRPr b="0" i="0" sz="700">
                <a:solidFill>
                  <a:srgbClr val="5B6B6B"/>
                </a:solidFill>
                <a:latin typeface="Calibri"/>
                <a:ea typeface="Calibri"/>
                <a:cs typeface="Calibri"/>
                <a:sym typeface="Calibri"/>
              </a:defRPr>
            </a:lvl8pPr>
            <a:lvl9pPr indent="0" lvl="8" marL="50800">
              <a:lnSpc>
                <a:spcPct val="106111"/>
              </a:lnSpc>
              <a:spcBef>
                <a:spcPts val="0"/>
              </a:spcBef>
              <a:buNone/>
              <a:defRPr b="0" i="0" sz="700">
                <a:solidFill>
                  <a:srgbClr val="5B6B6B"/>
                </a:solidFill>
                <a:latin typeface="Calibri"/>
                <a:ea typeface="Calibri"/>
                <a:cs typeface="Calibri"/>
                <a:sym typeface="Calibri"/>
              </a:defRPr>
            </a:lvl9pPr>
          </a:lstStyle>
          <a:p>
            <a:pPr indent="0" lvl="0" marL="5080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2" name="Shape 22"/>
        <p:cNvGrpSpPr/>
        <p:nvPr/>
      </p:nvGrpSpPr>
      <p:grpSpPr>
        <a:xfrm>
          <a:off x="0" y="0"/>
          <a:ext cx="0" cy="0"/>
          <a:chOff x="0" y="0"/>
          <a:chExt cx="0" cy="0"/>
        </a:xfrm>
      </p:grpSpPr>
      <p:sp>
        <p:nvSpPr>
          <p:cNvPr id="23" name="Google Shape;23;p4"/>
          <p:cNvSpPr txBox="1"/>
          <p:nvPr>
            <p:ph type="title"/>
          </p:nvPr>
        </p:nvSpPr>
        <p:spPr>
          <a:xfrm>
            <a:off x="333375" y="464582"/>
            <a:ext cx="7596664" cy="33908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1" i="0" sz="2100">
                <a:solidFill>
                  <a:srgbClr val="1A1A1A"/>
                </a:solidFill>
                <a:latin typeface="Cambria"/>
                <a:ea typeface="Cambria"/>
                <a:cs typeface="Cambria"/>
                <a:sym typeface="Cambria"/>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4" name="Google Shape;24;p4"/>
          <p:cNvSpPr txBox="1"/>
          <p:nvPr>
            <p:ph idx="1" type="body"/>
          </p:nvPr>
        </p:nvSpPr>
        <p:spPr>
          <a:xfrm>
            <a:off x="45720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100"/>
              <a:buNone/>
              <a:defRPr/>
            </a:lvl1pPr>
            <a:lvl2pPr indent="-228600" lvl="1" marL="914400" algn="l">
              <a:spcBef>
                <a:spcPts val="0"/>
              </a:spcBef>
              <a:spcAft>
                <a:spcPts val="0"/>
              </a:spcAft>
              <a:buSzPts val="1100"/>
              <a:buNone/>
              <a:defRPr/>
            </a:lvl2pPr>
            <a:lvl3pPr indent="-228600" lvl="2" marL="1371600" algn="l">
              <a:spcBef>
                <a:spcPts val="0"/>
              </a:spcBef>
              <a:spcAft>
                <a:spcPts val="0"/>
              </a:spcAft>
              <a:buSzPts val="1100"/>
              <a:buNone/>
              <a:defRPr/>
            </a:lvl3pPr>
            <a:lvl4pPr indent="-228600" lvl="3" marL="1828800" algn="l">
              <a:spcBef>
                <a:spcPts val="0"/>
              </a:spcBef>
              <a:spcAft>
                <a:spcPts val="0"/>
              </a:spcAft>
              <a:buSzPts val="1100"/>
              <a:buNone/>
              <a:defRPr/>
            </a:lvl4pPr>
            <a:lvl5pPr indent="-228600" lvl="4" marL="2286000" algn="l">
              <a:spcBef>
                <a:spcPts val="0"/>
              </a:spcBef>
              <a:spcAft>
                <a:spcPts val="0"/>
              </a:spcAft>
              <a:buSzPts val="1100"/>
              <a:buNone/>
              <a:defRPr/>
            </a:lvl5pPr>
            <a:lvl6pPr indent="-228600" lvl="5" marL="2743200" algn="l">
              <a:spcBef>
                <a:spcPts val="0"/>
              </a:spcBef>
              <a:spcAft>
                <a:spcPts val="0"/>
              </a:spcAft>
              <a:buSzPts val="1100"/>
              <a:buNone/>
              <a:defRPr/>
            </a:lvl6pPr>
            <a:lvl7pPr indent="-228600" lvl="6" marL="3200400" algn="l">
              <a:spcBef>
                <a:spcPts val="0"/>
              </a:spcBef>
              <a:spcAft>
                <a:spcPts val="0"/>
              </a:spcAft>
              <a:buSzPts val="1100"/>
              <a:buNone/>
              <a:defRPr/>
            </a:lvl7pPr>
            <a:lvl8pPr indent="-228600" lvl="7" marL="3657600" algn="l">
              <a:spcBef>
                <a:spcPts val="0"/>
              </a:spcBef>
              <a:spcAft>
                <a:spcPts val="0"/>
              </a:spcAft>
              <a:buSzPts val="1100"/>
              <a:buNone/>
              <a:defRPr/>
            </a:lvl8pPr>
            <a:lvl9pPr indent="-228600" lvl="8" marL="4114800" algn="l">
              <a:spcBef>
                <a:spcPts val="0"/>
              </a:spcBef>
              <a:spcAft>
                <a:spcPts val="0"/>
              </a:spcAft>
              <a:buSzPts val="1100"/>
              <a:buNone/>
              <a:defRPr/>
            </a:lvl9pPr>
          </a:lstStyle>
          <a:p/>
        </p:txBody>
      </p:sp>
      <p:sp>
        <p:nvSpPr>
          <p:cNvPr id="25" name="Google Shape;25;p4"/>
          <p:cNvSpPr txBox="1"/>
          <p:nvPr>
            <p:ph idx="2" type="body"/>
          </p:nvPr>
        </p:nvSpPr>
        <p:spPr>
          <a:xfrm>
            <a:off x="470916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100"/>
              <a:buNone/>
              <a:defRPr/>
            </a:lvl1pPr>
            <a:lvl2pPr indent="-228600" lvl="1" marL="914400" algn="l">
              <a:spcBef>
                <a:spcPts val="0"/>
              </a:spcBef>
              <a:spcAft>
                <a:spcPts val="0"/>
              </a:spcAft>
              <a:buSzPts val="1100"/>
              <a:buNone/>
              <a:defRPr/>
            </a:lvl2pPr>
            <a:lvl3pPr indent="-228600" lvl="2" marL="1371600" algn="l">
              <a:spcBef>
                <a:spcPts val="0"/>
              </a:spcBef>
              <a:spcAft>
                <a:spcPts val="0"/>
              </a:spcAft>
              <a:buSzPts val="1100"/>
              <a:buNone/>
              <a:defRPr/>
            </a:lvl3pPr>
            <a:lvl4pPr indent="-228600" lvl="3" marL="1828800" algn="l">
              <a:spcBef>
                <a:spcPts val="0"/>
              </a:spcBef>
              <a:spcAft>
                <a:spcPts val="0"/>
              </a:spcAft>
              <a:buSzPts val="1100"/>
              <a:buNone/>
              <a:defRPr/>
            </a:lvl4pPr>
            <a:lvl5pPr indent="-228600" lvl="4" marL="2286000" algn="l">
              <a:spcBef>
                <a:spcPts val="0"/>
              </a:spcBef>
              <a:spcAft>
                <a:spcPts val="0"/>
              </a:spcAft>
              <a:buSzPts val="1100"/>
              <a:buNone/>
              <a:defRPr/>
            </a:lvl5pPr>
            <a:lvl6pPr indent="-228600" lvl="5" marL="2743200" algn="l">
              <a:spcBef>
                <a:spcPts val="0"/>
              </a:spcBef>
              <a:spcAft>
                <a:spcPts val="0"/>
              </a:spcAft>
              <a:buSzPts val="1100"/>
              <a:buNone/>
              <a:defRPr/>
            </a:lvl6pPr>
            <a:lvl7pPr indent="-228600" lvl="6" marL="3200400" algn="l">
              <a:spcBef>
                <a:spcPts val="0"/>
              </a:spcBef>
              <a:spcAft>
                <a:spcPts val="0"/>
              </a:spcAft>
              <a:buSzPts val="1100"/>
              <a:buNone/>
              <a:defRPr/>
            </a:lvl7pPr>
            <a:lvl8pPr indent="-228600" lvl="7" marL="3657600" algn="l">
              <a:spcBef>
                <a:spcPts val="0"/>
              </a:spcBef>
              <a:spcAft>
                <a:spcPts val="0"/>
              </a:spcAft>
              <a:buSzPts val="1100"/>
              <a:buNone/>
              <a:defRPr/>
            </a:lvl8pPr>
            <a:lvl9pPr indent="-228600" lvl="8" marL="4114800" algn="l">
              <a:spcBef>
                <a:spcPts val="0"/>
              </a:spcBef>
              <a:spcAft>
                <a:spcPts val="0"/>
              </a:spcAft>
              <a:buSzPts val="1100"/>
              <a:buNone/>
              <a:defRPr/>
            </a:lvl9pPr>
          </a:lstStyle>
          <a:p/>
        </p:txBody>
      </p:sp>
      <p:sp>
        <p:nvSpPr>
          <p:cNvPr id="26" name="Google Shape;26;p4"/>
          <p:cNvSpPr txBox="1"/>
          <p:nvPr>
            <p:ph idx="11" type="ftr"/>
          </p:nvPr>
        </p:nvSpPr>
        <p:spPr>
          <a:xfrm>
            <a:off x="333375" y="4961334"/>
            <a:ext cx="2547461" cy="104775"/>
          </a:xfrm>
          <a:prstGeom prst="rect">
            <a:avLst/>
          </a:prstGeom>
          <a:noFill/>
          <a:ln>
            <a:noFill/>
          </a:ln>
        </p:spPr>
        <p:txBody>
          <a:bodyPr anchorCtr="0" anchor="t" bIns="0" lIns="0" spcFirstLastPara="1" rIns="0" wrap="square" tIns="0">
            <a:spAutoFit/>
          </a:bodyPr>
          <a:lstStyle>
            <a:lvl1pPr lvl="0">
              <a:spcBef>
                <a:spcPts val="0"/>
              </a:spcBef>
              <a:spcAft>
                <a:spcPts val="0"/>
              </a:spcAft>
              <a:buSzPts val="1100"/>
              <a:buNone/>
              <a:defRPr b="0" i="0" sz="700">
                <a:solidFill>
                  <a:srgbClr val="5B6B6B"/>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7" name="Google Shape;27;p4"/>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8" name="Google Shape;28;p4"/>
          <p:cNvSpPr txBox="1"/>
          <p:nvPr>
            <p:ph idx="12" type="sldNum"/>
          </p:nvPr>
        </p:nvSpPr>
        <p:spPr>
          <a:xfrm>
            <a:off x="8750617" y="4961334"/>
            <a:ext cx="134778" cy="104775"/>
          </a:xfrm>
          <a:prstGeom prst="rect">
            <a:avLst/>
          </a:prstGeom>
          <a:noFill/>
          <a:ln>
            <a:noFill/>
          </a:ln>
        </p:spPr>
        <p:txBody>
          <a:bodyPr anchorCtr="0" anchor="t" bIns="0" lIns="0" spcFirstLastPara="1" rIns="0" wrap="square" tIns="0">
            <a:spAutoFit/>
          </a:bodyPr>
          <a:lstStyle>
            <a:lvl1pPr indent="0" lvl="0" marL="50800">
              <a:lnSpc>
                <a:spcPct val="106111"/>
              </a:lnSpc>
              <a:spcBef>
                <a:spcPts val="0"/>
              </a:spcBef>
              <a:buNone/>
              <a:defRPr b="0" i="0" sz="700">
                <a:solidFill>
                  <a:srgbClr val="5B6B6B"/>
                </a:solidFill>
                <a:latin typeface="Calibri"/>
                <a:ea typeface="Calibri"/>
                <a:cs typeface="Calibri"/>
                <a:sym typeface="Calibri"/>
              </a:defRPr>
            </a:lvl1pPr>
            <a:lvl2pPr indent="0" lvl="1" marL="50800">
              <a:lnSpc>
                <a:spcPct val="106111"/>
              </a:lnSpc>
              <a:spcBef>
                <a:spcPts val="0"/>
              </a:spcBef>
              <a:buNone/>
              <a:defRPr b="0" i="0" sz="700">
                <a:solidFill>
                  <a:srgbClr val="5B6B6B"/>
                </a:solidFill>
                <a:latin typeface="Calibri"/>
                <a:ea typeface="Calibri"/>
                <a:cs typeface="Calibri"/>
                <a:sym typeface="Calibri"/>
              </a:defRPr>
            </a:lvl2pPr>
            <a:lvl3pPr indent="0" lvl="2" marL="50800">
              <a:lnSpc>
                <a:spcPct val="106111"/>
              </a:lnSpc>
              <a:spcBef>
                <a:spcPts val="0"/>
              </a:spcBef>
              <a:buNone/>
              <a:defRPr b="0" i="0" sz="700">
                <a:solidFill>
                  <a:srgbClr val="5B6B6B"/>
                </a:solidFill>
                <a:latin typeface="Calibri"/>
                <a:ea typeface="Calibri"/>
                <a:cs typeface="Calibri"/>
                <a:sym typeface="Calibri"/>
              </a:defRPr>
            </a:lvl3pPr>
            <a:lvl4pPr indent="0" lvl="3" marL="50800">
              <a:lnSpc>
                <a:spcPct val="106111"/>
              </a:lnSpc>
              <a:spcBef>
                <a:spcPts val="0"/>
              </a:spcBef>
              <a:buNone/>
              <a:defRPr b="0" i="0" sz="700">
                <a:solidFill>
                  <a:srgbClr val="5B6B6B"/>
                </a:solidFill>
                <a:latin typeface="Calibri"/>
                <a:ea typeface="Calibri"/>
                <a:cs typeface="Calibri"/>
                <a:sym typeface="Calibri"/>
              </a:defRPr>
            </a:lvl4pPr>
            <a:lvl5pPr indent="0" lvl="4" marL="50800">
              <a:lnSpc>
                <a:spcPct val="106111"/>
              </a:lnSpc>
              <a:spcBef>
                <a:spcPts val="0"/>
              </a:spcBef>
              <a:buNone/>
              <a:defRPr b="0" i="0" sz="700">
                <a:solidFill>
                  <a:srgbClr val="5B6B6B"/>
                </a:solidFill>
                <a:latin typeface="Calibri"/>
                <a:ea typeface="Calibri"/>
                <a:cs typeface="Calibri"/>
                <a:sym typeface="Calibri"/>
              </a:defRPr>
            </a:lvl5pPr>
            <a:lvl6pPr indent="0" lvl="5" marL="50800">
              <a:lnSpc>
                <a:spcPct val="106111"/>
              </a:lnSpc>
              <a:spcBef>
                <a:spcPts val="0"/>
              </a:spcBef>
              <a:buNone/>
              <a:defRPr b="0" i="0" sz="700">
                <a:solidFill>
                  <a:srgbClr val="5B6B6B"/>
                </a:solidFill>
                <a:latin typeface="Calibri"/>
                <a:ea typeface="Calibri"/>
                <a:cs typeface="Calibri"/>
                <a:sym typeface="Calibri"/>
              </a:defRPr>
            </a:lvl6pPr>
            <a:lvl7pPr indent="0" lvl="6" marL="50800">
              <a:lnSpc>
                <a:spcPct val="106111"/>
              </a:lnSpc>
              <a:spcBef>
                <a:spcPts val="0"/>
              </a:spcBef>
              <a:buNone/>
              <a:defRPr b="0" i="0" sz="700">
                <a:solidFill>
                  <a:srgbClr val="5B6B6B"/>
                </a:solidFill>
                <a:latin typeface="Calibri"/>
                <a:ea typeface="Calibri"/>
                <a:cs typeface="Calibri"/>
                <a:sym typeface="Calibri"/>
              </a:defRPr>
            </a:lvl7pPr>
            <a:lvl8pPr indent="0" lvl="7" marL="50800">
              <a:lnSpc>
                <a:spcPct val="106111"/>
              </a:lnSpc>
              <a:spcBef>
                <a:spcPts val="0"/>
              </a:spcBef>
              <a:buNone/>
              <a:defRPr b="0" i="0" sz="700">
                <a:solidFill>
                  <a:srgbClr val="5B6B6B"/>
                </a:solidFill>
                <a:latin typeface="Calibri"/>
                <a:ea typeface="Calibri"/>
                <a:cs typeface="Calibri"/>
                <a:sym typeface="Calibri"/>
              </a:defRPr>
            </a:lvl8pPr>
            <a:lvl9pPr indent="0" lvl="8" marL="50800">
              <a:lnSpc>
                <a:spcPct val="106111"/>
              </a:lnSpc>
              <a:spcBef>
                <a:spcPts val="0"/>
              </a:spcBef>
              <a:buNone/>
              <a:defRPr b="0" i="0" sz="700">
                <a:solidFill>
                  <a:srgbClr val="5B6B6B"/>
                </a:solidFill>
                <a:latin typeface="Calibri"/>
                <a:ea typeface="Calibri"/>
                <a:cs typeface="Calibri"/>
                <a:sym typeface="Calibri"/>
              </a:defRPr>
            </a:lvl9pPr>
          </a:lstStyle>
          <a:p>
            <a:pPr indent="0" lvl="0" marL="5080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solidFill>
          <a:schemeClr val="lt1"/>
        </a:solidFill>
      </p:bgPr>
    </p:bg>
    <p:spTree>
      <p:nvGrpSpPr>
        <p:cNvPr id="29" name="Shape 29"/>
        <p:cNvGrpSpPr/>
        <p:nvPr/>
      </p:nvGrpSpPr>
      <p:grpSpPr>
        <a:xfrm>
          <a:off x="0" y="0"/>
          <a:ext cx="0" cy="0"/>
          <a:chOff x="0" y="0"/>
          <a:chExt cx="0" cy="0"/>
        </a:xfrm>
      </p:grpSpPr>
      <p:sp>
        <p:nvSpPr>
          <p:cNvPr id="30" name="Google Shape;30;p5"/>
          <p:cNvSpPr/>
          <p:nvPr/>
        </p:nvSpPr>
        <p:spPr>
          <a:xfrm>
            <a:off x="0" y="0"/>
            <a:ext cx="9144000" cy="5143500"/>
          </a:xfrm>
          <a:custGeom>
            <a:rect b="b" l="l" r="r" t="t"/>
            <a:pathLst>
              <a:path extrusionOk="0" h="6858000" w="12192000">
                <a:moveTo>
                  <a:pt x="12192000" y="0"/>
                </a:moveTo>
                <a:lnTo>
                  <a:pt x="0" y="0"/>
                </a:lnTo>
                <a:lnTo>
                  <a:pt x="0" y="6858000"/>
                </a:lnTo>
                <a:lnTo>
                  <a:pt x="12192000" y="6858000"/>
                </a:lnTo>
                <a:lnTo>
                  <a:pt x="12192000" y="0"/>
                </a:lnTo>
                <a:close/>
              </a:path>
            </a:pathLst>
          </a:custGeom>
          <a:solidFill>
            <a:srgbClr val="0B2D3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100"/>
          </a:p>
        </p:txBody>
      </p:sp>
      <p:sp>
        <p:nvSpPr>
          <p:cNvPr id="31" name="Google Shape;31;p5"/>
          <p:cNvSpPr txBox="1"/>
          <p:nvPr>
            <p:ph type="ctrTitle"/>
          </p:nvPr>
        </p:nvSpPr>
        <p:spPr>
          <a:xfrm>
            <a:off x="470535" y="2249090"/>
            <a:ext cx="2055495" cy="52197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1" i="0" sz="2100">
                <a:solidFill>
                  <a:srgbClr val="1A1A1A"/>
                </a:solidFill>
                <a:latin typeface="Cambria"/>
                <a:ea typeface="Cambria"/>
                <a:cs typeface="Cambria"/>
                <a:sym typeface="Cambria"/>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2" name="Google Shape;32;p5"/>
          <p:cNvSpPr txBox="1"/>
          <p:nvPr>
            <p:ph idx="1" type="subTitle"/>
          </p:nvPr>
        </p:nvSpPr>
        <p:spPr>
          <a:xfrm>
            <a:off x="1371600" y="2880360"/>
            <a:ext cx="6400800" cy="12858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0" i="0">
                <a:solidFill>
                  <a:schemeClr val="dk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3" name="Google Shape;33;p5"/>
          <p:cNvSpPr txBox="1"/>
          <p:nvPr>
            <p:ph idx="11" type="ftr"/>
          </p:nvPr>
        </p:nvSpPr>
        <p:spPr>
          <a:xfrm>
            <a:off x="333375" y="4961334"/>
            <a:ext cx="2547461" cy="104775"/>
          </a:xfrm>
          <a:prstGeom prst="rect">
            <a:avLst/>
          </a:prstGeom>
          <a:noFill/>
          <a:ln>
            <a:noFill/>
          </a:ln>
        </p:spPr>
        <p:txBody>
          <a:bodyPr anchorCtr="0" anchor="t" bIns="0" lIns="0" spcFirstLastPara="1" rIns="0" wrap="square" tIns="0">
            <a:spAutoFit/>
          </a:bodyPr>
          <a:lstStyle>
            <a:lvl1pPr lvl="0">
              <a:spcBef>
                <a:spcPts val="0"/>
              </a:spcBef>
              <a:spcAft>
                <a:spcPts val="0"/>
              </a:spcAft>
              <a:buSzPts val="1100"/>
              <a:buNone/>
              <a:defRPr b="0" i="0" sz="700">
                <a:solidFill>
                  <a:srgbClr val="5B6B6B"/>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4" name="Google Shape;34;p5"/>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5" name="Google Shape;35;p5"/>
          <p:cNvSpPr txBox="1"/>
          <p:nvPr>
            <p:ph idx="12" type="sldNum"/>
          </p:nvPr>
        </p:nvSpPr>
        <p:spPr>
          <a:xfrm>
            <a:off x="8750617" y="4961334"/>
            <a:ext cx="134778" cy="104775"/>
          </a:xfrm>
          <a:prstGeom prst="rect">
            <a:avLst/>
          </a:prstGeom>
          <a:noFill/>
          <a:ln>
            <a:noFill/>
          </a:ln>
        </p:spPr>
        <p:txBody>
          <a:bodyPr anchorCtr="0" anchor="t" bIns="0" lIns="0" spcFirstLastPara="1" rIns="0" wrap="square" tIns="0">
            <a:spAutoFit/>
          </a:bodyPr>
          <a:lstStyle>
            <a:lvl1pPr indent="0" lvl="0" marL="50800">
              <a:lnSpc>
                <a:spcPct val="106111"/>
              </a:lnSpc>
              <a:spcBef>
                <a:spcPts val="0"/>
              </a:spcBef>
              <a:buNone/>
              <a:defRPr b="0" i="0" sz="700">
                <a:solidFill>
                  <a:srgbClr val="5B6B6B"/>
                </a:solidFill>
                <a:latin typeface="Calibri"/>
                <a:ea typeface="Calibri"/>
                <a:cs typeface="Calibri"/>
                <a:sym typeface="Calibri"/>
              </a:defRPr>
            </a:lvl1pPr>
            <a:lvl2pPr indent="0" lvl="1" marL="50800">
              <a:lnSpc>
                <a:spcPct val="106111"/>
              </a:lnSpc>
              <a:spcBef>
                <a:spcPts val="0"/>
              </a:spcBef>
              <a:buNone/>
              <a:defRPr b="0" i="0" sz="700">
                <a:solidFill>
                  <a:srgbClr val="5B6B6B"/>
                </a:solidFill>
                <a:latin typeface="Calibri"/>
                <a:ea typeface="Calibri"/>
                <a:cs typeface="Calibri"/>
                <a:sym typeface="Calibri"/>
              </a:defRPr>
            </a:lvl2pPr>
            <a:lvl3pPr indent="0" lvl="2" marL="50800">
              <a:lnSpc>
                <a:spcPct val="106111"/>
              </a:lnSpc>
              <a:spcBef>
                <a:spcPts val="0"/>
              </a:spcBef>
              <a:buNone/>
              <a:defRPr b="0" i="0" sz="700">
                <a:solidFill>
                  <a:srgbClr val="5B6B6B"/>
                </a:solidFill>
                <a:latin typeface="Calibri"/>
                <a:ea typeface="Calibri"/>
                <a:cs typeface="Calibri"/>
                <a:sym typeface="Calibri"/>
              </a:defRPr>
            </a:lvl3pPr>
            <a:lvl4pPr indent="0" lvl="3" marL="50800">
              <a:lnSpc>
                <a:spcPct val="106111"/>
              </a:lnSpc>
              <a:spcBef>
                <a:spcPts val="0"/>
              </a:spcBef>
              <a:buNone/>
              <a:defRPr b="0" i="0" sz="700">
                <a:solidFill>
                  <a:srgbClr val="5B6B6B"/>
                </a:solidFill>
                <a:latin typeface="Calibri"/>
                <a:ea typeface="Calibri"/>
                <a:cs typeface="Calibri"/>
                <a:sym typeface="Calibri"/>
              </a:defRPr>
            </a:lvl4pPr>
            <a:lvl5pPr indent="0" lvl="4" marL="50800">
              <a:lnSpc>
                <a:spcPct val="106111"/>
              </a:lnSpc>
              <a:spcBef>
                <a:spcPts val="0"/>
              </a:spcBef>
              <a:buNone/>
              <a:defRPr b="0" i="0" sz="700">
                <a:solidFill>
                  <a:srgbClr val="5B6B6B"/>
                </a:solidFill>
                <a:latin typeface="Calibri"/>
                <a:ea typeface="Calibri"/>
                <a:cs typeface="Calibri"/>
                <a:sym typeface="Calibri"/>
              </a:defRPr>
            </a:lvl5pPr>
            <a:lvl6pPr indent="0" lvl="5" marL="50800">
              <a:lnSpc>
                <a:spcPct val="106111"/>
              </a:lnSpc>
              <a:spcBef>
                <a:spcPts val="0"/>
              </a:spcBef>
              <a:buNone/>
              <a:defRPr b="0" i="0" sz="700">
                <a:solidFill>
                  <a:srgbClr val="5B6B6B"/>
                </a:solidFill>
                <a:latin typeface="Calibri"/>
                <a:ea typeface="Calibri"/>
                <a:cs typeface="Calibri"/>
                <a:sym typeface="Calibri"/>
              </a:defRPr>
            </a:lvl6pPr>
            <a:lvl7pPr indent="0" lvl="6" marL="50800">
              <a:lnSpc>
                <a:spcPct val="106111"/>
              </a:lnSpc>
              <a:spcBef>
                <a:spcPts val="0"/>
              </a:spcBef>
              <a:buNone/>
              <a:defRPr b="0" i="0" sz="700">
                <a:solidFill>
                  <a:srgbClr val="5B6B6B"/>
                </a:solidFill>
                <a:latin typeface="Calibri"/>
                <a:ea typeface="Calibri"/>
                <a:cs typeface="Calibri"/>
                <a:sym typeface="Calibri"/>
              </a:defRPr>
            </a:lvl7pPr>
            <a:lvl8pPr indent="0" lvl="7" marL="50800">
              <a:lnSpc>
                <a:spcPct val="106111"/>
              </a:lnSpc>
              <a:spcBef>
                <a:spcPts val="0"/>
              </a:spcBef>
              <a:buNone/>
              <a:defRPr b="0" i="0" sz="700">
                <a:solidFill>
                  <a:srgbClr val="5B6B6B"/>
                </a:solidFill>
                <a:latin typeface="Calibri"/>
                <a:ea typeface="Calibri"/>
                <a:cs typeface="Calibri"/>
                <a:sym typeface="Calibri"/>
              </a:defRPr>
            </a:lvl8pPr>
            <a:lvl9pPr indent="0" lvl="8" marL="50800">
              <a:lnSpc>
                <a:spcPct val="106111"/>
              </a:lnSpc>
              <a:spcBef>
                <a:spcPts val="0"/>
              </a:spcBef>
              <a:buNone/>
              <a:defRPr b="0" i="0" sz="700">
                <a:solidFill>
                  <a:srgbClr val="5B6B6B"/>
                </a:solidFill>
                <a:latin typeface="Calibri"/>
                <a:ea typeface="Calibri"/>
                <a:cs typeface="Calibri"/>
                <a:sym typeface="Calibri"/>
              </a:defRPr>
            </a:lvl9pPr>
          </a:lstStyle>
          <a:p>
            <a:pPr indent="0" lvl="0" marL="5080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 name="Shape 36"/>
        <p:cNvGrpSpPr/>
        <p:nvPr/>
      </p:nvGrpSpPr>
      <p:grpSpPr>
        <a:xfrm>
          <a:off x="0" y="0"/>
          <a:ext cx="0" cy="0"/>
          <a:chOff x="0" y="0"/>
          <a:chExt cx="0" cy="0"/>
        </a:xfrm>
      </p:grpSpPr>
      <p:sp>
        <p:nvSpPr>
          <p:cNvPr id="37" name="Google Shape;37;p6"/>
          <p:cNvSpPr txBox="1"/>
          <p:nvPr>
            <p:ph idx="11" type="ftr"/>
          </p:nvPr>
        </p:nvSpPr>
        <p:spPr>
          <a:xfrm>
            <a:off x="333375" y="4961334"/>
            <a:ext cx="2547461" cy="104775"/>
          </a:xfrm>
          <a:prstGeom prst="rect">
            <a:avLst/>
          </a:prstGeom>
          <a:noFill/>
          <a:ln>
            <a:noFill/>
          </a:ln>
        </p:spPr>
        <p:txBody>
          <a:bodyPr anchorCtr="0" anchor="t" bIns="0" lIns="0" spcFirstLastPara="1" rIns="0" wrap="square" tIns="0">
            <a:spAutoFit/>
          </a:bodyPr>
          <a:lstStyle>
            <a:lvl1pPr lvl="0">
              <a:spcBef>
                <a:spcPts val="0"/>
              </a:spcBef>
              <a:spcAft>
                <a:spcPts val="0"/>
              </a:spcAft>
              <a:buSzPts val="1100"/>
              <a:buNone/>
              <a:defRPr b="0" i="0" sz="700">
                <a:solidFill>
                  <a:srgbClr val="5B6B6B"/>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Google Shape;38;p6"/>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9" name="Google Shape;39;p6"/>
          <p:cNvSpPr txBox="1"/>
          <p:nvPr>
            <p:ph idx="12" type="sldNum"/>
          </p:nvPr>
        </p:nvSpPr>
        <p:spPr>
          <a:xfrm>
            <a:off x="8750617" y="4961334"/>
            <a:ext cx="134778" cy="104775"/>
          </a:xfrm>
          <a:prstGeom prst="rect">
            <a:avLst/>
          </a:prstGeom>
          <a:noFill/>
          <a:ln>
            <a:noFill/>
          </a:ln>
        </p:spPr>
        <p:txBody>
          <a:bodyPr anchorCtr="0" anchor="t" bIns="0" lIns="0" spcFirstLastPara="1" rIns="0" wrap="square" tIns="0">
            <a:spAutoFit/>
          </a:bodyPr>
          <a:lstStyle>
            <a:lvl1pPr indent="0" lvl="0" marL="50800">
              <a:lnSpc>
                <a:spcPct val="106111"/>
              </a:lnSpc>
              <a:spcBef>
                <a:spcPts val="0"/>
              </a:spcBef>
              <a:buNone/>
              <a:defRPr b="0" i="0" sz="700">
                <a:solidFill>
                  <a:srgbClr val="5B6B6B"/>
                </a:solidFill>
                <a:latin typeface="Calibri"/>
                <a:ea typeface="Calibri"/>
                <a:cs typeface="Calibri"/>
                <a:sym typeface="Calibri"/>
              </a:defRPr>
            </a:lvl1pPr>
            <a:lvl2pPr indent="0" lvl="1" marL="50800">
              <a:lnSpc>
                <a:spcPct val="106111"/>
              </a:lnSpc>
              <a:spcBef>
                <a:spcPts val="0"/>
              </a:spcBef>
              <a:buNone/>
              <a:defRPr b="0" i="0" sz="700">
                <a:solidFill>
                  <a:srgbClr val="5B6B6B"/>
                </a:solidFill>
                <a:latin typeface="Calibri"/>
                <a:ea typeface="Calibri"/>
                <a:cs typeface="Calibri"/>
                <a:sym typeface="Calibri"/>
              </a:defRPr>
            </a:lvl2pPr>
            <a:lvl3pPr indent="0" lvl="2" marL="50800">
              <a:lnSpc>
                <a:spcPct val="106111"/>
              </a:lnSpc>
              <a:spcBef>
                <a:spcPts val="0"/>
              </a:spcBef>
              <a:buNone/>
              <a:defRPr b="0" i="0" sz="700">
                <a:solidFill>
                  <a:srgbClr val="5B6B6B"/>
                </a:solidFill>
                <a:latin typeface="Calibri"/>
                <a:ea typeface="Calibri"/>
                <a:cs typeface="Calibri"/>
                <a:sym typeface="Calibri"/>
              </a:defRPr>
            </a:lvl3pPr>
            <a:lvl4pPr indent="0" lvl="3" marL="50800">
              <a:lnSpc>
                <a:spcPct val="106111"/>
              </a:lnSpc>
              <a:spcBef>
                <a:spcPts val="0"/>
              </a:spcBef>
              <a:buNone/>
              <a:defRPr b="0" i="0" sz="700">
                <a:solidFill>
                  <a:srgbClr val="5B6B6B"/>
                </a:solidFill>
                <a:latin typeface="Calibri"/>
                <a:ea typeface="Calibri"/>
                <a:cs typeface="Calibri"/>
                <a:sym typeface="Calibri"/>
              </a:defRPr>
            </a:lvl4pPr>
            <a:lvl5pPr indent="0" lvl="4" marL="50800">
              <a:lnSpc>
                <a:spcPct val="106111"/>
              </a:lnSpc>
              <a:spcBef>
                <a:spcPts val="0"/>
              </a:spcBef>
              <a:buNone/>
              <a:defRPr b="0" i="0" sz="700">
                <a:solidFill>
                  <a:srgbClr val="5B6B6B"/>
                </a:solidFill>
                <a:latin typeface="Calibri"/>
                <a:ea typeface="Calibri"/>
                <a:cs typeface="Calibri"/>
                <a:sym typeface="Calibri"/>
              </a:defRPr>
            </a:lvl5pPr>
            <a:lvl6pPr indent="0" lvl="5" marL="50800">
              <a:lnSpc>
                <a:spcPct val="106111"/>
              </a:lnSpc>
              <a:spcBef>
                <a:spcPts val="0"/>
              </a:spcBef>
              <a:buNone/>
              <a:defRPr b="0" i="0" sz="700">
                <a:solidFill>
                  <a:srgbClr val="5B6B6B"/>
                </a:solidFill>
                <a:latin typeface="Calibri"/>
                <a:ea typeface="Calibri"/>
                <a:cs typeface="Calibri"/>
                <a:sym typeface="Calibri"/>
              </a:defRPr>
            </a:lvl6pPr>
            <a:lvl7pPr indent="0" lvl="6" marL="50800">
              <a:lnSpc>
                <a:spcPct val="106111"/>
              </a:lnSpc>
              <a:spcBef>
                <a:spcPts val="0"/>
              </a:spcBef>
              <a:buNone/>
              <a:defRPr b="0" i="0" sz="700">
                <a:solidFill>
                  <a:srgbClr val="5B6B6B"/>
                </a:solidFill>
                <a:latin typeface="Calibri"/>
                <a:ea typeface="Calibri"/>
                <a:cs typeface="Calibri"/>
                <a:sym typeface="Calibri"/>
              </a:defRPr>
            </a:lvl7pPr>
            <a:lvl8pPr indent="0" lvl="7" marL="50800">
              <a:lnSpc>
                <a:spcPct val="106111"/>
              </a:lnSpc>
              <a:spcBef>
                <a:spcPts val="0"/>
              </a:spcBef>
              <a:buNone/>
              <a:defRPr b="0" i="0" sz="700">
                <a:solidFill>
                  <a:srgbClr val="5B6B6B"/>
                </a:solidFill>
                <a:latin typeface="Calibri"/>
                <a:ea typeface="Calibri"/>
                <a:cs typeface="Calibri"/>
                <a:sym typeface="Calibri"/>
              </a:defRPr>
            </a:lvl8pPr>
            <a:lvl9pPr indent="0" lvl="8" marL="50800">
              <a:lnSpc>
                <a:spcPct val="106111"/>
              </a:lnSpc>
              <a:spcBef>
                <a:spcPts val="0"/>
              </a:spcBef>
              <a:buNone/>
              <a:defRPr b="0" i="0" sz="700">
                <a:solidFill>
                  <a:srgbClr val="5B6B6B"/>
                </a:solidFill>
                <a:latin typeface="Calibri"/>
                <a:ea typeface="Calibri"/>
                <a:cs typeface="Calibri"/>
                <a:sym typeface="Calibri"/>
              </a:defRPr>
            </a:lvl9pPr>
          </a:lstStyle>
          <a:p>
            <a:pPr indent="0" lvl="0" marL="5080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0" name="Shape 4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blank">
  <p:cSld name="BLANK">
    <p:spTree>
      <p:nvGrpSpPr>
        <p:cNvPr id="41" name="Shape 41"/>
        <p:cNvGrpSpPr/>
        <p:nvPr/>
      </p:nvGrpSpPr>
      <p:grpSpPr>
        <a:xfrm>
          <a:off x="0" y="0"/>
          <a:ext cx="0" cy="0"/>
          <a:chOff x="0" y="0"/>
          <a:chExt cx="0" cy="0"/>
        </a:xfrm>
      </p:grpSpPr>
      <p:sp>
        <p:nvSpPr>
          <p:cNvPr id="42" name="Google Shape;42;p8"/>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sp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Google Shape;43;p8"/>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sp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Google Shape;44;p8"/>
          <p:cNvSpPr txBox="1"/>
          <p:nvPr>
            <p:ph idx="12" type="sldNum"/>
          </p:nvPr>
        </p:nvSpPr>
        <p:spPr>
          <a:xfrm>
            <a:off x="4915031" y="4767263"/>
            <a:ext cx="1600200" cy="177000"/>
          </a:xfrm>
          <a:prstGeom prst="rect">
            <a:avLst/>
          </a:prstGeom>
          <a:noFill/>
          <a:ln>
            <a:noFill/>
          </a:ln>
        </p:spPr>
        <p:txBody>
          <a:bodyPr anchorCtr="0" anchor="ctr" bIns="34275" lIns="68575" spcFirstLastPara="1" rIns="68575" wrap="square" tIns="34275">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showMasterSp="0">
  <p:cSld name="Title Slide (g409edba4d58_62_0)">
    <p:bg>
      <p:bgPr>
        <a:solidFill>
          <a:schemeClr val="lt1"/>
        </a:solidFill>
      </p:bgPr>
    </p:bg>
    <p:spTree>
      <p:nvGrpSpPr>
        <p:cNvPr id="45" name="Shape 45"/>
        <p:cNvGrpSpPr/>
        <p:nvPr/>
      </p:nvGrpSpPr>
      <p:grpSpPr>
        <a:xfrm>
          <a:off x="0" y="0"/>
          <a:ext cx="0" cy="0"/>
          <a:chOff x="0" y="0"/>
          <a:chExt cx="0" cy="0"/>
        </a:xfrm>
      </p:grpSpPr>
      <p:sp>
        <p:nvSpPr>
          <p:cNvPr id="46" name="Google Shape;46;p9"/>
          <p:cNvSpPr txBox="1"/>
          <p:nvPr>
            <p:ph type="ctrTitle"/>
          </p:nvPr>
        </p:nvSpPr>
        <p:spPr>
          <a:xfrm>
            <a:off x="470535" y="2249090"/>
            <a:ext cx="2055600" cy="522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1" i="0" sz="2100">
                <a:solidFill>
                  <a:srgbClr val="1A1A1A"/>
                </a:solidFill>
                <a:latin typeface="Cambria"/>
                <a:ea typeface="Cambria"/>
                <a:cs typeface="Cambria"/>
                <a:sym typeface="Cambria"/>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Google Shape;47;p9"/>
          <p:cNvSpPr txBox="1"/>
          <p:nvPr>
            <p:ph idx="1" type="subTitle"/>
          </p:nvPr>
        </p:nvSpPr>
        <p:spPr>
          <a:xfrm>
            <a:off x="1371600" y="2880360"/>
            <a:ext cx="6400800" cy="12858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0" i="0">
                <a:solidFill>
                  <a:schemeClr val="dk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Google Shape;48;p9"/>
          <p:cNvSpPr txBox="1"/>
          <p:nvPr>
            <p:ph idx="11" type="ftr"/>
          </p:nvPr>
        </p:nvSpPr>
        <p:spPr>
          <a:xfrm>
            <a:off x="333375" y="4961334"/>
            <a:ext cx="2547600" cy="104700"/>
          </a:xfrm>
          <a:prstGeom prst="rect">
            <a:avLst/>
          </a:prstGeom>
          <a:noFill/>
          <a:ln>
            <a:noFill/>
          </a:ln>
        </p:spPr>
        <p:txBody>
          <a:bodyPr anchorCtr="0" anchor="t" bIns="0" lIns="0" spcFirstLastPara="1" rIns="0" wrap="square" tIns="0">
            <a:spAutoFit/>
          </a:bodyPr>
          <a:lstStyle>
            <a:lvl1pPr lvl="0">
              <a:spcBef>
                <a:spcPts val="0"/>
              </a:spcBef>
              <a:spcAft>
                <a:spcPts val="0"/>
              </a:spcAft>
              <a:buSzPts val="1100"/>
              <a:buNone/>
              <a:defRPr b="0" i="0" sz="700">
                <a:solidFill>
                  <a:srgbClr val="5B6B6B"/>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9" name="Google Shape;49;p9"/>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0" name="Google Shape;50;p9"/>
          <p:cNvSpPr txBox="1"/>
          <p:nvPr>
            <p:ph idx="12" type="sldNum"/>
          </p:nvPr>
        </p:nvSpPr>
        <p:spPr>
          <a:xfrm>
            <a:off x="8750618" y="4961334"/>
            <a:ext cx="134700" cy="107700"/>
          </a:xfrm>
          <a:prstGeom prst="rect">
            <a:avLst/>
          </a:prstGeom>
          <a:noFill/>
          <a:ln>
            <a:noFill/>
          </a:ln>
        </p:spPr>
        <p:txBody>
          <a:bodyPr anchorCtr="0" anchor="t" bIns="0" lIns="0" spcFirstLastPara="1" rIns="0" wrap="square" tIns="0">
            <a:spAutoFit/>
          </a:bodyPr>
          <a:lstStyle>
            <a:lvl1pPr indent="0" lvl="0" marL="50800">
              <a:lnSpc>
                <a:spcPct val="106111"/>
              </a:lnSpc>
              <a:spcBef>
                <a:spcPts val="0"/>
              </a:spcBef>
              <a:buNone/>
              <a:defRPr b="0" i="0" sz="700">
                <a:solidFill>
                  <a:srgbClr val="5B6B6B"/>
                </a:solidFill>
                <a:latin typeface="Calibri"/>
                <a:ea typeface="Calibri"/>
                <a:cs typeface="Calibri"/>
                <a:sym typeface="Calibri"/>
              </a:defRPr>
            </a:lvl1pPr>
            <a:lvl2pPr indent="0" lvl="1" marL="50800">
              <a:lnSpc>
                <a:spcPct val="106111"/>
              </a:lnSpc>
              <a:spcBef>
                <a:spcPts val="0"/>
              </a:spcBef>
              <a:buNone/>
              <a:defRPr b="0" i="0" sz="700">
                <a:solidFill>
                  <a:srgbClr val="5B6B6B"/>
                </a:solidFill>
                <a:latin typeface="Calibri"/>
                <a:ea typeface="Calibri"/>
                <a:cs typeface="Calibri"/>
                <a:sym typeface="Calibri"/>
              </a:defRPr>
            </a:lvl2pPr>
            <a:lvl3pPr indent="0" lvl="2" marL="50800">
              <a:lnSpc>
                <a:spcPct val="106111"/>
              </a:lnSpc>
              <a:spcBef>
                <a:spcPts val="0"/>
              </a:spcBef>
              <a:buNone/>
              <a:defRPr b="0" i="0" sz="700">
                <a:solidFill>
                  <a:srgbClr val="5B6B6B"/>
                </a:solidFill>
                <a:latin typeface="Calibri"/>
                <a:ea typeface="Calibri"/>
                <a:cs typeface="Calibri"/>
                <a:sym typeface="Calibri"/>
              </a:defRPr>
            </a:lvl3pPr>
            <a:lvl4pPr indent="0" lvl="3" marL="50800">
              <a:lnSpc>
                <a:spcPct val="106111"/>
              </a:lnSpc>
              <a:spcBef>
                <a:spcPts val="0"/>
              </a:spcBef>
              <a:buNone/>
              <a:defRPr b="0" i="0" sz="700">
                <a:solidFill>
                  <a:srgbClr val="5B6B6B"/>
                </a:solidFill>
                <a:latin typeface="Calibri"/>
                <a:ea typeface="Calibri"/>
                <a:cs typeface="Calibri"/>
                <a:sym typeface="Calibri"/>
              </a:defRPr>
            </a:lvl4pPr>
            <a:lvl5pPr indent="0" lvl="4" marL="50800">
              <a:lnSpc>
                <a:spcPct val="106111"/>
              </a:lnSpc>
              <a:spcBef>
                <a:spcPts val="0"/>
              </a:spcBef>
              <a:buNone/>
              <a:defRPr b="0" i="0" sz="700">
                <a:solidFill>
                  <a:srgbClr val="5B6B6B"/>
                </a:solidFill>
                <a:latin typeface="Calibri"/>
                <a:ea typeface="Calibri"/>
                <a:cs typeface="Calibri"/>
                <a:sym typeface="Calibri"/>
              </a:defRPr>
            </a:lvl5pPr>
            <a:lvl6pPr indent="0" lvl="5" marL="50800">
              <a:lnSpc>
                <a:spcPct val="106111"/>
              </a:lnSpc>
              <a:spcBef>
                <a:spcPts val="0"/>
              </a:spcBef>
              <a:buNone/>
              <a:defRPr b="0" i="0" sz="700">
                <a:solidFill>
                  <a:srgbClr val="5B6B6B"/>
                </a:solidFill>
                <a:latin typeface="Calibri"/>
                <a:ea typeface="Calibri"/>
                <a:cs typeface="Calibri"/>
                <a:sym typeface="Calibri"/>
              </a:defRPr>
            </a:lvl6pPr>
            <a:lvl7pPr indent="0" lvl="6" marL="50800">
              <a:lnSpc>
                <a:spcPct val="106111"/>
              </a:lnSpc>
              <a:spcBef>
                <a:spcPts val="0"/>
              </a:spcBef>
              <a:buNone/>
              <a:defRPr b="0" i="0" sz="700">
                <a:solidFill>
                  <a:srgbClr val="5B6B6B"/>
                </a:solidFill>
                <a:latin typeface="Calibri"/>
                <a:ea typeface="Calibri"/>
                <a:cs typeface="Calibri"/>
                <a:sym typeface="Calibri"/>
              </a:defRPr>
            </a:lvl7pPr>
            <a:lvl8pPr indent="0" lvl="7" marL="50800">
              <a:lnSpc>
                <a:spcPct val="106111"/>
              </a:lnSpc>
              <a:spcBef>
                <a:spcPts val="0"/>
              </a:spcBef>
              <a:buNone/>
              <a:defRPr b="0" i="0" sz="700">
                <a:solidFill>
                  <a:srgbClr val="5B6B6B"/>
                </a:solidFill>
                <a:latin typeface="Calibri"/>
                <a:ea typeface="Calibri"/>
                <a:cs typeface="Calibri"/>
                <a:sym typeface="Calibri"/>
              </a:defRPr>
            </a:lvl8pPr>
            <a:lvl9pPr indent="0" lvl="8" marL="50800">
              <a:lnSpc>
                <a:spcPct val="106111"/>
              </a:lnSpc>
              <a:spcBef>
                <a:spcPts val="0"/>
              </a:spcBef>
              <a:buNone/>
              <a:defRPr b="0" i="0" sz="700">
                <a:solidFill>
                  <a:srgbClr val="5B6B6B"/>
                </a:solidFill>
                <a:latin typeface="Calibri"/>
                <a:ea typeface="Calibri"/>
                <a:cs typeface="Calibri"/>
                <a:sym typeface="Calibri"/>
              </a:defRPr>
            </a:lvl9pPr>
          </a:lstStyle>
          <a:p>
            <a:pPr indent="0" lvl="0" marL="5080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1"/>
          <p:cNvSpPr txBox="1"/>
          <p:nvPr>
            <p:ph idx="10" type="dt"/>
          </p:nvPr>
        </p:nvSpPr>
        <p:spPr>
          <a:xfrm>
            <a:off x="342986" y="4767263"/>
            <a:ext cx="16005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11"/>
          <p:cNvSpPr txBox="1"/>
          <p:nvPr>
            <p:ph idx="11" type="ftr"/>
          </p:nvPr>
        </p:nvSpPr>
        <p:spPr>
          <a:xfrm>
            <a:off x="2343736" y="4767263"/>
            <a:ext cx="21723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Google Shape;60;p11"/>
          <p:cNvSpPr txBox="1"/>
          <p:nvPr>
            <p:ph idx="12" type="sldNum"/>
          </p:nvPr>
        </p:nvSpPr>
        <p:spPr>
          <a:xfrm>
            <a:off x="4916130" y="4767263"/>
            <a:ext cx="16005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1" name="Shape 61"/>
        <p:cNvGrpSpPr/>
        <p:nvPr/>
      </p:nvGrpSpPr>
      <p:grpSpPr>
        <a:xfrm>
          <a:off x="0" y="0"/>
          <a:ext cx="0" cy="0"/>
          <a:chOff x="0" y="0"/>
          <a:chExt cx="0" cy="0"/>
        </a:xfrm>
      </p:grpSpPr>
      <p:sp>
        <p:nvSpPr>
          <p:cNvPr id="62" name="Google Shape;62;p12"/>
          <p:cNvSpPr txBox="1"/>
          <p:nvPr>
            <p:ph type="ctrTitle"/>
          </p:nvPr>
        </p:nvSpPr>
        <p:spPr>
          <a:xfrm>
            <a:off x="514479" y="1597819"/>
            <a:ext cx="5830800" cy="11025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Google Shape;63;p12"/>
          <p:cNvSpPr txBox="1"/>
          <p:nvPr>
            <p:ph idx="1" type="subTitle"/>
          </p:nvPr>
        </p:nvSpPr>
        <p:spPr>
          <a:xfrm>
            <a:off x="1028957" y="2914650"/>
            <a:ext cx="4801800" cy="1314600"/>
          </a:xfrm>
          <a:prstGeom prst="rect">
            <a:avLst/>
          </a:prstGeom>
          <a:noFill/>
          <a:ln>
            <a:noFill/>
          </a:ln>
        </p:spPr>
        <p:txBody>
          <a:bodyPr anchorCtr="0" anchor="t" bIns="34275" lIns="68575" spcFirstLastPara="1" rIns="68575" wrap="square" tIns="34275">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64" name="Google Shape;64;p12"/>
          <p:cNvSpPr txBox="1"/>
          <p:nvPr>
            <p:ph idx="10" type="dt"/>
          </p:nvPr>
        </p:nvSpPr>
        <p:spPr>
          <a:xfrm>
            <a:off x="342986" y="4767263"/>
            <a:ext cx="16005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2"/>
          <p:cNvSpPr txBox="1"/>
          <p:nvPr>
            <p:ph idx="11" type="ftr"/>
          </p:nvPr>
        </p:nvSpPr>
        <p:spPr>
          <a:xfrm>
            <a:off x="2343736" y="4767263"/>
            <a:ext cx="21723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2"/>
          <p:cNvSpPr txBox="1"/>
          <p:nvPr>
            <p:ph idx="12" type="sldNum"/>
          </p:nvPr>
        </p:nvSpPr>
        <p:spPr>
          <a:xfrm>
            <a:off x="4916130" y="4767263"/>
            <a:ext cx="16005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7" name="Shape 67"/>
        <p:cNvGrpSpPr/>
        <p:nvPr/>
      </p:nvGrpSpPr>
      <p:grpSpPr>
        <a:xfrm>
          <a:off x="0" y="0"/>
          <a:ext cx="0" cy="0"/>
          <a:chOff x="0" y="0"/>
          <a:chExt cx="0" cy="0"/>
        </a:xfrm>
      </p:grpSpPr>
      <p:sp>
        <p:nvSpPr>
          <p:cNvPr id="68" name="Google Shape;68;p13"/>
          <p:cNvSpPr txBox="1"/>
          <p:nvPr>
            <p:ph type="title"/>
          </p:nvPr>
        </p:nvSpPr>
        <p:spPr>
          <a:xfrm>
            <a:off x="342986" y="205978"/>
            <a:ext cx="6173700" cy="8574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9" name="Google Shape;69;p13"/>
          <p:cNvSpPr txBox="1"/>
          <p:nvPr>
            <p:ph idx="1" type="body"/>
          </p:nvPr>
        </p:nvSpPr>
        <p:spPr>
          <a:xfrm>
            <a:off x="342986" y="1200150"/>
            <a:ext cx="6173700" cy="339450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70" name="Google Shape;70;p13"/>
          <p:cNvSpPr txBox="1"/>
          <p:nvPr>
            <p:ph idx="10" type="dt"/>
          </p:nvPr>
        </p:nvSpPr>
        <p:spPr>
          <a:xfrm>
            <a:off x="342986" y="4767263"/>
            <a:ext cx="16005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3"/>
          <p:cNvSpPr txBox="1"/>
          <p:nvPr>
            <p:ph idx="11" type="ftr"/>
          </p:nvPr>
        </p:nvSpPr>
        <p:spPr>
          <a:xfrm>
            <a:off x="2343736" y="4767263"/>
            <a:ext cx="21723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3"/>
          <p:cNvSpPr txBox="1"/>
          <p:nvPr>
            <p:ph idx="12" type="sldNum"/>
          </p:nvPr>
        </p:nvSpPr>
        <p:spPr>
          <a:xfrm>
            <a:off x="4916130" y="4767263"/>
            <a:ext cx="16005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3" name="Shape 73"/>
        <p:cNvGrpSpPr/>
        <p:nvPr/>
      </p:nvGrpSpPr>
      <p:grpSpPr>
        <a:xfrm>
          <a:off x="0" y="0"/>
          <a:ext cx="0" cy="0"/>
          <a:chOff x="0" y="0"/>
          <a:chExt cx="0" cy="0"/>
        </a:xfrm>
      </p:grpSpPr>
      <p:sp>
        <p:nvSpPr>
          <p:cNvPr id="74" name="Google Shape;74;p14"/>
          <p:cNvSpPr txBox="1"/>
          <p:nvPr>
            <p:ph type="title"/>
          </p:nvPr>
        </p:nvSpPr>
        <p:spPr>
          <a:xfrm>
            <a:off x="541870" y="3305175"/>
            <a:ext cx="5830800" cy="1021500"/>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Calibri"/>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5" name="Google Shape;75;p14"/>
          <p:cNvSpPr txBox="1"/>
          <p:nvPr>
            <p:ph idx="1" type="body"/>
          </p:nvPr>
        </p:nvSpPr>
        <p:spPr>
          <a:xfrm>
            <a:off x="541870" y="2180035"/>
            <a:ext cx="5830800" cy="112500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76" name="Google Shape;76;p14"/>
          <p:cNvSpPr txBox="1"/>
          <p:nvPr>
            <p:ph idx="10" type="dt"/>
          </p:nvPr>
        </p:nvSpPr>
        <p:spPr>
          <a:xfrm>
            <a:off x="342986" y="4767263"/>
            <a:ext cx="16005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4"/>
          <p:cNvSpPr txBox="1"/>
          <p:nvPr>
            <p:ph idx="11" type="ftr"/>
          </p:nvPr>
        </p:nvSpPr>
        <p:spPr>
          <a:xfrm>
            <a:off x="2343736" y="4767263"/>
            <a:ext cx="21723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Google Shape;78;p14"/>
          <p:cNvSpPr txBox="1"/>
          <p:nvPr>
            <p:ph idx="12" type="sldNum"/>
          </p:nvPr>
        </p:nvSpPr>
        <p:spPr>
          <a:xfrm>
            <a:off x="4916130" y="4767263"/>
            <a:ext cx="16005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9" name="Shape 79"/>
        <p:cNvGrpSpPr/>
        <p:nvPr/>
      </p:nvGrpSpPr>
      <p:grpSpPr>
        <a:xfrm>
          <a:off x="0" y="0"/>
          <a:ext cx="0" cy="0"/>
          <a:chOff x="0" y="0"/>
          <a:chExt cx="0" cy="0"/>
        </a:xfrm>
      </p:grpSpPr>
      <p:sp>
        <p:nvSpPr>
          <p:cNvPr id="80" name="Google Shape;80;p15"/>
          <p:cNvSpPr txBox="1"/>
          <p:nvPr>
            <p:ph type="title"/>
          </p:nvPr>
        </p:nvSpPr>
        <p:spPr>
          <a:xfrm>
            <a:off x="342986" y="205978"/>
            <a:ext cx="6173700" cy="8574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1" name="Google Shape;81;p15"/>
          <p:cNvSpPr txBox="1"/>
          <p:nvPr>
            <p:ph idx="1" type="body"/>
          </p:nvPr>
        </p:nvSpPr>
        <p:spPr>
          <a:xfrm>
            <a:off x="342986" y="1200150"/>
            <a:ext cx="3029700" cy="3394500"/>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2" name="Google Shape;82;p15"/>
          <p:cNvSpPr txBox="1"/>
          <p:nvPr>
            <p:ph idx="2" type="body"/>
          </p:nvPr>
        </p:nvSpPr>
        <p:spPr>
          <a:xfrm>
            <a:off x="3487022" y="1200150"/>
            <a:ext cx="3029700" cy="3394500"/>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3" name="Google Shape;83;p15"/>
          <p:cNvSpPr txBox="1"/>
          <p:nvPr>
            <p:ph idx="10" type="dt"/>
          </p:nvPr>
        </p:nvSpPr>
        <p:spPr>
          <a:xfrm>
            <a:off x="342986" y="4767263"/>
            <a:ext cx="16005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5"/>
          <p:cNvSpPr txBox="1"/>
          <p:nvPr>
            <p:ph idx="11" type="ftr"/>
          </p:nvPr>
        </p:nvSpPr>
        <p:spPr>
          <a:xfrm>
            <a:off x="2343736" y="4767263"/>
            <a:ext cx="21723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5" name="Google Shape;85;p15"/>
          <p:cNvSpPr txBox="1"/>
          <p:nvPr>
            <p:ph idx="12" type="sldNum"/>
          </p:nvPr>
        </p:nvSpPr>
        <p:spPr>
          <a:xfrm>
            <a:off x="4916130" y="4767263"/>
            <a:ext cx="16005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6" name="Shape 86"/>
        <p:cNvGrpSpPr/>
        <p:nvPr/>
      </p:nvGrpSpPr>
      <p:grpSpPr>
        <a:xfrm>
          <a:off x="0" y="0"/>
          <a:ext cx="0" cy="0"/>
          <a:chOff x="0" y="0"/>
          <a:chExt cx="0" cy="0"/>
        </a:xfrm>
      </p:grpSpPr>
      <p:sp>
        <p:nvSpPr>
          <p:cNvPr id="87" name="Google Shape;87;p16"/>
          <p:cNvSpPr txBox="1"/>
          <p:nvPr>
            <p:ph type="title"/>
          </p:nvPr>
        </p:nvSpPr>
        <p:spPr>
          <a:xfrm>
            <a:off x="342986" y="205978"/>
            <a:ext cx="6173700" cy="8574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8" name="Google Shape;88;p16"/>
          <p:cNvSpPr txBox="1"/>
          <p:nvPr>
            <p:ph idx="1" type="body"/>
          </p:nvPr>
        </p:nvSpPr>
        <p:spPr>
          <a:xfrm>
            <a:off x="342986" y="1151335"/>
            <a:ext cx="3030900" cy="479700"/>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9" name="Google Shape;89;p16"/>
          <p:cNvSpPr txBox="1"/>
          <p:nvPr>
            <p:ph idx="2" type="body"/>
          </p:nvPr>
        </p:nvSpPr>
        <p:spPr>
          <a:xfrm>
            <a:off x="342986" y="1631156"/>
            <a:ext cx="3030900" cy="2963400"/>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90" name="Google Shape;90;p16"/>
          <p:cNvSpPr txBox="1"/>
          <p:nvPr>
            <p:ph idx="3" type="body"/>
          </p:nvPr>
        </p:nvSpPr>
        <p:spPr>
          <a:xfrm>
            <a:off x="3484640" y="1151335"/>
            <a:ext cx="3032100" cy="479700"/>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91" name="Google Shape;91;p16"/>
          <p:cNvSpPr txBox="1"/>
          <p:nvPr>
            <p:ph idx="4" type="body"/>
          </p:nvPr>
        </p:nvSpPr>
        <p:spPr>
          <a:xfrm>
            <a:off x="3484640" y="1631156"/>
            <a:ext cx="3032100" cy="2963400"/>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92" name="Google Shape;92;p16"/>
          <p:cNvSpPr txBox="1"/>
          <p:nvPr>
            <p:ph idx="10" type="dt"/>
          </p:nvPr>
        </p:nvSpPr>
        <p:spPr>
          <a:xfrm>
            <a:off x="342986" y="4767263"/>
            <a:ext cx="16005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6"/>
          <p:cNvSpPr txBox="1"/>
          <p:nvPr>
            <p:ph idx="11" type="ftr"/>
          </p:nvPr>
        </p:nvSpPr>
        <p:spPr>
          <a:xfrm>
            <a:off x="2343736" y="4767263"/>
            <a:ext cx="21723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6"/>
          <p:cNvSpPr txBox="1"/>
          <p:nvPr>
            <p:ph idx="12" type="sldNum"/>
          </p:nvPr>
        </p:nvSpPr>
        <p:spPr>
          <a:xfrm>
            <a:off x="4916130" y="4767263"/>
            <a:ext cx="16005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5" name="Shape 95"/>
        <p:cNvGrpSpPr/>
        <p:nvPr/>
      </p:nvGrpSpPr>
      <p:grpSpPr>
        <a:xfrm>
          <a:off x="0" y="0"/>
          <a:ext cx="0" cy="0"/>
          <a:chOff x="0" y="0"/>
          <a:chExt cx="0" cy="0"/>
        </a:xfrm>
      </p:grpSpPr>
      <p:sp>
        <p:nvSpPr>
          <p:cNvPr id="96" name="Google Shape;96;p17"/>
          <p:cNvSpPr txBox="1"/>
          <p:nvPr>
            <p:ph type="title"/>
          </p:nvPr>
        </p:nvSpPr>
        <p:spPr>
          <a:xfrm>
            <a:off x="342986" y="205978"/>
            <a:ext cx="6173700" cy="8574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7" name="Google Shape;97;p17"/>
          <p:cNvSpPr txBox="1"/>
          <p:nvPr>
            <p:ph idx="10" type="dt"/>
          </p:nvPr>
        </p:nvSpPr>
        <p:spPr>
          <a:xfrm>
            <a:off x="342986" y="4767263"/>
            <a:ext cx="16005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17"/>
          <p:cNvSpPr txBox="1"/>
          <p:nvPr>
            <p:ph idx="11" type="ftr"/>
          </p:nvPr>
        </p:nvSpPr>
        <p:spPr>
          <a:xfrm>
            <a:off x="2343736" y="4767263"/>
            <a:ext cx="21723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9" name="Google Shape;99;p17"/>
          <p:cNvSpPr txBox="1"/>
          <p:nvPr>
            <p:ph idx="12" type="sldNum"/>
          </p:nvPr>
        </p:nvSpPr>
        <p:spPr>
          <a:xfrm>
            <a:off x="4916130" y="4767263"/>
            <a:ext cx="16005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0" name="Shape 100"/>
        <p:cNvGrpSpPr/>
        <p:nvPr/>
      </p:nvGrpSpPr>
      <p:grpSpPr>
        <a:xfrm>
          <a:off x="0" y="0"/>
          <a:ext cx="0" cy="0"/>
          <a:chOff x="0" y="0"/>
          <a:chExt cx="0" cy="0"/>
        </a:xfrm>
      </p:grpSpPr>
      <p:sp>
        <p:nvSpPr>
          <p:cNvPr id="101" name="Google Shape;101;p18"/>
          <p:cNvSpPr txBox="1"/>
          <p:nvPr>
            <p:ph type="title"/>
          </p:nvPr>
        </p:nvSpPr>
        <p:spPr>
          <a:xfrm>
            <a:off x="342986" y="204788"/>
            <a:ext cx="2256900" cy="871500"/>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2" name="Google Shape;102;p18"/>
          <p:cNvSpPr txBox="1"/>
          <p:nvPr>
            <p:ph idx="1" type="body"/>
          </p:nvPr>
        </p:nvSpPr>
        <p:spPr>
          <a:xfrm>
            <a:off x="2681958" y="204788"/>
            <a:ext cx="3834900" cy="4389900"/>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03" name="Google Shape;103;p18"/>
          <p:cNvSpPr txBox="1"/>
          <p:nvPr>
            <p:ph idx="2" type="body"/>
          </p:nvPr>
        </p:nvSpPr>
        <p:spPr>
          <a:xfrm>
            <a:off x="342986" y="1076325"/>
            <a:ext cx="2256900" cy="3518400"/>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04" name="Google Shape;104;p18"/>
          <p:cNvSpPr txBox="1"/>
          <p:nvPr>
            <p:ph idx="10" type="dt"/>
          </p:nvPr>
        </p:nvSpPr>
        <p:spPr>
          <a:xfrm>
            <a:off x="342986" y="4767263"/>
            <a:ext cx="16005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18"/>
          <p:cNvSpPr txBox="1"/>
          <p:nvPr>
            <p:ph idx="11" type="ftr"/>
          </p:nvPr>
        </p:nvSpPr>
        <p:spPr>
          <a:xfrm>
            <a:off x="2343736" y="4767263"/>
            <a:ext cx="21723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6" name="Google Shape;106;p18"/>
          <p:cNvSpPr txBox="1"/>
          <p:nvPr>
            <p:ph idx="12" type="sldNum"/>
          </p:nvPr>
        </p:nvSpPr>
        <p:spPr>
          <a:xfrm>
            <a:off x="4916130" y="4767263"/>
            <a:ext cx="16005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7" name="Shape 107"/>
        <p:cNvGrpSpPr/>
        <p:nvPr/>
      </p:nvGrpSpPr>
      <p:grpSpPr>
        <a:xfrm>
          <a:off x="0" y="0"/>
          <a:ext cx="0" cy="0"/>
          <a:chOff x="0" y="0"/>
          <a:chExt cx="0" cy="0"/>
        </a:xfrm>
      </p:grpSpPr>
      <p:sp>
        <p:nvSpPr>
          <p:cNvPr id="108" name="Google Shape;108;p19"/>
          <p:cNvSpPr txBox="1"/>
          <p:nvPr>
            <p:ph type="title"/>
          </p:nvPr>
        </p:nvSpPr>
        <p:spPr>
          <a:xfrm>
            <a:off x="1344552" y="3600450"/>
            <a:ext cx="4115700" cy="425100"/>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9" name="Google Shape;109;p19"/>
          <p:cNvSpPr/>
          <p:nvPr>
            <p:ph idx="2" type="pic"/>
          </p:nvPr>
        </p:nvSpPr>
        <p:spPr>
          <a:xfrm>
            <a:off x="1344552" y="459581"/>
            <a:ext cx="4115700" cy="3086100"/>
          </a:xfrm>
          <a:prstGeom prst="rect">
            <a:avLst/>
          </a:prstGeom>
          <a:noFill/>
          <a:ln>
            <a:noFill/>
          </a:ln>
        </p:spPr>
      </p:sp>
      <p:sp>
        <p:nvSpPr>
          <p:cNvPr id="110" name="Google Shape;110;p19"/>
          <p:cNvSpPr txBox="1"/>
          <p:nvPr>
            <p:ph idx="1" type="body"/>
          </p:nvPr>
        </p:nvSpPr>
        <p:spPr>
          <a:xfrm>
            <a:off x="1344552" y="4025504"/>
            <a:ext cx="4115700" cy="603600"/>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11" name="Google Shape;111;p19"/>
          <p:cNvSpPr txBox="1"/>
          <p:nvPr>
            <p:ph idx="10" type="dt"/>
          </p:nvPr>
        </p:nvSpPr>
        <p:spPr>
          <a:xfrm>
            <a:off x="342986" y="4767263"/>
            <a:ext cx="16005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19"/>
          <p:cNvSpPr txBox="1"/>
          <p:nvPr>
            <p:ph idx="11" type="ftr"/>
          </p:nvPr>
        </p:nvSpPr>
        <p:spPr>
          <a:xfrm>
            <a:off x="2343736" y="4767263"/>
            <a:ext cx="21723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3" name="Google Shape;113;p19"/>
          <p:cNvSpPr txBox="1"/>
          <p:nvPr>
            <p:ph idx="12" type="sldNum"/>
          </p:nvPr>
        </p:nvSpPr>
        <p:spPr>
          <a:xfrm>
            <a:off x="4916130" y="4767263"/>
            <a:ext cx="16005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4" name="Shape 114"/>
        <p:cNvGrpSpPr/>
        <p:nvPr/>
      </p:nvGrpSpPr>
      <p:grpSpPr>
        <a:xfrm>
          <a:off x="0" y="0"/>
          <a:ext cx="0" cy="0"/>
          <a:chOff x="0" y="0"/>
          <a:chExt cx="0" cy="0"/>
        </a:xfrm>
      </p:grpSpPr>
      <p:sp>
        <p:nvSpPr>
          <p:cNvPr id="115" name="Google Shape;115;p20"/>
          <p:cNvSpPr txBox="1"/>
          <p:nvPr>
            <p:ph type="title"/>
          </p:nvPr>
        </p:nvSpPr>
        <p:spPr>
          <a:xfrm>
            <a:off x="342986" y="205978"/>
            <a:ext cx="6173700" cy="8574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6" name="Google Shape;116;p20"/>
          <p:cNvSpPr txBox="1"/>
          <p:nvPr>
            <p:ph idx="1" type="body"/>
          </p:nvPr>
        </p:nvSpPr>
        <p:spPr>
          <a:xfrm rot="5400000">
            <a:off x="1732630" y="-189450"/>
            <a:ext cx="3394500" cy="617370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7" name="Google Shape;117;p20"/>
          <p:cNvSpPr txBox="1"/>
          <p:nvPr>
            <p:ph idx="10" type="dt"/>
          </p:nvPr>
        </p:nvSpPr>
        <p:spPr>
          <a:xfrm>
            <a:off x="342986" y="4767263"/>
            <a:ext cx="16005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0"/>
          <p:cNvSpPr txBox="1"/>
          <p:nvPr>
            <p:ph idx="11" type="ftr"/>
          </p:nvPr>
        </p:nvSpPr>
        <p:spPr>
          <a:xfrm>
            <a:off x="2343736" y="4767263"/>
            <a:ext cx="21723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9" name="Google Shape;119;p20"/>
          <p:cNvSpPr txBox="1"/>
          <p:nvPr>
            <p:ph idx="12" type="sldNum"/>
          </p:nvPr>
        </p:nvSpPr>
        <p:spPr>
          <a:xfrm>
            <a:off x="4916130" y="4767263"/>
            <a:ext cx="16005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0" name="Shape 120"/>
        <p:cNvGrpSpPr/>
        <p:nvPr/>
      </p:nvGrpSpPr>
      <p:grpSpPr>
        <a:xfrm>
          <a:off x="0" y="0"/>
          <a:ext cx="0" cy="0"/>
          <a:chOff x="0" y="0"/>
          <a:chExt cx="0" cy="0"/>
        </a:xfrm>
      </p:grpSpPr>
      <p:sp>
        <p:nvSpPr>
          <p:cNvPr id="121" name="Google Shape;121;p21"/>
          <p:cNvSpPr txBox="1"/>
          <p:nvPr>
            <p:ph type="title"/>
          </p:nvPr>
        </p:nvSpPr>
        <p:spPr>
          <a:xfrm rot="5400000">
            <a:off x="3550630" y="1628579"/>
            <a:ext cx="4388700" cy="15435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2" name="Google Shape;122;p21"/>
          <p:cNvSpPr txBox="1"/>
          <p:nvPr>
            <p:ph idx="1" type="body"/>
          </p:nvPr>
        </p:nvSpPr>
        <p:spPr>
          <a:xfrm rot="5400000">
            <a:off x="406666" y="142378"/>
            <a:ext cx="4388700" cy="451590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3" name="Google Shape;123;p21"/>
          <p:cNvSpPr txBox="1"/>
          <p:nvPr>
            <p:ph idx="10" type="dt"/>
          </p:nvPr>
        </p:nvSpPr>
        <p:spPr>
          <a:xfrm>
            <a:off x="342986" y="4767263"/>
            <a:ext cx="16005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1"/>
          <p:cNvSpPr txBox="1"/>
          <p:nvPr>
            <p:ph idx="11" type="ftr"/>
          </p:nvPr>
        </p:nvSpPr>
        <p:spPr>
          <a:xfrm>
            <a:off x="2343736" y="4767263"/>
            <a:ext cx="21723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5" name="Google Shape;125;p21"/>
          <p:cNvSpPr txBox="1"/>
          <p:nvPr>
            <p:ph idx="12" type="sldNum"/>
          </p:nvPr>
        </p:nvSpPr>
        <p:spPr>
          <a:xfrm>
            <a:off x="4916130" y="4767263"/>
            <a:ext cx="16005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3.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2" Type="http://schemas.openxmlformats.org/officeDocument/2006/relationships/theme" Target="../theme/theme2.xml"/><Relationship Id="rId9" Type="http://schemas.openxmlformats.org/officeDocument/2006/relationships/slideLayout" Target="../slideLayouts/slideLayout17.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33375" y="464582"/>
            <a:ext cx="7596664" cy="33908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100"/>
              <a:buNone/>
              <a:defRPr b="1" i="0" sz="2100" u="none" cap="none" strike="noStrike">
                <a:solidFill>
                  <a:srgbClr val="1A1A1A"/>
                </a:solidFill>
                <a:latin typeface="Cambria"/>
                <a:ea typeface="Cambria"/>
                <a:cs typeface="Cambria"/>
                <a:sym typeface="Cambria"/>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Google Shape;7;p1"/>
          <p:cNvSpPr txBox="1"/>
          <p:nvPr>
            <p:ph idx="1" type="body"/>
          </p:nvPr>
        </p:nvSpPr>
        <p:spPr>
          <a:xfrm>
            <a:off x="310753" y="1196578"/>
            <a:ext cx="8520113" cy="308610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100"/>
              <a:buNone/>
              <a:defRPr b="0" i="0" sz="1400" u="none" cap="none" strike="noStrike">
                <a:latin typeface="Calibri"/>
                <a:ea typeface="Calibri"/>
                <a:cs typeface="Calibri"/>
                <a:sym typeface="Calibri"/>
              </a:defRPr>
            </a:lvl2pPr>
            <a:lvl3pPr indent="-228600" lvl="2" marL="1371600" marR="0" rtl="0" algn="l">
              <a:spcBef>
                <a:spcPts val="0"/>
              </a:spcBef>
              <a:spcAft>
                <a:spcPts val="0"/>
              </a:spcAft>
              <a:buSzPts val="1100"/>
              <a:buNone/>
              <a:defRPr b="0" i="0" sz="1400" u="none" cap="none" strike="noStrike">
                <a:latin typeface="Calibri"/>
                <a:ea typeface="Calibri"/>
                <a:cs typeface="Calibri"/>
                <a:sym typeface="Calibri"/>
              </a:defRPr>
            </a:lvl3pPr>
            <a:lvl4pPr indent="-228600" lvl="3" marL="1828800" marR="0" rtl="0" algn="l">
              <a:spcBef>
                <a:spcPts val="0"/>
              </a:spcBef>
              <a:spcAft>
                <a:spcPts val="0"/>
              </a:spcAft>
              <a:buSzPts val="1100"/>
              <a:buNone/>
              <a:defRPr b="0" i="0" sz="1400" u="none" cap="none" strike="noStrike">
                <a:latin typeface="Calibri"/>
                <a:ea typeface="Calibri"/>
                <a:cs typeface="Calibri"/>
                <a:sym typeface="Calibri"/>
              </a:defRPr>
            </a:lvl4pPr>
            <a:lvl5pPr indent="-228600" lvl="4" marL="2286000" marR="0" rtl="0" algn="l">
              <a:spcBef>
                <a:spcPts val="0"/>
              </a:spcBef>
              <a:spcAft>
                <a:spcPts val="0"/>
              </a:spcAft>
              <a:buSzPts val="1100"/>
              <a:buNone/>
              <a:defRPr b="0" i="0" sz="1400" u="none" cap="none" strike="noStrike">
                <a:latin typeface="Calibri"/>
                <a:ea typeface="Calibri"/>
                <a:cs typeface="Calibri"/>
                <a:sym typeface="Calibri"/>
              </a:defRPr>
            </a:lvl5pPr>
            <a:lvl6pPr indent="-228600" lvl="5" marL="2743200" marR="0" rtl="0" algn="l">
              <a:spcBef>
                <a:spcPts val="0"/>
              </a:spcBef>
              <a:spcAft>
                <a:spcPts val="0"/>
              </a:spcAft>
              <a:buSzPts val="1100"/>
              <a:buNone/>
              <a:defRPr b="0" i="0" sz="1400" u="none" cap="none" strike="noStrike">
                <a:latin typeface="Calibri"/>
                <a:ea typeface="Calibri"/>
                <a:cs typeface="Calibri"/>
                <a:sym typeface="Calibri"/>
              </a:defRPr>
            </a:lvl6pPr>
            <a:lvl7pPr indent="-228600" lvl="6" marL="3200400" marR="0" rtl="0" algn="l">
              <a:spcBef>
                <a:spcPts val="0"/>
              </a:spcBef>
              <a:spcAft>
                <a:spcPts val="0"/>
              </a:spcAft>
              <a:buSzPts val="1100"/>
              <a:buNone/>
              <a:defRPr b="0" i="0" sz="1400" u="none" cap="none" strike="noStrike">
                <a:latin typeface="Calibri"/>
                <a:ea typeface="Calibri"/>
                <a:cs typeface="Calibri"/>
                <a:sym typeface="Calibri"/>
              </a:defRPr>
            </a:lvl7pPr>
            <a:lvl8pPr indent="-228600" lvl="7" marL="3657600" marR="0" rtl="0" algn="l">
              <a:spcBef>
                <a:spcPts val="0"/>
              </a:spcBef>
              <a:spcAft>
                <a:spcPts val="0"/>
              </a:spcAft>
              <a:buSzPts val="1100"/>
              <a:buNone/>
              <a:defRPr b="0" i="0" sz="1400" u="none" cap="none" strike="noStrike">
                <a:latin typeface="Calibri"/>
                <a:ea typeface="Calibri"/>
                <a:cs typeface="Calibri"/>
                <a:sym typeface="Calibri"/>
              </a:defRPr>
            </a:lvl8pPr>
            <a:lvl9pPr indent="-228600" lvl="8" marL="4114800" marR="0" rtl="0" algn="l">
              <a:spcBef>
                <a:spcPts val="0"/>
              </a:spcBef>
              <a:spcAft>
                <a:spcPts val="0"/>
              </a:spcAft>
              <a:buSzPts val="1100"/>
              <a:buNone/>
              <a:defRPr b="0" i="0" sz="1400" u="none" cap="none" strike="noStrike">
                <a:latin typeface="Calibri"/>
                <a:ea typeface="Calibri"/>
                <a:cs typeface="Calibri"/>
                <a:sym typeface="Calibri"/>
              </a:defRPr>
            </a:lvl9pPr>
          </a:lstStyle>
          <a:p/>
        </p:txBody>
      </p:sp>
      <p:sp>
        <p:nvSpPr>
          <p:cNvPr id="8" name="Google Shape;8;p1"/>
          <p:cNvSpPr txBox="1"/>
          <p:nvPr>
            <p:ph idx="11" type="ftr"/>
          </p:nvPr>
        </p:nvSpPr>
        <p:spPr>
          <a:xfrm>
            <a:off x="333375" y="4961334"/>
            <a:ext cx="2547461" cy="104775"/>
          </a:xfrm>
          <a:prstGeom prst="rect">
            <a:avLst/>
          </a:prstGeom>
          <a:noFill/>
          <a:ln>
            <a:noFill/>
          </a:ln>
        </p:spPr>
        <p:txBody>
          <a:bodyPr anchorCtr="0" anchor="t" bIns="0" lIns="0" spcFirstLastPara="1" rIns="0" wrap="square" tIns="0">
            <a:spAutoFit/>
          </a:bodyPr>
          <a:lstStyle>
            <a:lvl1pPr lvl="0">
              <a:spcBef>
                <a:spcPts val="0"/>
              </a:spcBef>
              <a:spcAft>
                <a:spcPts val="0"/>
              </a:spcAft>
              <a:buSzPts val="1100"/>
              <a:buNone/>
              <a:defRPr b="0" i="0" sz="700">
                <a:solidFill>
                  <a:srgbClr val="5B6B6B"/>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9" name="Google Shape;9;p1"/>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sz="1400">
                <a:solidFill>
                  <a:srgbClr val="888888"/>
                </a:solidFil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0" name="Google Shape;10;p1"/>
          <p:cNvSpPr txBox="1"/>
          <p:nvPr>
            <p:ph idx="12" type="sldNum"/>
          </p:nvPr>
        </p:nvSpPr>
        <p:spPr>
          <a:xfrm>
            <a:off x="8750617" y="4961334"/>
            <a:ext cx="134778" cy="104775"/>
          </a:xfrm>
          <a:prstGeom prst="rect">
            <a:avLst/>
          </a:prstGeom>
          <a:noFill/>
          <a:ln>
            <a:noFill/>
          </a:ln>
        </p:spPr>
        <p:txBody>
          <a:bodyPr anchorCtr="0" anchor="t" bIns="0" lIns="0" spcFirstLastPara="1" rIns="0" wrap="square" tIns="0">
            <a:spAutoFit/>
          </a:bodyPr>
          <a:lstStyle>
            <a:lvl1pPr indent="0" lvl="0" marL="50800">
              <a:lnSpc>
                <a:spcPct val="106111"/>
              </a:lnSpc>
              <a:spcBef>
                <a:spcPts val="0"/>
              </a:spcBef>
              <a:buNone/>
              <a:defRPr b="0" i="0" sz="700">
                <a:solidFill>
                  <a:srgbClr val="5B6B6B"/>
                </a:solidFill>
                <a:latin typeface="Calibri"/>
                <a:ea typeface="Calibri"/>
                <a:cs typeface="Calibri"/>
                <a:sym typeface="Calibri"/>
              </a:defRPr>
            </a:lvl1pPr>
            <a:lvl2pPr indent="0" lvl="1" marL="50800">
              <a:lnSpc>
                <a:spcPct val="106111"/>
              </a:lnSpc>
              <a:spcBef>
                <a:spcPts val="0"/>
              </a:spcBef>
              <a:buNone/>
              <a:defRPr b="0" i="0" sz="700">
                <a:solidFill>
                  <a:srgbClr val="5B6B6B"/>
                </a:solidFill>
                <a:latin typeface="Calibri"/>
                <a:ea typeface="Calibri"/>
                <a:cs typeface="Calibri"/>
                <a:sym typeface="Calibri"/>
              </a:defRPr>
            </a:lvl2pPr>
            <a:lvl3pPr indent="0" lvl="2" marL="50800">
              <a:lnSpc>
                <a:spcPct val="106111"/>
              </a:lnSpc>
              <a:spcBef>
                <a:spcPts val="0"/>
              </a:spcBef>
              <a:buNone/>
              <a:defRPr b="0" i="0" sz="700">
                <a:solidFill>
                  <a:srgbClr val="5B6B6B"/>
                </a:solidFill>
                <a:latin typeface="Calibri"/>
                <a:ea typeface="Calibri"/>
                <a:cs typeface="Calibri"/>
                <a:sym typeface="Calibri"/>
              </a:defRPr>
            </a:lvl3pPr>
            <a:lvl4pPr indent="0" lvl="3" marL="50800">
              <a:lnSpc>
                <a:spcPct val="106111"/>
              </a:lnSpc>
              <a:spcBef>
                <a:spcPts val="0"/>
              </a:spcBef>
              <a:buNone/>
              <a:defRPr b="0" i="0" sz="700">
                <a:solidFill>
                  <a:srgbClr val="5B6B6B"/>
                </a:solidFill>
                <a:latin typeface="Calibri"/>
                <a:ea typeface="Calibri"/>
                <a:cs typeface="Calibri"/>
                <a:sym typeface="Calibri"/>
              </a:defRPr>
            </a:lvl4pPr>
            <a:lvl5pPr indent="0" lvl="4" marL="50800">
              <a:lnSpc>
                <a:spcPct val="106111"/>
              </a:lnSpc>
              <a:spcBef>
                <a:spcPts val="0"/>
              </a:spcBef>
              <a:buNone/>
              <a:defRPr b="0" i="0" sz="700">
                <a:solidFill>
                  <a:srgbClr val="5B6B6B"/>
                </a:solidFill>
                <a:latin typeface="Calibri"/>
                <a:ea typeface="Calibri"/>
                <a:cs typeface="Calibri"/>
                <a:sym typeface="Calibri"/>
              </a:defRPr>
            </a:lvl5pPr>
            <a:lvl6pPr indent="0" lvl="5" marL="50800">
              <a:lnSpc>
                <a:spcPct val="106111"/>
              </a:lnSpc>
              <a:spcBef>
                <a:spcPts val="0"/>
              </a:spcBef>
              <a:buNone/>
              <a:defRPr b="0" i="0" sz="700">
                <a:solidFill>
                  <a:srgbClr val="5B6B6B"/>
                </a:solidFill>
                <a:latin typeface="Calibri"/>
                <a:ea typeface="Calibri"/>
                <a:cs typeface="Calibri"/>
                <a:sym typeface="Calibri"/>
              </a:defRPr>
            </a:lvl6pPr>
            <a:lvl7pPr indent="0" lvl="6" marL="50800">
              <a:lnSpc>
                <a:spcPct val="106111"/>
              </a:lnSpc>
              <a:spcBef>
                <a:spcPts val="0"/>
              </a:spcBef>
              <a:buNone/>
              <a:defRPr b="0" i="0" sz="700">
                <a:solidFill>
                  <a:srgbClr val="5B6B6B"/>
                </a:solidFill>
                <a:latin typeface="Calibri"/>
                <a:ea typeface="Calibri"/>
                <a:cs typeface="Calibri"/>
                <a:sym typeface="Calibri"/>
              </a:defRPr>
            </a:lvl7pPr>
            <a:lvl8pPr indent="0" lvl="7" marL="50800">
              <a:lnSpc>
                <a:spcPct val="106111"/>
              </a:lnSpc>
              <a:spcBef>
                <a:spcPts val="0"/>
              </a:spcBef>
              <a:buNone/>
              <a:defRPr b="0" i="0" sz="700">
                <a:solidFill>
                  <a:srgbClr val="5B6B6B"/>
                </a:solidFill>
                <a:latin typeface="Calibri"/>
                <a:ea typeface="Calibri"/>
                <a:cs typeface="Calibri"/>
                <a:sym typeface="Calibri"/>
              </a:defRPr>
            </a:lvl8pPr>
            <a:lvl9pPr indent="0" lvl="8" marL="50800">
              <a:lnSpc>
                <a:spcPct val="106111"/>
              </a:lnSpc>
              <a:spcBef>
                <a:spcPts val="0"/>
              </a:spcBef>
              <a:buNone/>
              <a:defRPr b="0" i="0" sz="700">
                <a:solidFill>
                  <a:srgbClr val="5B6B6B"/>
                </a:solidFill>
                <a:latin typeface="Calibri"/>
                <a:ea typeface="Calibri"/>
                <a:cs typeface="Calibri"/>
                <a:sym typeface="Calibri"/>
              </a:defRPr>
            </a:lvl9pPr>
          </a:lstStyle>
          <a:p>
            <a:pPr indent="0" lvl="0" marL="50800" rtl="0" algn="l">
              <a:spcBef>
                <a:spcPts val="0"/>
              </a:spcBef>
              <a:spcAft>
                <a:spcPts val="0"/>
              </a:spcAft>
              <a:buNone/>
            </a:pPr>
            <a:fld id="{00000000-1234-1234-1234-123412341234}" type="slidenum">
              <a:rPr lang="en"/>
              <a:t>‹#›</a:t>
            </a:fld>
            <a:endParaRPr sz="11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 name="Shape 51"/>
        <p:cNvGrpSpPr/>
        <p:nvPr/>
      </p:nvGrpSpPr>
      <p:grpSpPr>
        <a:xfrm>
          <a:off x="0" y="0"/>
          <a:ext cx="0" cy="0"/>
          <a:chOff x="0" y="0"/>
          <a:chExt cx="0" cy="0"/>
        </a:xfrm>
      </p:grpSpPr>
      <p:sp>
        <p:nvSpPr>
          <p:cNvPr id="52" name="Google Shape;52;p10"/>
          <p:cNvSpPr txBox="1"/>
          <p:nvPr>
            <p:ph type="title"/>
          </p:nvPr>
        </p:nvSpPr>
        <p:spPr>
          <a:xfrm>
            <a:off x="342986" y="205978"/>
            <a:ext cx="6173700" cy="85740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3" name="Google Shape;53;p10"/>
          <p:cNvSpPr txBox="1"/>
          <p:nvPr>
            <p:ph idx="1" type="body"/>
          </p:nvPr>
        </p:nvSpPr>
        <p:spPr>
          <a:xfrm>
            <a:off x="342986" y="1200150"/>
            <a:ext cx="6173700" cy="3394500"/>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4" name="Google Shape;54;p10"/>
          <p:cNvSpPr txBox="1"/>
          <p:nvPr>
            <p:ph idx="10" type="dt"/>
          </p:nvPr>
        </p:nvSpPr>
        <p:spPr>
          <a:xfrm>
            <a:off x="342986" y="4767263"/>
            <a:ext cx="1600500" cy="273900"/>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0"/>
          <p:cNvSpPr txBox="1"/>
          <p:nvPr>
            <p:ph idx="11" type="ftr"/>
          </p:nvPr>
        </p:nvSpPr>
        <p:spPr>
          <a:xfrm>
            <a:off x="2343736" y="4767263"/>
            <a:ext cx="2172300" cy="273900"/>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6" name="Google Shape;56;p10"/>
          <p:cNvSpPr txBox="1"/>
          <p:nvPr>
            <p:ph idx="12" type="sldNum"/>
          </p:nvPr>
        </p:nvSpPr>
        <p:spPr>
          <a:xfrm>
            <a:off x="4916130" y="4767263"/>
            <a:ext cx="1600500" cy="2739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2.png"/><Relationship Id="rId11" Type="http://schemas.openxmlformats.org/officeDocument/2006/relationships/image" Target="../media/image8.png"/><Relationship Id="rId10" Type="http://schemas.openxmlformats.org/officeDocument/2006/relationships/image" Target="../media/image9.png"/><Relationship Id="rId12" Type="http://schemas.openxmlformats.org/officeDocument/2006/relationships/image" Target="../media/image17.png"/><Relationship Id="rId9"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1.png"/><Relationship Id="rId5"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1.png"/><Relationship Id="rId5" Type="http://schemas.openxmlformats.org/officeDocument/2006/relationships/image" Target="../media/image17.png"/><Relationship Id="rId6"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1.png"/><Relationship Id="rId5" Type="http://schemas.openxmlformats.org/officeDocument/2006/relationships/image" Target="../media/image17.png"/><Relationship Id="rId6"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1.png"/><Relationship Id="rId5" Type="http://schemas.openxmlformats.org/officeDocument/2006/relationships/image" Target="../media/image17.png"/><Relationship Id="rId6"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1.png"/><Relationship Id="rId5" Type="http://schemas.openxmlformats.org/officeDocument/2006/relationships/image" Target="../media/image17.png"/><Relationship Id="rId6"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comments" Target="../comments/comment1.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29" name="Shape 129"/>
        <p:cNvGrpSpPr/>
        <p:nvPr/>
      </p:nvGrpSpPr>
      <p:grpSpPr>
        <a:xfrm>
          <a:off x="0" y="0"/>
          <a:ext cx="0" cy="0"/>
          <a:chOff x="0" y="0"/>
          <a:chExt cx="0" cy="0"/>
        </a:xfrm>
      </p:grpSpPr>
      <p:grpSp>
        <p:nvGrpSpPr>
          <p:cNvPr id="130" name="Google Shape;130;p22"/>
          <p:cNvGrpSpPr/>
          <p:nvPr/>
        </p:nvGrpSpPr>
        <p:grpSpPr>
          <a:xfrm>
            <a:off x="0" y="35700"/>
            <a:ext cx="9144000" cy="5143500"/>
            <a:chOff x="0" y="0"/>
            <a:chExt cx="9144000" cy="5143500"/>
          </a:xfrm>
        </p:grpSpPr>
        <p:sp>
          <p:nvSpPr>
            <p:cNvPr id="131" name="Google Shape;131;p22"/>
            <p:cNvSpPr/>
            <p:nvPr/>
          </p:nvSpPr>
          <p:spPr>
            <a:xfrm>
              <a:off x="0" y="0"/>
              <a:ext cx="9144000" cy="5143500"/>
            </a:xfrm>
            <a:custGeom>
              <a:rect b="b" l="l" r="r" t="t"/>
              <a:pathLst>
                <a:path extrusionOk="0" h="120000" w="120000">
                  <a:moveTo>
                    <a:pt x="0" y="0"/>
                  </a:moveTo>
                  <a:lnTo>
                    <a:pt x="120000" y="0"/>
                  </a:lnTo>
                  <a:lnTo>
                    <a:pt x="120000" y="120000"/>
                  </a:lnTo>
                  <a:lnTo>
                    <a:pt x="0" y="120000"/>
                  </a:lnTo>
                  <a:close/>
                </a:path>
              </a:pathLst>
            </a:custGeom>
            <a:solidFill>
              <a:srgbClr val="0B2D3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22"/>
            <p:cNvSpPr/>
            <p:nvPr/>
          </p:nvSpPr>
          <p:spPr>
            <a:xfrm>
              <a:off x="364025" y="306425"/>
              <a:ext cx="8351400" cy="4456200"/>
            </a:xfrm>
            <a:prstGeom prst="roundRect">
              <a:avLst>
                <a:gd fmla="val 3478" name="adj"/>
              </a:avLst>
            </a:prstGeom>
            <a:solidFill>
              <a:srgbClr val="0E3339"/>
            </a:solidFill>
            <a:ln cap="flat" cmpd="sng" w="14300">
              <a:solidFill>
                <a:srgbClr val="1A4A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22"/>
            <p:cNvSpPr txBox="1"/>
            <p:nvPr/>
          </p:nvSpPr>
          <p:spPr>
            <a:xfrm>
              <a:off x="809625" y="571500"/>
              <a:ext cx="7429800" cy="701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4600">
                  <a:solidFill>
                    <a:srgbClr val="02C39A"/>
                  </a:solidFill>
                  <a:latin typeface="Cambria"/>
                  <a:ea typeface="Cambria"/>
                  <a:cs typeface="Cambria"/>
                  <a:sym typeface="Cambria"/>
                </a:rPr>
                <a:t>ClaimSure</a:t>
              </a:r>
              <a:endParaRPr b="1" i="0" sz="4600">
                <a:solidFill>
                  <a:srgbClr val="02C39A"/>
                </a:solidFill>
                <a:latin typeface="Cambria"/>
                <a:ea typeface="Cambria"/>
                <a:cs typeface="Cambria"/>
                <a:sym typeface="Cambria"/>
              </a:endParaRPr>
            </a:p>
          </p:txBody>
        </p:sp>
        <p:sp>
          <p:nvSpPr>
            <p:cNvPr id="134" name="Google Shape;134;p22"/>
            <p:cNvSpPr txBox="1"/>
            <p:nvPr/>
          </p:nvSpPr>
          <p:spPr>
            <a:xfrm>
              <a:off x="809625" y="1447800"/>
              <a:ext cx="73344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solidFill>
                    <a:srgbClr val="FFFFFF"/>
                  </a:solidFill>
                  <a:latin typeface="Cambria"/>
                  <a:ea typeface="Cambria"/>
                  <a:cs typeface="Cambria"/>
                  <a:sym typeface="Cambria"/>
                </a:rPr>
                <a:t>Claims Fraud Triage Copilot</a:t>
              </a:r>
              <a:endParaRPr b="1" sz="2000">
                <a:solidFill>
                  <a:srgbClr val="FFFFFF"/>
                </a:solidFill>
                <a:latin typeface="Cambria"/>
                <a:ea typeface="Cambria"/>
                <a:cs typeface="Cambria"/>
                <a:sym typeface="Cambria"/>
              </a:endParaRPr>
            </a:p>
          </p:txBody>
        </p:sp>
        <p:sp>
          <p:nvSpPr>
            <p:cNvPr id="135" name="Google Shape;135;p22"/>
            <p:cNvSpPr txBox="1"/>
            <p:nvPr/>
          </p:nvSpPr>
          <p:spPr>
            <a:xfrm>
              <a:off x="809625" y="1771650"/>
              <a:ext cx="73344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i="1" lang="en" sz="1100">
                  <a:solidFill>
                    <a:srgbClr val="CFE9E8"/>
                  </a:solidFill>
                  <a:latin typeface="Calibri"/>
                  <a:ea typeface="Calibri"/>
                  <a:cs typeface="Calibri"/>
                  <a:sym typeface="Calibri"/>
                </a:rPr>
                <a:t>A Conversational AI agent for claims fraud detection, developed through Snowflake Cortex.</a:t>
              </a:r>
              <a:endParaRPr i="1" sz="1100">
                <a:solidFill>
                  <a:srgbClr val="CFE9E8"/>
                </a:solidFill>
                <a:latin typeface="Calibri"/>
                <a:ea typeface="Calibri"/>
                <a:cs typeface="Calibri"/>
                <a:sym typeface="Calibri"/>
              </a:endParaRPr>
            </a:p>
          </p:txBody>
        </p:sp>
        <p:sp>
          <p:nvSpPr>
            <p:cNvPr id="136" name="Google Shape;136;p22"/>
            <p:cNvSpPr/>
            <p:nvPr/>
          </p:nvSpPr>
          <p:spPr>
            <a:xfrm>
              <a:off x="809625" y="2114550"/>
              <a:ext cx="2343300" cy="800100"/>
            </a:xfrm>
            <a:prstGeom prst="roundRect">
              <a:avLst>
                <a:gd fmla="val 11904" name="adj"/>
              </a:avLst>
            </a:prstGeom>
            <a:solidFill>
              <a:srgbClr val="072226"/>
            </a:solidFill>
            <a:ln cap="flat" cmpd="sng" w="11425">
              <a:solidFill>
                <a:srgbClr val="00A89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 name="Google Shape;137;p22"/>
            <p:cNvSpPr txBox="1"/>
            <p:nvPr/>
          </p:nvSpPr>
          <p:spPr>
            <a:xfrm>
              <a:off x="952500" y="2209800"/>
              <a:ext cx="20574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FFFFFF"/>
                  </a:solidFill>
                  <a:latin typeface="Calibri"/>
                  <a:ea typeface="Calibri"/>
                  <a:cs typeface="Calibri"/>
                  <a:sym typeface="Calibri"/>
                </a:rPr>
                <a:t>Snowflake Cortex</a:t>
              </a:r>
              <a:endParaRPr b="1" sz="1100">
                <a:solidFill>
                  <a:srgbClr val="FFFFFF"/>
                </a:solidFill>
                <a:latin typeface="Calibri"/>
                <a:ea typeface="Calibri"/>
                <a:cs typeface="Calibri"/>
                <a:sym typeface="Calibri"/>
              </a:endParaRPr>
            </a:p>
            <a:p>
              <a:pPr indent="0" lvl="0" marL="0" rtl="0" algn="l">
                <a:spcBef>
                  <a:spcPts val="300"/>
                </a:spcBef>
                <a:spcAft>
                  <a:spcPts val="0"/>
                </a:spcAft>
                <a:buNone/>
              </a:pPr>
              <a:r>
                <a:rPr lang="en" sz="950">
                  <a:solidFill>
                    <a:srgbClr val="8EC3C1"/>
                  </a:solidFill>
                  <a:latin typeface="Calibri"/>
                  <a:ea typeface="Calibri"/>
                  <a:cs typeface="Calibri"/>
                  <a:sym typeface="Calibri"/>
                </a:rPr>
                <a:t>AI engine for intelligent code execution &amp; LLM reasoning</a:t>
              </a:r>
              <a:endParaRPr sz="950">
                <a:solidFill>
                  <a:srgbClr val="8EC3C1"/>
                </a:solidFill>
                <a:latin typeface="Calibri"/>
                <a:ea typeface="Calibri"/>
                <a:cs typeface="Calibri"/>
                <a:sym typeface="Calibri"/>
              </a:endParaRPr>
            </a:p>
          </p:txBody>
        </p:sp>
        <p:sp>
          <p:nvSpPr>
            <p:cNvPr id="138" name="Google Shape;138;p22"/>
            <p:cNvSpPr/>
            <p:nvPr/>
          </p:nvSpPr>
          <p:spPr>
            <a:xfrm>
              <a:off x="3305175" y="2114550"/>
              <a:ext cx="2343300" cy="800100"/>
            </a:xfrm>
            <a:prstGeom prst="roundRect">
              <a:avLst>
                <a:gd fmla="val 11904" name="adj"/>
              </a:avLst>
            </a:prstGeom>
            <a:solidFill>
              <a:srgbClr val="072226"/>
            </a:solidFill>
            <a:ln cap="flat" cmpd="sng" w="11425">
              <a:solidFill>
                <a:srgbClr val="00A89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22"/>
            <p:cNvSpPr txBox="1"/>
            <p:nvPr/>
          </p:nvSpPr>
          <p:spPr>
            <a:xfrm>
              <a:off x="3448050" y="2209800"/>
              <a:ext cx="20574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FFFFFF"/>
                  </a:solidFill>
                  <a:latin typeface="Calibri"/>
                  <a:ea typeface="Calibri"/>
                  <a:cs typeface="Calibri"/>
                  <a:sym typeface="Calibri"/>
                </a:rPr>
                <a:t>Streamlit in Snowflake</a:t>
              </a:r>
              <a:endParaRPr b="1" sz="1100">
                <a:solidFill>
                  <a:srgbClr val="FFFFFF"/>
                </a:solidFill>
                <a:latin typeface="Calibri"/>
                <a:ea typeface="Calibri"/>
                <a:cs typeface="Calibri"/>
                <a:sym typeface="Calibri"/>
              </a:endParaRPr>
            </a:p>
            <a:p>
              <a:pPr indent="0" lvl="0" marL="0" rtl="0" algn="l">
                <a:spcBef>
                  <a:spcPts val="300"/>
                </a:spcBef>
                <a:spcAft>
                  <a:spcPts val="0"/>
                </a:spcAft>
                <a:buNone/>
              </a:pPr>
              <a:r>
                <a:rPr lang="en" sz="950">
                  <a:solidFill>
                    <a:srgbClr val="8EC3C1"/>
                  </a:solidFill>
                  <a:latin typeface="Calibri"/>
                  <a:ea typeface="Calibri"/>
                  <a:cs typeface="Calibri"/>
                  <a:sym typeface="Calibri"/>
                </a:rPr>
                <a:t>Interactive conversational UI built directly inside Snowflake</a:t>
              </a:r>
              <a:endParaRPr sz="950">
                <a:solidFill>
                  <a:srgbClr val="8EC3C1"/>
                </a:solidFill>
                <a:latin typeface="Calibri"/>
                <a:ea typeface="Calibri"/>
                <a:cs typeface="Calibri"/>
                <a:sym typeface="Calibri"/>
              </a:endParaRPr>
            </a:p>
          </p:txBody>
        </p:sp>
        <p:sp>
          <p:nvSpPr>
            <p:cNvPr id="140" name="Google Shape;140;p22"/>
            <p:cNvSpPr/>
            <p:nvPr/>
          </p:nvSpPr>
          <p:spPr>
            <a:xfrm>
              <a:off x="5800725" y="2114550"/>
              <a:ext cx="2343300" cy="800100"/>
            </a:xfrm>
            <a:prstGeom prst="roundRect">
              <a:avLst>
                <a:gd fmla="val 11904" name="adj"/>
              </a:avLst>
            </a:prstGeom>
            <a:solidFill>
              <a:srgbClr val="072226"/>
            </a:solidFill>
            <a:ln cap="flat" cmpd="sng" w="11425">
              <a:solidFill>
                <a:srgbClr val="02C39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22"/>
            <p:cNvSpPr txBox="1"/>
            <p:nvPr/>
          </p:nvSpPr>
          <p:spPr>
            <a:xfrm>
              <a:off x="5943600" y="2209800"/>
              <a:ext cx="20574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FFFFFF"/>
                  </a:solidFill>
                  <a:latin typeface="Calibri"/>
                  <a:ea typeface="Calibri"/>
                  <a:cs typeface="Calibri"/>
                  <a:sym typeface="Calibri"/>
                </a:rPr>
                <a:t>Claims Fraud Detection</a:t>
              </a:r>
              <a:endParaRPr b="1" sz="1100">
                <a:solidFill>
                  <a:srgbClr val="FFFFFF"/>
                </a:solidFill>
                <a:latin typeface="Calibri"/>
                <a:ea typeface="Calibri"/>
                <a:cs typeface="Calibri"/>
                <a:sym typeface="Calibri"/>
              </a:endParaRPr>
            </a:p>
            <a:p>
              <a:pPr indent="0" lvl="0" marL="0" rtl="0" algn="l">
                <a:spcBef>
                  <a:spcPts val="300"/>
                </a:spcBef>
                <a:spcAft>
                  <a:spcPts val="0"/>
                </a:spcAft>
                <a:buNone/>
              </a:pPr>
              <a:r>
                <a:rPr lang="en" sz="950">
                  <a:solidFill>
                    <a:srgbClr val="8EC3C1"/>
                  </a:solidFill>
                  <a:latin typeface="Calibri"/>
                  <a:ea typeface="Calibri"/>
                  <a:cs typeface="Calibri"/>
                  <a:sym typeface="Calibri"/>
                </a:rPr>
                <a:t>Automated triage, anomaly scoring &amp; policy inspection</a:t>
              </a:r>
              <a:endParaRPr sz="950">
                <a:solidFill>
                  <a:srgbClr val="8EC3C1"/>
                </a:solidFill>
                <a:latin typeface="Calibri"/>
                <a:ea typeface="Calibri"/>
                <a:cs typeface="Calibri"/>
                <a:sym typeface="Calibri"/>
              </a:endParaRPr>
            </a:p>
          </p:txBody>
        </p:sp>
        <p:sp>
          <p:nvSpPr>
            <p:cNvPr id="142" name="Google Shape;142;p22"/>
            <p:cNvSpPr/>
            <p:nvPr/>
          </p:nvSpPr>
          <p:spPr>
            <a:xfrm>
              <a:off x="809625" y="3086100"/>
              <a:ext cx="7334400" cy="1104900"/>
            </a:xfrm>
            <a:prstGeom prst="roundRect">
              <a:avLst>
                <a:gd fmla="val 10344" name="adj"/>
              </a:avLst>
            </a:prstGeom>
            <a:solidFill>
              <a:srgbClr val="072226"/>
            </a:solidFill>
            <a:ln cap="flat" cmpd="sng" w="9525">
              <a:solidFill>
                <a:srgbClr val="1A4A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22"/>
            <p:cNvSpPr txBox="1"/>
            <p:nvPr/>
          </p:nvSpPr>
          <p:spPr>
            <a:xfrm>
              <a:off x="1047750" y="3238500"/>
              <a:ext cx="1714500" cy="8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50">
                  <a:solidFill>
                    <a:srgbClr val="8EC3C1"/>
                  </a:solidFill>
                  <a:latin typeface="Calibri"/>
                  <a:ea typeface="Calibri"/>
                  <a:cs typeface="Calibri"/>
                  <a:sym typeface="Calibri"/>
                </a:rPr>
                <a:t>TEAM NAME</a:t>
              </a:r>
              <a:endParaRPr b="1" sz="850">
                <a:solidFill>
                  <a:srgbClr val="8EC3C1"/>
                </a:solidFill>
                <a:latin typeface="Calibri"/>
                <a:ea typeface="Calibri"/>
                <a:cs typeface="Calibri"/>
                <a:sym typeface="Calibri"/>
              </a:endParaRPr>
            </a:p>
            <a:p>
              <a:pPr indent="0" lvl="0" marL="0" rtl="0" algn="l">
                <a:spcBef>
                  <a:spcPts val="0"/>
                </a:spcBef>
                <a:spcAft>
                  <a:spcPts val="0"/>
                </a:spcAft>
                <a:buNone/>
              </a:pPr>
              <a:r>
                <a:rPr b="1" lang="en" sz="1800">
                  <a:solidFill>
                    <a:srgbClr val="FFFFFF"/>
                  </a:solidFill>
                  <a:latin typeface="Cambria"/>
                  <a:ea typeface="Cambria"/>
                  <a:cs typeface="Cambria"/>
                  <a:sym typeface="Cambria"/>
                </a:rPr>
                <a:t>SnowNexus</a:t>
              </a:r>
              <a:endParaRPr b="1" sz="1800">
                <a:solidFill>
                  <a:srgbClr val="FFFFFF"/>
                </a:solidFill>
                <a:latin typeface="Cambria"/>
                <a:ea typeface="Cambria"/>
                <a:cs typeface="Cambria"/>
                <a:sym typeface="Cambria"/>
              </a:endParaRPr>
            </a:p>
          </p:txBody>
        </p:sp>
        <p:cxnSp>
          <p:nvCxnSpPr>
            <p:cNvPr id="144" name="Google Shape;144;p22"/>
            <p:cNvCxnSpPr/>
            <p:nvPr/>
          </p:nvCxnSpPr>
          <p:spPr>
            <a:xfrm>
              <a:off x="2857500" y="3238500"/>
              <a:ext cx="0" cy="800100"/>
            </a:xfrm>
            <a:prstGeom prst="straightConnector1">
              <a:avLst/>
            </a:prstGeom>
            <a:solidFill>
              <a:srgbClr val="FFFFFF"/>
            </a:solidFill>
            <a:ln cap="flat" cmpd="sng" w="9525">
              <a:solidFill>
                <a:srgbClr val="1A4A52"/>
              </a:solidFill>
              <a:prstDash val="solid"/>
              <a:round/>
              <a:headEnd len="sm" w="sm" type="none"/>
              <a:tailEnd len="sm" w="sm" type="none"/>
            </a:ln>
          </p:spPr>
        </p:cxnSp>
        <p:sp>
          <p:nvSpPr>
            <p:cNvPr id="145" name="Google Shape;145;p22"/>
            <p:cNvSpPr txBox="1"/>
            <p:nvPr/>
          </p:nvSpPr>
          <p:spPr>
            <a:xfrm>
              <a:off x="3095625" y="3219450"/>
              <a:ext cx="4857900" cy="8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50">
                  <a:solidFill>
                    <a:srgbClr val="8EC3C1"/>
                  </a:solidFill>
                  <a:latin typeface="Calibri"/>
                  <a:ea typeface="Calibri"/>
                  <a:cs typeface="Calibri"/>
                  <a:sym typeface="Calibri"/>
                </a:rPr>
                <a:t>TEAM MEMBERS</a:t>
              </a:r>
              <a:endParaRPr b="1" sz="850">
                <a:solidFill>
                  <a:srgbClr val="8EC3C1"/>
                </a:solidFill>
                <a:latin typeface="Calibri"/>
                <a:ea typeface="Calibri"/>
                <a:cs typeface="Calibri"/>
                <a:sym typeface="Calibri"/>
              </a:endParaRPr>
            </a:p>
            <a:p>
              <a:pPr indent="0" lvl="0" marL="0" rtl="0" algn="l">
                <a:spcBef>
                  <a:spcPts val="600"/>
                </a:spcBef>
                <a:spcAft>
                  <a:spcPts val="0"/>
                </a:spcAft>
                <a:buNone/>
              </a:pPr>
              <a:r>
                <a:rPr b="1" lang="en" sz="1100">
                  <a:solidFill>
                    <a:srgbClr val="FFFFFF"/>
                  </a:solidFill>
                  <a:latin typeface="Calibri"/>
                  <a:ea typeface="Calibri"/>
                  <a:cs typeface="Calibri"/>
                  <a:sym typeface="Calibri"/>
                </a:rPr>
                <a:t>Aniket Jain </a:t>
              </a:r>
              <a:r>
                <a:rPr lang="en" sz="1100">
                  <a:solidFill>
                    <a:srgbClr val="CAD8D8"/>
                  </a:solidFill>
                  <a:latin typeface="Calibri"/>
                  <a:ea typeface="Calibri"/>
                  <a:cs typeface="Calibri"/>
                  <a:sym typeface="Calibri"/>
                </a:rPr>
                <a:t>•</a:t>
              </a:r>
              <a:r>
                <a:rPr b="1" lang="en" sz="1100">
                  <a:solidFill>
                    <a:schemeClr val="lt1"/>
                  </a:solidFill>
                  <a:latin typeface="Calibri"/>
                  <a:ea typeface="Calibri"/>
                  <a:cs typeface="Calibri"/>
                  <a:sym typeface="Calibri"/>
                </a:rPr>
                <a:t> </a:t>
              </a:r>
              <a:r>
                <a:rPr b="1" lang="en" sz="1100">
                  <a:solidFill>
                    <a:srgbClr val="FFFFFF"/>
                  </a:solidFill>
                  <a:latin typeface="Calibri"/>
                  <a:ea typeface="Calibri"/>
                  <a:cs typeface="Calibri"/>
                  <a:sym typeface="Calibri"/>
                </a:rPr>
                <a:t>Akshaya Jayakumar</a:t>
              </a:r>
              <a:endParaRPr b="1" sz="1100">
                <a:solidFill>
                  <a:srgbClr val="FFFFFF"/>
                </a:solidFill>
                <a:latin typeface="Calibri"/>
                <a:ea typeface="Calibri"/>
                <a:cs typeface="Calibri"/>
                <a:sym typeface="Calibri"/>
              </a:endParaRPr>
            </a:p>
            <a:p>
              <a:pPr indent="0" lvl="0" marL="0" rtl="0" algn="l">
                <a:spcBef>
                  <a:spcPts val="450"/>
                </a:spcBef>
                <a:spcAft>
                  <a:spcPts val="0"/>
                </a:spcAft>
                <a:buNone/>
              </a:pPr>
              <a:r>
                <a:rPr b="1" lang="en" sz="1100">
                  <a:solidFill>
                    <a:srgbClr val="FFFFFF"/>
                  </a:solidFill>
                  <a:latin typeface="Calibri"/>
                  <a:ea typeface="Calibri"/>
                  <a:cs typeface="Calibri"/>
                  <a:sym typeface="Calibri"/>
                </a:rPr>
                <a:t>Udit Saini </a:t>
              </a:r>
              <a:r>
                <a:rPr b="0" lang="en" sz="1100">
                  <a:solidFill>
                    <a:srgbClr val="CAD8D8"/>
                  </a:solidFill>
                  <a:latin typeface="Calibri"/>
                  <a:ea typeface="Calibri"/>
                  <a:cs typeface="Calibri"/>
                  <a:sym typeface="Calibri"/>
                </a:rPr>
                <a:t>•</a:t>
              </a:r>
              <a:r>
                <a:rPr b="1" lang="en" sz="1100">
                  <a:solidFill>
                    <a:srgbClr val="FFFFFF"/>
                  </a:solidFill>
                  <a:latin typeface="Calibri"/>
                  <a:ea typeface="Calibri"/>
                  <a:cs typeface="Calibri"/>
                  <a:sym typeface="Calibri"/>
                </a:rPr>
                <a:t> Peruri Mohana Satya</a:t>
              </a:r>
              <a:endParaRPr b="1" sz="1100">
                <a:solidFill>
                  <a:srgbClr val="FFFFFF"/>
                </a:solidFill>
                <a:latin typeface="Calibri"/>
                <a:ea typeface="Calibri"/>
                <a:cs typeface="Calibri"/>
                <a:sym typeface="Calibri"/>
              </a:endParaRPr>
            </a:p>
          </p:txBody>
        </p:sp>
        <p:sp>
          <p:nvSpPr>
            <p:cNvPr id="146" name="Google Shape;146;p22"/>
            <p:cNvSpPr txBox="1"/>
            <p:nvPr/>
          </p:nvSpPr>
          <p:spPr>
            <a:xfrm>
              <a:off x="809625" y="4362450"/>
              <a:ext cx="73344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50">
                  <a:solidFill>
                    <a:srgbClr val="8EC3C1"/>
                  </a:solidFill>
                  <a:latin typeface="Calibri"/>
                  <a:ea typeface="Calibri"/>
                  <a:cs typeface="Calibri"/>
                  <a:sym typeface="Calibri"/>
                </a:rPr>
                <a:t>⚡ Claims Fraud Triage Copilot | Powered by Snowflake Cortex</a:t>
              </a:r>
              <a:endParaRPr b="1" sz="950">
                <a:solidFill>
                  <a:srgbClr val="8EC3C1"/>
                </a:solidFill>
                <a:latin typeface="Calibri"/>
                <a:ea typeface="Calibri"/>
                <a:cs typeface="Calibri"/>
                <a:sym typeface="Calibri"/>
              </a:endParaRPr>
            </a:p>
          </p:txBody>
        </p:sp>
      </p:grpSp>
      <p:grpSp>
        <p:nvGrpSpPr>
          <p:cNvPr id="147" name="Google Shape;147;p22"/>
          <p:cNvGrpSpPr/>
          <p:nvPr/>
        </p:nvGrpSpPr>
        <p:grpSpPr>
          <a:xfrm>
            <a:off x="6941975" y="576600"/>
            <a:ext cx="1387373" cy="1427068"/>
            <a:chOff x="0" y="19050"/>
            <a:chExt cx="457200" cy="470281"/>
          </a:xfrm>
        </p:grpSpPr>
        <p:sp>
          <p:nvSpPr>
            <p:cNvPr id="148" name="Google Shape;148;p22"/>
            <p:cNvSpPr/>
            <p:nvPr/>
          </p:nvSpPr>
          <p:spPr>
            <a:xfrm>
              <a:off x="19050" y="19050"/>
              <a:ext cx="419100" cy="419100"/>
            </a:xfrm>
            <a:prstGeom prst="ellipse">
              <a:avLst/>
            </a:prstGeom>
            <a:solidFill>
              <a:srgbClr val="072226"/>
            </a:solidFill>
            <a:ln cap="flat" cmpd="sng" w="43400">
              <a:solidFill>
                <a:srgbClr val="02C39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 name="Google Shape;149;p22"/>
            <p:cNvSpPr/>
            <p:nvPr/>
          </p:nvSpPr>
          <p:spPr>
            <a:xfrm>
              <a:off x="76200" y="76200"/>
              <a:ext cx="304800" cy="304800"/>
            </a:xfrm>
            <a:prstGeom prst="ellipse">
              <a:avLst/>
            </a:prstGeom>
            <a:solidFill>
              <a:srgbClr val="028090">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 name="Google Shape;150;p22"/>
            <p:cNvSpPr txBox="1"/>
            <p:nvPr/>
          </p:nvSpPr>
          <p:spPr>
            <a:xfrm>
              <a:off x="0" y="32131"/>
              <a:ext cx="4572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6676">
                <a:solidFill>
                  <a:srgbClr val="02C39A"/>
                </a:solidFill>
                <a:latin typeface="Material Icons"/>
                <a:ea typeface="Material Icons"/>
                <a:cs typeface="Material Icons"/>
                <a:sym typeface="Material Icons"/>
              </a:endParaRPr>
            </a:p>
          </p:txBody>
        </p:sp>
      </p:grpSp>
      <p:pic>
        <p:nvPicPr>
          <p:cNvPr id="151" name="Google Shape;151;p22" title="STREAMLIT_MEDIA_FILE_E7251326BB6F491788A5E45AD5FFB55C.png"/>
          <p:cNvPicPr preferRelativeResize="0"/>
          <p:nvPr/>
        </p:nvPicPr>
        <p:blipFill rotWithShape="1">
          <a:blip r:embed="rId4">
            <a:alphaModFix/>
          </a:blip>
          <a:srcRect b="12381" l="3078" r="70812" t="0"/>
          <a:stretch/>
        </p:blipFill>
        <p:spPr>
          <a:xfrm>
            <a:off x="7255938" y="826675"/>
            <a:ext cx="759449" cy="7594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6" name="Shape 156"/>
        <p:cNvGrpSpPr/>
        <p:nvPr/>
      </p:nvGrpSpPr>
      <p:grpSpPr>
        <a:xfrm>
          <a:off x="0" y="0"/>
          <a:ext cx="0" cy="0"/>
          <a:chOff x="0" y="0"/>
          <a:chExt cx="0" cy="0"/>
        </a:xfrm>
      </p:grpSpPr>
      <p:sp>
        <p:nvSpPr>
          <p:cNvPr id="157" name="Google Shape;157;p23"/>
          <p:cNvSpPr txBox="1"/>
          <p:nvPr/>
        </p:nvSpPr>
        <p:spPr>
          <a:xfrm>
            <a:off x="342900" y="114300"/>
            <a:ext cx="84582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2300" u="none" strike="noStrike">
                <a:solidFill>
                  <a:srgbClr val="02C39A"/>
                </a:solidFill>
                <a:latin typeface="Cambria"/>
                <a:ea typeface="Cambria"/>
                <a:cs typeface="Cambria"/>
                <a:sym typeface="Cambria"/>
              </a:rPr>
              <a:t>Problem Statement &amp; Why It Matters</a:t>
            </a:r>
            <a:endParaRPr b="1" i="0" sz="2300" u="none" strike="noStrike">
              <a:solidFill>
                <a:srgbClr val="02C39A"/>
              </a:solidFill>
              <a:latin typeface="Cambria"/>
              <a:ea typeface="Cambria"/>
              <a:cs typeface="Cambria"/>
              <a:sym typeface="Cambria"/>
            </a:endParaRPr>
          </a:p>
        </p:txBody>
      </p:sp>
      <p:sp>
        <p:nvSpPr>
          <p:cNvPr id="158" name="Google Shape;158;p23"/>
          <p:cNvSpPr txBox="1"/>
          <p:nvPr/>
        </p:nvSpPr>
        <p:spPr>
          <a:xfrm>
            <a:off x="342900" y="742950"/>
            <a:ext cx="3810000" cy="228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1300" u="none" strike="noStrike">
                <a:solidFill>
                  <a:srgbClr val="02C39A"/>
                </a:solidFill>
                <a:latin typeface="Calibri"/>
                <a:ea typeface="Calibri"/>
                <a:cs typeface="Calibri"/>
                <a:sym typeface="Calibri"/>
              </a:rPr>
              <a:t>THE CHALLENGE TODAY</a:t>
            </a:r>
            <a:endParaRPr b="1" i="0" sz="1300" u="none" strike="noStrike">
              <a:solidFill>
                <a:srgbClr val="02C39A"/>
              </a:solidFill>
              <a:latin typeface="Calibri"/>
              <a:ea typeface="Calibri"/>
              <a:cs typeface="Calibri"/>
              <a:sym typeface="Calibri"/>
            </a:endParaRPr>
          </a:p>
        </p:txBody>
      </p:sp>
      <p:sp>
        <p:nvSpPr>
          <p:cNvPr id="159" name="Google Shape;159;p23"/>
          <p:cNvSpPr/>
          <p:nvPr/>
        </p:nvSpPr>
        <p:spPr>
          <a:xfrm>
            <a:off x="342900" y="1047750"/>
            <a:ext cx="2000100" cy="1666800"/>
          </a:xfrm>
          <a:prstGeom prst="roundRect">
            <a:avLst>
              <a:gd fmla="val 4571" name="adj"/>
            </a:avLst>
          </a:prstGeom>
          <a:solidFill>
            <a:srgbClr val="FFFFFF"/>
          </a:solidFill>
          <a:ln cap="flat" cmpd="sng" w="9525">
            <a:solidFill>
              <a:srgbClr val="CAD8D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 name="Google Shape;160;p23"/>
          <p:cNvSpPr/>
          <p:nvPr/>
        </p:nvSpPr>
        <p:spPr>
          <a:xfrm>
            <a:off x="1152525" y="1181100"/>
            <a:ext cx="381000" cy="381000"/>
          </a:xfrm>
          <a:prstGeom prst="ellipse">
            <a:avLst/>
          </a:prstGeom>
          <a:solidFill>
            <a:srgbClr val="0280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1" name="Google Shape;161;p23"/>
          <p:cNvSpPr txBox="1"/>
          <p:nvPr/>
        </p:nvSpPr>
        <p:spPr>
          <a:xfrm>
            <a:off x="1152525" y="1207389"/>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rgbClr val="FFFFFF"/>
                </a:solidFill>
                <a:latin typeface="Material Icons"/>
                <a:ea typeface="Material Icons"/>
                <a:cs typeface="Material Icons"/>
                <a:sym typeface="Material Icons"/>
              </a:rPr>
              <a:t>storage</a:t>
            </a:r>
            <a:endParaRPr sz="1800">
              <a:solidFill>
                <a:srgbClr val="FFFFFF"/>
              </a:solidFill>
              <a:latin typeface="Material Icons"/>
              <a:ea typeface="Material Icons"/>
              <a:cs typeface="Material Icons"/>
              <a:sym typeface="Material Icons"/>
            </a:endParaRPr>
          </a:p>
        </p:txBody>
      </p:sp>
      <p:sp>
        <p:nvSpPr>
          <p:cNvPr id="162" name="Google Shape;162;p23"/>
          <p:cNvSpPr txBox="1"/>
          <p:nvPr/>
        </p:nvSpPr>
        <p:spPr>
          <a:xfrm>
            <a:off x="438150" y="1638300"/>
            <a:ext cx="1809600" cy="9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1" i="0" lang="en" sz="1100" u="none" strike="noStrike">
                <a:solidFill>
                  <a:srgbClr val="1A1A1A"/>
                </a:solidFill>
                <a:latin typeface="Calibri"/>
                <a:ea typeface="Calibri"/>
                <a:cs typeface="Calibri"/>
                <a:sym typeface="Calibri"/>
              </a:rPr>
              <a:t>Data Locked in Tables</a:t>
            </a:r>
            <a:endParaRPr b="1" i="0" sz="1100" u="none" strike="noStrike">
              <a:solidFill>
                <a:srgbClr val="1A1A1A"/>
              </a:solidFill>
              <a:latin typeface="Calibri"/>
              <a:ea typeface="Calibri"/>
              <a:cs typeface="Calibri"/>
              <a:sym typeface="Calibri"/>
            </a:endParaRPr>
          </a:p>
          <a:p>
            <a:pPr indent="0" lvl="0" marL="0" rtl="0" algn="ctr">
              <a:spcBef>
                <a:spcPts val="450"/>
              </a:spcBef>
              <a:spcAft>
                <a:spcPts val="450"/>
              </a:spcAft>
              <a:buNone/>
            </a:pPr>
            <a:r>
              <a:rPr b="0" i="0" lang="en" sz="900" u="none" strike="noStrike">
                <a:solidFill>
                  <a:srgbClr val="5B6B6B"/>
                </a:solidFill>
                <a:latin typeface="Calibri"/>
                <a:ea typeface="Calibri"/>
                <a:cs typeface="Calibri"/>
                <a:sym typeface="Calibri"/>
              </a:rPr>
              <a:t>Claim amount, fraud score, and policy status sit in database tables business users can't query directly.</a:t>
            </a:r>
            <a:endParaRPr b="1" i="0" sz="900" u="none" strike="noStrike">
              <a:solidFill>
                <a:srgbClr val="1A1A1A"/>
              </a:solidFill>
              <a:latin typeface="Calibri"/>
              <a:ea typeface="Calibri"/>
              <a:cs typeface="Calibri"/>
              <a:sym typeface="Calibri"/>
            </a:endParaRPr>
          </a:p>
        </p:txBody>
      </p:sp>
      <p:sp>
        <p:nvSpPr>
          <p:cNvPr id="163" name="Google Shape;163;p23"/>
          <p:cNvSpPr/>
          <p:nvPr/>
        </p:nvSpPr>
        <p:spPr>
          <a:xfrm>
            <a:off x="2495550" y="1047750"/>
            <a:ext cx="2000100" cy="1666800"/>
          </a:xfrm>
          <a:prstGeom prst="roundRect">
            <a:avLst>
              <a:gd fmla="val 4571" name="adj"/>
            </a:avLst>
          </a:prstGeom>
          <a:solidFill>
            <a:srgbClr val="FFFFFF"/>
          </a:solidFill>
          <a:ln cap="flat" cmpd="sng" w="9525">
            <a:solidFill>
              <a:srgbClr val="CAD8D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23"/>
          <p:cNvSpPr/>
          <p:nvPr/>
        </p:nvSpPr>
        <p:spPr>
          <a:xfrm>
            <a:off x="3305175" y="1181100"/>
            <a:ext cx="381000" cy="381000"/>
          </a:xfrm>
          <a:prstGeom prst="ellipse">
            <a:avLst/>
          </a:prstGeom>
          <a:solidFill>
            <a:srgbClr val="0280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 name="Google Shape;165;p23"/>
          <p:cNvSpPr txBox="1"/>
          <p:nvPr/>
        </p:nvSpPr>
        <p:spPr>
          <a:xfrm>
            <a:off x="3305175" y="1207389"/>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rgbClr val="FFFFFF"/>
                </a:solidFill>
                <a:latin typeface="Material Icons"/>
                <a:ea typeface="Material Icons"/>
                <a:cs typeface="Material Icons"/>
                <a:sym typeface="Material Icons"/>
              </a:rPr>
              <a:t>description</a:t>
            </a:r>
            <a:endParaRPr sz="1800">
              <a:solidFill>
                <a:srgbClr val="FFFFFF"/>
              </a:solidFill>
              <a:latin typeface="Material Icons"/>
              <a:ea typeface="Material Icons"/>
              <a:cs typeface="Material Icons"/>
              <a:sym typeface="Material Icons"/>
            </a:endParaRPr>
          </a:p>
        </p:txBody>
      </p:sp>
      <p:sp>
        <p:nvSpPr>
          <p:cNvPr id="166" name="Google Shape;166;p23"/>
          <p:cNvSpPr txBox="1"/>
          <p:nvPr/>
        </p:nvSpPr>
        <p:spPr>
          <a:xfrm>
            <a:off x="2590800" y="1638300"/>
            <a:ext cx="1809600" cy="9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1" i="0" lang="en" sz="1100" u="none" strike="noStrike">
                <a:solidFill>
                  <a:srgbClr val="1A1A1A"/>
                </a:solidFill>
                <a:latin typeface="Calibri"/>
                <a:ea typeface="Calibri"/>
                <a:cs typeface="Calibri"/>
                <a:sym typeface="Calibri"/>
              </a:rPr>
              <a:t>Contracts Nobody Rereads</a:t>
            </a:r>
            <a:endParaRPr b="1" i="0" sz="1100" u="none" strike="noStrike">
              <a:solidFill>
                <a:srgbClr val="1A1A1A"/>
              </a:solidFill>
              <a:latin typeface="Calibri"/>
              <a:ea typeface="Calibri"/>
              <a:cs typeface="Calibri"/>
              <a:sym typeface="Calibri"/>
            </a:endParaRPr>
          </a:p>
          <a:p>
            <a:pPr indent="0" lvl="0" marL="0" rtl="0" algn="ctr">
              <a:spcBef>
                <a:spcPts val="450"/>
              </a:spcBef>
              <a:spcAft>
                <a:spcPts val="450"/>
              </a:spcAft>
              <a:buNone/>
            </a:pPr>
            <a:r>
              <a:rPr b="0" i="0" lang="en" sz="900" u="none" strike="noStrike">
                <a:solidFill>
                  <a:srgbClr val="5B6B6B"/>
                </a:solidFill>
                <a:latin typeface="Calibri"/>
                <a:ea typeface="Calibri"/>
                <a:cs typeface="Calibri"/>
                <a:sym typeface="Calibri"/>
              </a:rPr>
              <a:t>Coverage and exclusion clauses live in long PDFs nobody has time to fully re-read per claim.</a:t>
            </a:r>
            <a:endParaRPr b="1" i="0" sz="900" u="none" strike="noStrike">
              <a:solidFill>
                <a:srgbClr val="1A1A1A"/>
              </a:solidFill>
              <a:latin typeface="Calibri"/>
              <a:ea typeface="Calibri"/>
              <a:cs typeface="Calibri"/>
              <a:sym typeface="Calibri"/>
            </a:endParaRPr>
          </a:p>
        </p:txBody>
      </p:sp>
      <p:sp>
        <p:nvSpPr>
          <p:cNvPr id="167" name="Google Shape;167;p23"/>
          <p:cNvSpPr/>
          <p:nvPr/>
        </p:nvSpPr>
        <p:spPr>
          <a:xfrm>
            <a:off x="4648200" y="1047750"/>
            <a:ext cx="2000100" cy="1666800"/>
          </a:xfrm>
          <a:prstGeom prst="roundRect">
            <a:avLst>
              <a:gd fmla="val 4571" name="adj"/>
            </a:avLst>
          </a:prstGeom>
          <a:solidFill>
            <a:srgbClr val="FFFFFF"/>
          </a:solidFill>
          <a:ln cap="flat" cmpd="sng" w="9525">
            <a:solidFill>
              <a:srgbClr val="CAD8D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 name="Google Shape;168;p23"/>
          <p:cNvSpPr/>
          <p:nvPr/>
        </p:nvSpPr>
        <p:spPr>
          <a:xfrm>
            <a:off x="5457825" y="1181100"/>
            <a:ext cx="381000" cy="381000"/>
          </a:xfrm>
          <a:prstGeom prst="ellipse">
            <a:avLst/>
          </a:prstGeom>
          <a:solidFill>
            <a:srgbClr val="0280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p23"/>
          <p:cNvSpPr txBox="1"/>
          <p:nvPr/>
        </p:nvSpPr>
        <p:spPr>
          <a:xfrm>
            <a:off x="5457825" y="1207389"/>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rgbClr val="FFFFFF"/>
                </a:solidFill>
                <a:latin typeface="Material Icons"/>
                <a:ea typeface="Material Icons"/>
                <a:cs typeface="Material Icons"/>
                <a:sym typeface="Material Icons"/>
              </a:rPr>
              <a:t>help_outline</a:t>
            </a:r>
            <a:endParaRPr sz="1800">
              <a:solidFill>
                <a:srgbClr val="FFFFFF"/>
              </a:solidFill>
              <a:latin typeface="Material Icons"/>
              <a:ea typeface="Material Icons"/>
              <a:cs typeface="Material Icons"/>
              <a:sym typeface="Material Icons"/>
            </a:endParaRPr>
          </a:p>
        </p:txBody>
      </p:sp>
      <p:sp>
        <p:nvSpPr>
          <p:cNvPr id="170" name="Google Shape;170;p23"/>
          <p:cNvSpPr txBox="1"/>
          <p:nvPr/>
        </p:nvSpPr>
        <p:spPr>
          <a:xfrm>
            <a:off x="4743450" y="1638300"/>
            <a:ext cx="1809600" cy="9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1" i="0" lang="en" sz="1100" u="none" strike="noStrike">
                <a:solidFill>
                  <a:srgbClr val="1A1A1A"/>
                </a:solidFill>
                <a:latin typeface="Calibri"/>
                <a:ea typeface="Calibri"/>
                <a:cs typeface="Calibri"/>
                <a:sym typeface="Calibri"/>
              </a:rPr>
              <a:t>Unknown Data Trust</a:t>
            </a:r>
            <a:endParaRPr b="1" i="0" sz="1100" u="none" strike="noStrike">
              <a:solidFill>
                <a:srgbClr val="1A1A1A"/>
              </a:solidFill>
              <a:latin typeface="Calibri"/>
              <a:ea typeface="Calibri"/>
              <a:cs typeface="Calibri"/>
              <a:sym typeface="Calibri"/>
            </a:endParaRPr>
          </a:p>
          <a:p>
            <a:pPr indent="0" lvl="0" marL="0" rtl="0" algn="ctr">
              <a:spcBef>
                <a:spcPts val="450"/>
              </a:spcBef>
              <a:spcAft>
                <a:spcPts val="450"/>
              </a:spcAft>
              <a:buNone/>
            </a:pPr>
            <a:r>
              <a:rPr b="0" i="0" lang="en" sz="900" u="none" strike="noStrike">
                <a:solidFill>
                  <a:srgbClr val="5B6B6B"/>
                </a:solidFill>
                <a:latin typeface="Calibri"/>
                <a:ea typeface="Calibri"/>
                <a:cs typeface="Calibri"/>
                <a:sym typeface="Calibri"/>
              </a:rPr>
              <a:t>Is the underlying data reliable this week? Usually only the data engineering team knows.</a:t>
            </a:r>
            <a:endParaRPr b="1" i="0" sz="900" u="none" strike="noStrike">
              <a:solidFill>
                <a:srgbClr val="1A1A1A"/>
              </a:solidFill>
              <a:latin typeface="Calibri"/>
              <a:ea typeface="Calibri"/>
              <a:cs typeface="Calibri"/>
              <a:sym typeface="Calibri"/>
            </a:endParaRPr>
          </a:p>
        </p:txBody>
      </p:sp>
      <p:sp>
        <p:nvSpPr>
          <p:cNvPr id="171" name="Google Shape;171;p23"/>
          <p:cNvSpPr/>
          <p:nvPr/>
        </p:nvSpPr>
        <p:spPr>
          <a:xfrm>
            <a:off x="6800850" y="1047750"/>
            <a:ext cx="2000100" cy="1666800"/>
          </a:xfrm>
          <a:prstGeom prst="roundRect">
            <a:avLst>
              <a:gd fmla="val 4571" name="adj"/>
            </a:avLst>
          </a:prstGeom>
          <a:solidFill>
            <a:srgbClr val="FFFFFF"/>
          </a:solidFill>
          <a:ln cap="flat" cmpd="sng" w="9525">
            <a:solidFill>
              <a:srgbClr val="CAD8D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2" name="Google Shape;172;p23"/>
          <p:cNvSpPr/>
          <p:nvPr/>
        </p:nvSpPr>
        <p:spPr>
          <a:xfrm>
            <a:off x="7610475" y="1181100"/>
            <a:ext cx="381000" cy="381000"/>
          </a:xfrm>
          <a:prstGeom prst="ellipse">
            <a:avLst/>
          </a:prstGeom>
          <a:solidFill>
            <a:srgbClr val="0280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23"/>
          <p:cNvSpPr txBox="1"/>
          <p:nvPr/>
        </p:nvSpPr>
        <p:spPr>
          <a:xfrm>
            <a:off x="7610475" y="1207389"/>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rgbClr val="FFFFFF"/>
                </a:solidFill>
                <a:latin typeface="Material Icons"/>
                <a:ea typeface="Material Icons"/>
                <a:cs typeface="Material Icons"/>
                <a:sym typeface="Material Icons"/>
              </a:rPr>
              <a:t>balance</a:t>
            </a:r>
            <a:endParaRPr sz="1800">
              <a:solidFill>
                <a:srgbClr val="FFFFFF"/>
              </a:solidFill>
              <a:latin typeface="Material Icons"/>
              <a:ea typeface="Material Icons"/>
              <a:cs typeface="Material Icons"/>
              <a:sym typeface="Material Icons"/>
            </a:endParaRPr>
          </a:p>
        </p:txBody>
      </p:sp>
      <p:sp>
        <p:nvSpPr>
          <p:cNvPr id="174" name="Google Shape;174;p23"/>
          <p:cNvSpPr txBox="1"/>
          <p:nvPr/>
        </p:nvSpPr>
        <p:spPr>
          <a:xfrm>
            <a:off x="6896100" y="1638300"/>
            <a:ext cx="1809600" cy="9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1" i="0" lang="en" sz="1100" u="none" strike="noStrike">
                <a:solidFill>
                  <a:srgbClr val="1A1A1A"/>
                </a:solidFill>
                <a:latin typeface="Calibri"/>
                <a:ea typeface="Calibri"/>
                <a:cs typeface="Calibri"/>
                <a:sym typeface="Calibri"/>
              </a:rPr>
              <a:t>No Risk Triage</a:t>
            </a:r>
            <a:endParaRPr b="1" i="0" sz="1100" u="none" strike="noStrike">
              <a:solidFill>
                <a:srgbClr val="1A1A1A"/>
              </a:solidFill>
              <a:latin typeface="Calibri"/>
              <a:ea typeface="Calibri"/>
              <a:cs typeface="Calibri"/>
              <a:sym typeface="Calibri"/>
            </a:endParaRPr>
          </a:p>
          <a:p>
            <a:pPr indent="0" lvl="0" marL="0" rtl="0" algn="ctr">
              <a:spcBef>
                <a:spcPts val="450"/>
              </a:spcBef>
              <a:spcAft>
                <a:spcPts val="450"/>
              </a:spcAft>
              <a:buNone/>
            </a:pPr>
            <a:r>
              <a:rPr b="0" i="0" lang="en" sz="900" u="none" strike="noStrike">
                <a:solidFill>
                  <a:srgbClr val="5B6B6B"/>
                </a:solidFill>
                <a:latin typeface="Calibri"/>
                <a:ea typeface="Calibri"/>
                <a:cs typeface="Calibri"/>
                <a:sym typeface="Calibri"/>
              </a:rPr>
              <a:t>Every claim is queued equally, regardless of risk — no way to fast-track the low-risk majority.</a:t>
            </a:r>
            <a:endParaRPr b="1" i="0" sz="900" u="none" strike="noStrike">
              <a:solidFill>
                <a:srgbClr val="1A1A1A"/>
              </a:solidFill>
              <a:latin typeface="Calibri"/>
              <a:ea typeface="Calibri"/>
              <a:cs typeface="Calibri"/>
              <a:sym typeface="Calibri"/>
            </a:endParaRPr>
          </a:p>
        </p:txBody>
      </p:sp>
      <p:sp>
        <p:nvSpPr>
          <p:cNvPr id="175" name="Google Shape;175;p23"/>
          <p:cNvSpPr/>
          <p:nvPr/>
        </p:nvSpPr>
        <p:spPr>
          <a:xfrm>
            <a:off x="342900" y="2905125"/>
            <a:ext cx="8458200" cy="1524000"/>
          </a:xfrm>
          <a:prstGeom prst="roundRect">
            <a:avLst>
              <a:gd fmla="val 5000" name="adj"/>
            </a:avLst>
          </a:prstGeom>
          <a:solidFill>
            <a:srgbClr val="F2F7F6"/>
          </a:solidFill>
          <a:ln cap="flat" cmpd="sng" w="9525">
            <a:solidFill>
              <a:srgbClr val="CAD8D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6" name="Google Shape;176;p23"/>
          <p:cNvSpPr/>
          <p:nvPr/>
        </p:nvSpPr>
        <p:spPr>
          <a:xfrm>
            <a:off x="342900" y="2905125"/>
            <a:ext cx="47700" cy="1524000"/>
          </a:xfrm>
          <a:prstGeom prst="roundRect">
            <a:avLst>
              <a:gd fmla="val 40000" name="adj"/>
            </a:avLst>
          </a:prstGeom>
          <a:solidFill>
            <a:srgbClr val="02C39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23"/>
          <p:cNvSpPr txBox="1"/>
          <p:nvPr/>
        </p:nvSpPr>
        <p:spPr>
          <a:xfrm>
            <a:off x="571500" y="3048000"/>
            <a:ext cx="8001000" cy="1238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just">
              <a:spcBef>
                <a:spcPts val="0"/>
              </a:spcBef>
              <a:spcAft>
                <a:spcPts val="0"/>
              </a:spcAft>
              <a:buClr>
                <a:srgbClr val="C6D93A"/>
              </a:buClr>
              <a:buSzPts val="900"/>
              <a:buFont typeface="Calibri"/>
              <a:buNone/>
            </a:pPr>
            <a:r>
              <a:rPr b="1" lang="en" sz="1300">
                <a:solidFill>
                  <a:srgbClr val="02C39A"/>
                </a:solidFill>
                <a:latin typeface="Calibri"/>
                <a:ea typeface="Calibri"/>
                <a:cs typeface="Calibri"/>
                <a:sym typeface="Calibri"/>
              </a:rPr>
              <a:t>Why It Matters</a:t>
            </a:r>
            <a:br>
              <a:rPr b="1" lang="en" sz="1300">
                <a:solidFill>
                  <a:srgbClr val="02C39A"/>
                </a:solidFill>
                <a:latin typeface="Calibri"/>
                <a:ea typeface="Calibri"/>
                <a:cs typeface="Calibri"/>
                <a:sym typeface="Calibri"/>
              </a:rPr>
            </a:br>
            <a:br>
              <a:rPr b="1" lang="en" sz="900">
                <a:solidFill>
                  <a:srgbClr val="02C39A"/>
                </a:solidFill>
                <a:latin typeface="Calibri"/>
                <a:ea typeface="Calibri"/>
                <a:cs typeface="Calibri"/>
                <a:sym typeface="Calibri"/>
              </a:rPr>
            </a:br>
            <a:r>
              <a:rPr lang="en" sz="900">
                <a:solidFill>
                  <a:schemeClr val="dk1"/>
                </a:solidFill>
                <a:latin typeface="Calibri"/>
                <a:ea typeface="Calibri"/>
                <a:cs typeface="Calibri"/>
                <a:sym typeface="Calibri"/>
              </a:rPr>
              <a:t>By unifying claims data, policy documents, and data-quality signals into a single Cortex Agent, adjusters and business users can investigate fraud using plain English. This eliminates the need for SQL queries, manual PDF reviews, or waiting on data engineering to verify data accuracy. The result is faster payouts for clean claims, reduced risk of missed exclusions, and a scalable Cortex Agents pattern that can be expanded to other claims workflows without additional infrastructure.</a:t>
            </a:r>
            <a:endParaRPr sz="1100">
              <a:solidFill>
                <a:schemeClr val="dk1"/>
              </a:solidFill>
            </a:endParaRPr>
          </a:p>
          <a:p>
            <a:pPr indent="0" lvl="0" marL="0" rtl="0" algn="l">
              <a:spcBef>
                <a:spcPts val="0"/>
              </a:spcBef>
              <a:spcAft>
                <a:spcPts val="0"/>
              </a:spcAft>
              <a:buClr>
                <a:srgbClr val="C6D93A"/>
              </a:buClr>
              <a:buSzPts val="900"/>
              <a:buFont typeface="Calibri"/>
              <a:buNone/>
            </a:pPr>
            <a:r>
              <a:t/>
            </a:r>
            <a:endParaRPr sz="900">
              <a:solidFill>
                <a:schemeClr val="dk1"/>
              </a:solidFill>
              <a:latin typeface="Calibri"/>
              <a:ea typeface="Calibri"/>
              <a:cs typeface="Calibri"/>
              <a:sym typeface="Calibri"/>
            </a:endParaRPr>
          </a:p>
        </p:txBody>
      </p:sp>
      <p:sp>
        <p:nvSpPr>
          <p:cNvPr id="178" name="Google Shape;178;p23"/>
          <p:cNvSpPr/>
          <p:nvPr/>
        </p:nvSpPr>
        <p:spPr>
          <a:xfrm>
            <a:off x="0" y="4743450"/>
            <a:ext cx="9144000" cy="400200"/>
          </a:xfrm>
          <a:prstGeom prst="rect">
            <a:avLst/>
          </a:prstGeom>
          <a:solidFill>
            <a:srgbClr val="0722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 name="Google Shape;179;p23"/>
          <p:cNvSpPr txBox="1"/>
          <p:nvPr/>
        </p:nvSpPr>
        <p:spPr>
          <a:xfrm>
            <a:off x="342900" y="4743450"/>
            <a:ext cx="8458200" cy="400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i="1" lang="en" sz="1000">
                <a:solidFill>
                  <a:srgbClr val="CFE9E8"/>
                </a:solidFill>
                <a:latin typeface="Calibri"/>
                <a:ea typeface="Calibri"/>
                <a:cs typeface="Calibri"/>
                <a:sym typeface="Calibri"/>
              </a:rPr>
              <a:t>⚡ </a:t>
            </a:r>
            <a:r>
              <a:rPr b="1" i="1" lang="en" sz="950" u="none" strike="noStrike">
                <a:solidFill>
                  <a:srgbClr val="8EC3C1"/>
                </a:solidFill>
                <a:latin typeface="Calibri"/>
                <a:ea typeface="Calibri"/>
                <a:cs typeface="Calibri"/>
                <a:sym typeface="Calibri"/>
              </a:rPr>
              <a:t>Every minute spent re-reading a policy is a minute not spent on the claim that actually needs it.</a:t>
            </a:r>
            <a:endParaRPr b="1" i="1" sz="950" u="none" strike="noStrike">
              <a:solidFill>
                <a:srgbClr val="8EC3C1"/>
              </a:solidFill>
              <a:latin typeface="Calibri"/>
              <a:ea typeface="Calibri"/>
              <a:cs typeface="Calibri"/>
              <a:sym typeface="Calibri"/>
            </a:endParaRPr>
          </a:p>
        </p:txBody>
      </p:sp>
      <p:pic>
        <p:nvPicPr>
          <p:cNvPr id="180" name="Google Shape;180;p23" title="STREAMLIT_MEDIA_FILE_E7251326BB6F491788A5E45AD5FFB55C.png"/>
          <p:cNvPicPr preferRelativeResize="0"/>
          <p:nvPr/>
        </p:nvPicPr>
        <p:blipFill rotWithShape="1">
          <a:blip r:embed="rId4">
            <a:alphaModFix/>
          </a:blip>
          <a:srcRect b="12381" l="3078" r="70812" t="0"/>
          <a:stretch/>
        </p:blipFill>
        <p:spPr>
          <a:xfrm>
            <a:off x="8386232" y="38775"/>
            <a:ext cx="638443" cy="704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5" name="Shape 185"/>
        <p:cNvGrpSpPr/>
        <p:nvPr/>
      </p:nvGrpSpPr>
      <p:grpSpPr>
        <a:xfrm>
          <a:off x="0" y="0"/>
          <a:ext cx="0" cy="0"/>
          <a:chOff x="0" y="0"/>
          <a:chExt cx="0" cy="0"/>
        </a:xfrm>
      </p:grpSpPr>
      <p:sp>
        <p:nvSpPr>
          <p:cNvPr id="186" name="Google Shape;186;p24"/>
          <p:cNvSpPr txBox="1"/>
          <p:nvPr/>
        </p:nvSpPr>
        <p:spPr>
          <a:xfrm>
            <a:off x="366125" y="154775"/>
            <a:ext cx="7620000" cy="883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450"/>
              </a:spcBef>
              <a:spcAft>
                <a:spcPts val="0"/>
              </a:spcAft>
              <a:buNone/>
            </a:pPr>
            <a:r>
              <a:rPr b="1" lang="en" sz="2300">
                <a:solidFill>
                  <a:srgbClr val="02C39A"/>
                </a:solidFill>
                <a:latin typeface="Cambria"/>
                <a:ea typeface="Cambria"/>
                <a:cs typeface="Cambria"/>
                <a:sym typeface="Cambria"/>
              </a:rPr>
              <a:t>Proposed Solution - AI Powered Copilot</a:t>
            </a:r>
            <a:br>
              <a:rPr b="1" lang="en" sz="2300">
                <a:solidFill>
                  <a:srgbClr val="02C39A"/>
                </a:solidFill>
                <a:latin typeface="Cambria"/>
                <a:ea typeface="Cambria"/>
                <a:cs typeface="Cambria"/>
                <a:sym typeface="Cambria"/>
              </a:rPr>
            </a:br>
            <a:r>
              <a:rPr i="1" lang="en" sz="1100">
                <a:solidFill>
                  <a:schemeClr val="lt2"/>
                </a:solidFill>
                <a:latin typeface="Calibri"/>
                <a:ea typeface="Calibri"/>
                <a:cs typeface="Calibri"/>
                <a:sym typeface="Calibri"/>
              </a:rPr>
              <a:t>A unified AI assistant built on Snowflake </a:t>
            </a:r>
            <a:r>
              <a:rPr i="1" lang="en" sz="1100">
                <a:solidFill>
                  <a:schemeClr val="lt2"/>
                </a:solidFill>
                <a:latin typeface="Calibri"/>
                <a:ea typeface="Calibri"/>
                <a:cs typeface="Calibri"/>
                <a:sym typeface="Calibri"/>
              </a:rPr>
              <a:t>Cortex features </a:t>
            </a:r>
            <a:r>
              <a:rPr i="1" lang="en" sz="1100">
                <a:solidFill>
                  <a:schemeClr val="lt2"/>
                </a:solidFill>
                <a:latin typeface="Calibri"/>
                <a:ea typeface="Calibri"/>
                <a:cs typeface="Calibri"/>
                <a:sym typeface="Calibri"/>
              </a:rPr>
              <a:t>that helps insurance claims adjusters fast-track honest claims and focus investigation on suspicious ones.</a:t>
            </a:r>
            <a:endParaRPr i="1" sz="1100">
              <a:solidFill>
                <a:schemeClr val="lt2"/>
              </a:solidFill>
              <a:latin typeface="Calibri"/>
              <a:ea typeface="Calibri"/>
              <a:cs typeface="Calibri"/>
              <a:sym typeface="Calibri"/>
            </a:endParaRPr>
          </a:p>
          <a:p>
            <a:pPr indent="0" lvl="0" marL="0" rtl="0" algn="l">
              <a:spcBef>
                <a:spcPts val="450"/>
              </a:spcBef>
              <a:spcAft>
                <a:spcPts val="0"/>
              </a:spcAft>
              <a:buNone/>
            </a:pPr>
            <a:r>
              <a:t/>
            </a:r>
            <a:endParaRPr b="1" sz="2300">
              <a:solidFill>
                <a:srgbClr val="02C39A"/>
              </a:solidFill>
              <a:latin typeface="Cambria"/>
              <a:ea typeface="Cambria"/>
              <a:cs typeface="Cambria"/>
              <a:sym typeface="Cambria"/>
            </a:endParaRPr>
          </a:p>
          <a:p>
            <a:pPr indent="0" lvl="0" marL="0" rtl="0" algn="l">
              <a:spcBef>
                <a:spcPts val="450"/>
              </a:spcBef>
              <a:spcAft>
                <a:spcPts val="0"/>
              </a:spcAft>
              <a:buNone/>
            </a:pPr>
            <a:r>
              <a:t/>
            </a:r>
            <a:endParaRPr b="1" sz="900">
              <a:solidFill>
                <a:srgbClr val="02C39A"/>
              </a:solidFill>
              <a:latin typeface="Calibri"/>
              <a:ea typeface="Calibri"/>
              <a:cs typeface="Calibri"/>
              <a:sym typeface="Calibri"/>
            </a:endParaRPr>
          </a:p>
          <a:p>
            <a:pPr indent="0" lvl="0" marL="0" rtl="0" algn="l">
              <a:spcBef>
                <a:spcPts val="450"/>
              </a:spcBef>
              <a:spcAft>
                <a:spcPts val="0"/>
              </a:spcAft>
              <a:buNone/>
            </a:pPr>
            <a:r>
              <a:t/>
            </a:r>
            <a:endParaRPr i="1" sz="1100">
              <a:solidFill>
                <a:srgbClr val="8EC3C1"/>
              </a:solidFill>
              <a:latin typeface="Calibri"/>
              <a:ea typeface="Calibri"/>
              <a:cs typeface="Calibri"/>
              <a:sym typeface="Calibri"/>
            </a:endParaRPr>
          </a:p>
        </p:txBody>
      </p:sp>
      <p:grpSp>
        <p:nvGrpSpPr>
          <p:cNvPr id="187" name="Google Shape;187;p24"/>
          <p:cNvGrpSpPr/>
          <p:nvPr/>
        </p:nvGrpSpPr>
        <p:grpSpPr>
          <a:xfrm>
            <a:off x="0" y="4762325"/>
            <a:ext cx="9143765" cy="381193"/>
            <a:chOff x="0" y="0"/>
            <a:chExt cx="8286900" cy="514500"/>
          </a:xfrm>
        </p:grpSpPr>
        <p:sp>
          <p:nvSpPr>
            <p:cNvPr id="188" name="Google Shape;188;p24"/>
            <p:cNvSpPr/>
            <p:nvPr/>
          </p:nvSpPr>
          <p:spPr>
            <a:xfrm>
              <a:off x="0" y="0"/>
              <a:ext cx="8286900" cy="514500"/>
            </a:xfrm>
            <a:prstGeom prst="roundRect">
              <a:avLst>
                <a:gd fmla="val 14814" name="adj"/>
              </a:avLst>
            </a:prstGeom>
            <a:solidFill>
              <a:srgbClr val="072226"/>
            </a:solidFill>
            <a:ln cap="flat" cmpd="sng" w="9525">
              <a:solidFill>
                <a:srgbClr val="1A4A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24"/>
            <p:cNvSpPr txBox="1"/>
            <p:nvPr/>
          </p:nvSpPr>
          <p:spPr>
            <a:xfrm>
              <a:off x="190500" y="0"/>
              <a:ext cx="7905900" cy="514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 sz="1000">
                  <a:solidFill>
                    <a:srgbClr val="CFE9E8"/>
                  </a:solidFill>
                  <a:latin typeface="Calibri"/>
                  <a:ea typeface="Calibri"/>
                  <a:cs typeface="Calibri"/>
                  <a:sym typeface="Calibri"/>
                </a:rPr>
                <a:t>⚡ </a:t>
              </a:r>
              <a:r>
                <a:rPr b="1" i="0" lang="en" sz="1000">
                  <a:solidFill>
                    <a:srgbClr val="02C39A"/>
                  </a:solidFill>
                  <a:latin typeface="Calibri"/>
                  <a:ea typeface="Calibri"/>
                  <a:cs typeface="Calibri"/>
                  <a:sym typeface="Calibri"/>
                </a:rPr>
                <a:t>One agent, three Cortex specialists</a:t>
              </a:r>
              <a:r>
                <a:rPr i="1" lang="en" sz="1000">
                  <a:solidFill>
                    <a:srgbClr val="CFE9E8"/>
                  </a:solidFill>
                  <a:latin typeface="Calibri"/>
                  <a:ea typeface="Calibri"/>
                  <a:cs typeface="Calibri"/>
                  <a:sym typeface="Calibri"/>
                </a:rPr>
                <a:t> — not three separate tools. An orchestrating Cortex Agent reads each question and routes it automatically.</a:t>
              </a:r>
              <a:endParaRPr>
                <a:latin typeface="Calibri"/>
                <a:ea typeface="Calibri"/>
                <a:cs typeface="Calibri"/>
                <a:sym typeface="Calibri"/>
              </a:endParaRPr>
            </a:p>
          </p:txBody>
        </p:sp>
      </p:grpSp>
      <p:grpSp>
        <p:nvGrpSpPr>
          <p:cNvPr id="190" name="Google Shape;190;p24"/>
          <p:cNvGrpSpPr/>
          <p:nvPr/>
        </p:nvGrpSpPr>
        <p:grpSpPr>
          <a:xfrm>
            <a:off x="330398" y="1190625"/>
            <a:ext cx="8286750" cy="1762200"/>
            <a:chOff x="0" y="0"/>
            <a:chExt cx="8286750" cy="1762200"/>
          </a:xfrm>
        </p:grpSpPr>
        <p:grpSp>
          <p:nvGrpSpPr>
            <p:cNvPr id="191" name="Google Shape;191;p24"/>
            <p:cNvGrpSpPr/>
            <p:nvPr/>
          </p:nvGrpSpPr>
          <p:grpSpPr>
            <a:xfrm>
              <a:off x="0" y="0"/>
              <a:ext cx="2628900" cy="1762200"/>
              <a:chOff x="0" y="0"/>
              <a:chExt cx="2628900" cy="1762200"/>
            </a:xfrm>
          </p:grpSpPr>
          <p:sp>
            <p:nvSpPr>
              <p:cNvPr id="192" name="Google Shape;192;p24"/>
              <p:cNvSpPr/>
              <p:nvPr/>
            </p:nvSpPr>
            <p:spPr>
              <a:xfrm>
                <a:off x="0" y="0"/>
                <a:ext cx="2628900" cy="1762200"/>
              </a:xfrm>
              <a:prstGeom prst="roundRect">
                <a:avLst>
                  <a:gd fmla="val 4324" name="adj"/>
                </a:avLst>
              </a:prstGeom>
              <a:solidFill>
                <a:srgbClr val="FFFFFF"/>
              </a:solidFill>
              <a:ln cap="flat" cmpd="sng" w="9525">
                <a:solidFill>
                  <a:srgbClr val="CAD8D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24"/>
              <p:cNvSpPr/>
              <p:nvPr/>
            </p:nvSpPr>
            <p:spPr>
              <a:xfrm>
                <a:off x="152400" y="152400"/>
                <a:ext cx="1143000" cy="247800"/>
              </a:xfrm>
              <a:prstGeom prst="roundRect">
                <a:avLst>
                  <a:gd fmla="val 49969" name="adj"/>
                </a:avLst>
              </a:prstGeom>
              <a:solidFill>
                <a:srgbClr val="0280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 name="Google Shape;194;p24"/>
              <p:cNvSpPr txBox="1"/>
              <p:nvPr/>
            </p:nvSpPr>
            <p:spPr>
              <a:xfrm>
                <a:off x="152400" y="152400"/>
                <a:ext cx="11430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950">
                    <a:solidFill>
                      <a:srgbClr val="FFFFFF"/>
                    </a:solidFill>
                    <a:latin typeface="Calibri"/>
                    <a:ea typeface="Calibri"/>
                    <a:cs typeface="Calibri"/>
                    <a:sym typeface="Calibri"/>
                  </a:rPr>
                  <a:t>01 · Cortex Analyst</a:t>
                </a:r>
                <a:endParaRPr b="1" sz="950">
                  <a:solidFill>
                    <a:srgbClr val="FFFFFF"/>
                  </a:solidFill>
                  <a:latin typeface="Calibri"/>
                  <a:ea typeface="Calibri"/>
                  <a:cs typeface="Calibri"/>
                  <a:sym typeface="Calibri"/>
                </a:endParaRPr>
              </a:p>
            </p:txBody>
          </p:sp>
          <p:sp>
            <p:nvSpPr>
              <p:cNvPr id="195" name="Google Shape;195;p24"/>
              <p:cNvSpPr txBox="1"/>
              <p:nvPr/>
            </p:nvSpPr>
            <p:spPr>
              <a:xfrm>
                <a:off x="171450" y="495300"/>
                <a:ext cx="2286000" cy="1143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1A1A1A"/>
                    </a:solidFill>
                    <a:latin typeface="Cambria"/>
                    <a:ea typeface="Cambria"/>
                    <a:cs typeface="Cambria"/>
                    <a:sym typeface="Cambria"/>
                  </a:rPr>
                  <a:t>Self-Service Analytics</a:t>
                </a:r>
                <a:endParaRPr b="1" sz="1400">
                  <a:solidFill>
                    <a:srgbClr val="1A1A1A"/>
                  </a:solidFill>
                  <a:latin typeface="Cambria"/>
                  <a:ea typeface="Cambria"/>
                  <a:cs typeface="Cambria"/>
                  <a:sym typeface="Cambria"/>
                </a:endParaRPr>
              </a:p>
              <a:p>
                <a:pPr indent="0" lvl="0" marL="0" rtl="0" algn="l">
                  <a:spcBef>
                    <a:spcPts val="750"/>
                  </a:spcBef>
                  <a:spcAft>
                    <a:spcPts val="0"/>
                  </a:spcAft>
                  <a:buNone/>
                </a:pPr>
                <a:r>
                  <a:rPr b="0" lang="en" sz="1000">
                    <a:solidFill>
                      <a:srgbClr val="5B6B6B"/>
                    </a:solidFill>
                    <a:latin typeface="Calibri"/>
                    <a:ea typeface="Calibri"/>
                    <a:cs typeface="Calibri"/>
                    <a:sym typeface="Calibri"/>
                  </a:rPr>
                  <a:t>Ask business questions in plain English — no SQL or BI dashboard needed.</a:t>
                </a:r>
                <a:endParaRPr b="1" sz="1000">
                  <a:solidFill>
                    <a:srgbClr val="1A1A1A"/>
                  </a:solidFill>
                  <a:latin typeface="Cambria"/>
                  <a:ea typeface="Cambria"/>
                  <a:cs typeface="Cambria"/>
                  <a:sym typeface="Cambria"/>
                </a:endParaRPr>
              </a:p>
            </p:txBody>
          </p:sp>
        </p:grpSp>
        <p:grpSp>
          <p:nvGrpSpPr>
            <p:cNvPr id="196" name="Google Shape;196;p24"/>
            <p:cNvGrpSpPr/>
            <p:nvPr/>
          </p:nvGrpSpPr>
          <p:grpSpPr>
            <a:xfrm>
              <a:off x="2828925" y="0"/>
              <a:ext cx="2628900" cy="1762200"/>
              <a:chOff x="0" y="0"/>
              <a:chExt cx="2628900" cy="1762200"/>
            </a:xfrm>
          </p:grpSpPr>
          <p:sp>
            <p:nvSpPr>
              <p:cNvPr id="197" name="Google Shape;197;p24"/>
              <p:cNvSpPr/>
              <p:nvPr/>
            </p:nvSpPr>
            <p:spPr>
              <a:xfrm>
                <a:off x="0" y="0"/>
                <a:ext cx="2628900" cy="1762200"/>
              </a:xfrm>
              <a:prstGeom prst="roundRect">
                <a:avLst>
                  <a:gd fmla="val 4324" name="adj"/>
                </a:avLst>
              </a:prstGeom>
              <a:solidFill>
                <a:srgbClr val="FFFFFF"/>
              </a:solidFill>
              <a:ln cap="flat" cmpd="sng" w="9525">
                <a:solidFill>
                  <a:srgbClr val="CAD8D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 name="Google Shape;198;p24"/>
              <p:cNvSpPr/>
              <p:nvPr/>
            </p:nvSpPr>
            <p:spPr>
              <a:xfrm>
                <a:off x="152400" y="152400"/>
                <a:ext cx="1143000" cy="247800"/>
              </a:xfrm>
              <a:prstGeom prst="roundRect">
                <a:avLst>
                  <a:gd fmla="val 49969" name="adj"/>
                </a:avLst>
              </a:prstGeom>
              <a:solidFill>
                <a:srgbClr val="0280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 name="Google Shape;199;p24"/>
              <p:cNvSpPr txBox="1"/>
              <p:nvPr/>
            </p:nvSpPr>
            <p:spPr>
              <a:xfrm>
                <a:off x="152400" y="152400"/>
                <a:ext cx="11430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950">
                    <a:solidFill>
                      <a:srgbClr val="FFFFFF"/>
                    </a:solidFill>
                    <a:latin typeface="Calibri"/>
                    <a:ea typeface="Calibri"/>
                    <a:cs typeface="Calibri"/>
                    <a:sym typeface="Calibri"/>
                  </a:rPr>
                  <a:t>02 · Cortex Search</a:t>
                </a:r>
                <a:endParaRPr b="1" sz="950">
                  <a:solidFill>
                    <a:srgbClr val="FFFFFF"/>
                  </a:solidFill>
                  <a:latin typeface="Calibri"/>
                  <a:ea typeface="Calibri"/>
                  <a:cs typeface="Calibri"/>
                  <a:sym typeface="Calibri"/>
                </a:endParaRPr>
              </a:p>
            </p:txBody>
          </p:sp>
          <p:sp>
            <p:nvSpPr>
              <p:cNvPr id="200" name="Google Shape;200;p24"/>
              <p:cNvSpPr txBox="1"/>
              <p:nvPr/>
            </p:nvSpPr>
            <p:spPr>
              <a:xfrm>
                <a:off x="171450" y="495300"/>
                <a:ext cx="2286000" cy="1143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1A1A1A"/>
                    </a:solidFill>
                    <a:latin typeface="Cambria"/>
                    <a:ea typeface="Cambria"/>
                    <a:cs typeface="Cambria"/>
                    <a:sym typeface="Cambria"/>
                  </a:rPr>
                  <a:t>Document Intelligence</a:t>
                </a:r>
                <a:endParaRPr b="1" sz="1400">
                  <a:solidFill>
                    <a:srgbClr val="1A1A1A"/>
                  </a:solidFill>
                  <a:latin typeface="Cambria"/>
                  <a:ea typeface="Cambria"/>
                  <a:cs typeface="Cambria"/>
                  <a:sym typeface="Cambria"/>
                </a:endParaRPr>
              </a:p>
              <a:p>
                <a:pPr indent="0" lvl="0" marL="0" rtl="0" algn="l">
                  <a:spcBef>
                    <a:spcPts val="750"/>
                  </a:spcBef>
                  <a:spcAft>
                    <a:spcPts val="0"/>
                  </a:spcAft>
                  <a:buNone/>
                </a:pPr>
                <a:r>
                  <a:rPr b="0" lang="en" sz="1000">
                    <a:solidFill>
                      <a:srgbClr val="5B6B6B"/>
                    </a:solidFill>
                    <a:latin typeface="Calibri"/>
                    <a:ea typeface="Calibri"/>
                    <a:cs typeface="Calibri"/>
                    <a:sym typeface="Calibri"/>
                  </a:rPr>
                  <a:t>Ask what a policy covers or excludes — answered from the actual contract text.</a:t>
                </a:r>
                <a:endParaRPr b="1" sz="1000">
                  <a:solidFill>
                    <a:srgbClr val="1A1A1A"/>
                  </a:solidFill>
                  <a:latin typeface="Cambria"/>
                  <a:ea typeface="Cambria"/>
                  <a:cs typeface="Cambria"/>
                  <a:sym typeface="Cambria"/>
                </a:endParaRPr>
              </a:p>
            </p:txBody>
          </p:sp>
        </p:grpSp>
        <p:grpSp>
          <p:nvGrpSpPr>
            <p:cNvPr id="201" name="Google Shape;201;p24"/>
            <p:cNvGrpSpPr/>
            <p:nvPr/>
          </p:nvGrpSpPr>
          <p:grpSpPr>
            <a:xfrm>
              <a:off x="5657850" y="0"/>
              <a:ext cx="2628900" cy="1762200"/>
              <a:chOff x="0" y="0"/>
              <a:chExt cx="2628900" cy="1762200"/>
            </a:xfrm>
          </p:grpSpPr>
          <p:sp>
            <p:nvSpPr>
              <p:cNvPr id="202" name="Google Shape;202;p24"/>
              <p:cNvSpPr/>
              <p:nvPr/>
            </p:nvSpPr>
            <p:spPr>
              <a:xfrm>
                <a:off x="0" y="0"/>
                <a:ext cx="2628900" cy="1762200"/>
              </a:xfrm>
              <a:prstGeom prst="roundRect">
                <a:avLst>
                  <a:gd fmla="val 4324" name="adj"/>
                </a:avLst>
              </a:prstGeom>
              <a:solidFill>
                <a:srgbClr val="FFFFFF"/>
              </a:solidFill>
              <a:ln cap="flat" cmpd="sng" w="9525">
                <a:solidFill>
                  <a:srgbClr val="CAD8D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3" name="Google Shape;203;p24"/>
              <p:cNvSpPr/>
              <p:nvPr/>
            </p:nvSpPr>
            <p:spPr>
              <a:xfrm>
                <a:off x="152400" y="152400"/>
                <a:ext cx="1285800" cy="247800"/>
              </a:xfrm>
              <a:prstGeom prst="roundRect">
                <a:avLst>
                  <a:gd fmla="val 49969" name="adj"/>
                </a:avLst>
              </a:prstGeom>
              <a:solidFill>
                <a:srgbClr val="0280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 name="Google Shape;204;p24"/>
              <p:cNvSpPr txBox="1"/>
              <p:nvPr/>
            </p:nvSpPr>
            <p:spPr>
              <a:xfrm>
                <a:off x="152400" y="152400"/>
                <a:ext cx="12858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950">
                    <a:solidFill>
                      <a:srgbClr val="FFFFFF"/>
                    </a:solidFill>
                    <a:latin typeface="Calibri"/>
                    <a:ea typeface="Calibri"/>
                    <a:cs typeface="Calibri"/>
                    <a:sym typeface="Calibri"/>
                  </a:rPr>
                  <a:t>03 · Cortex Complete</a:t>
                </a:r>
                <a:endParaRPr b="1" sz="950">
                  <a:solidFill>
                    <a:srgbClr val="FFFFFF"/>
                  </a:solidFill>
                  <a:latin typeface="Calibri"/>
                  <a:ea typeface="Calibri"/>
                  <a:cs typeface="Calibri"/>
                  <a:sym typeface="Calibri"/>
                </a:endParaRPr>
              </a:p>
            </p:txBody>
          </p:sp>
          <p:sp>
            <p:nvSpPr>
              <p:cNvPr id="205" name="Google Shape;205;p24"/>
              <p:cNvSpPr txBox="1"/>
              <p:nvPr/>
            </p:nvSpPr>
            <p:spPr>
              <a:xfrm>
                <a:off x="171450" y="495300"/>
                <a:ext cx="2286000" cy="1143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1A1A1A"/>
                    </a:solidFill>
                    <a:latin typeface="Cambria"/>
                    <a:ea typeface="Cambria"/>
                    <a:cs typeface="Cambria"/>
                    <a:sym typeface="Cambria"/>
                  </a:rPr>
                  <a:t>Data Quality Root Cause</a:t>
                </a:r>
                <a:endParaRPr b="1" sz="1400">
                  <a:solidFill>
                    <a:srgbClr val="1A1A1A"/>
                  </a:solidFill>
                  <a:latin typeface="Cambria"/>
                  <a:ea typeface="Cambria"/>
                  <a:cs typeface="Cambria"/>
                  <a:sym typeface="Cambria"/>
                </a:endParaRPr>
              </a:p>
              <a:p>
                <a:pPr indent="0" lvl="0" marL="0" rtl="0" algn="l">
                  <a:spcBef>
                    <a:spcPts val="750"/>
                  </a:spcBef>
                  <a:spcAft>
                    <a:spcPts val="0"/>
                  </a:spcAft>
                  <a:buNone/>
                </a:pPr>
                <a:r>
                  <a:rPr b="0" lang="en" sz="1000">
                    <a:solidFill>
                      <a:srgbClr val="5B6B6B"/>
                    </a:solidFill>
                    <a:latin typeface="Calibri"/>
                    <a:ea typeface="Calibri"/>
                    <a:cs typeface="Calibri"/>
                    <a:sym typeface="Calibri"/>
                  </a:rPr>
                  <a:t>Ask why a metric looks off — get a plain-English explanation, not just a score.</a:t>
                </a:r>
                <a:endParaRPr b="1" sz="1000">
                  <a:solidFill>
                    <a:srgbClr val="1A1A1A"/>
                  </a:solidFill>
                  <a:latin typeface="Cambria"/>
                  <a:ea typeface="Cambria"/>
                  <a:cs typeface="Cambria"/>
                  <a:sym typeface="Cambria"/>
                </a:endParaRPr>
              </a:p>
            </p:txBody>
          </p:sp>
        </p:grpSp>
      </p:grpSp>
      <p:grpSp>
        <p:nvGrpSpPr>
          <p:cNvPr id="206" name="Google Shape;206;p24"/>
          <p:cNvGrpSpPr/>
          <p:nvPr/>
        </p:nvGrpSpPr>
        <p:grpSpPr>
          <a:xfrm>
            <a:off x="366125" y="3161274"/>
            <a:ext cx="8286900" cy="1127766"/>
            <a:chOff x="0" y="-142547"/>
            <a:chExt cx="8286900" cy="961847"/>
          </a:xfrm>
        </p:grpSpPr>
        <p:sp>
          <p:nvSpPr>
            <p:cNvPr id="207" name="Google Shape;207;p24"/>
            <p:cNvSpPr txBox="1"/>
            <p:nvPr/>
          </p:nvSpPr>
          <p:spPr>
            <a:xfrm>
              <a:off x="0" y="-142547"/>
              <a:ext cx="8286900" cy="18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7">
                  <a:solidFill>
                    <a:srgbClr val="02C39A"/>
                  </a:solidFill>
                  <a:latin typeface="Calibri"/>
                  <a:ea typeface="Calibri"/>
                  <a:cs typeface="Calibri"/>
                  <a:sym typeface="Calibri"/>
                </a:rPr>
                <a:t>How It Works</a:t>
              </a:r>
              <a:endParaRPr b="1" sz="1407">
                <a:solidFill>
                  <a:srgbClr val="02C39A"/>
                </a:solidFill>
                <a:latin typeface="Calibri"/>
                <a:ea typeface="Calibri"/>
                <a:cs typeface="Calibri"/>
                <a:sym typeface="Calibri"/>
              </a:endParaRPr>
            </a:p>
          </p:txBody>
        </p:sp>
        <p:grpSp>
          <p:nvGrpSpPr>
            <p:cNvPr id="208" name="Google Shape;208;p24"/>
            <p:cNvGrpSpPr/>
            <p:nvPr/>
          </p:nvGrpSpPr>
          <p:grpSpPr>
            <a:xfrm>
              <a:off x="0" y="228600"/>
              <a:ext cx="1886100" cy="590700"/>
              <a:chOff x="0" y="0"/>
              <a:chExt cx="1886100" cy="590700"/>
            </a:xfrm>
          </p:grpSpPr>
          <p:sp>
            <p:nvSpPr>
              <p:cNvPr id="209" name="Google Shape;209;p24"/>
              <p:cNvSpPr/>
              <p:nvPr/>
            </p:nvSpPr>
            <p:spPr>
              <a:xfrm>
                <a:off x="0" y="0"/>
                <a:ext cx="1886100" cy="590700"/>
              </a:xfrm>
              <a:prstGeom prst="roundRect">
                <a:avLst>
                  <a:gd fmla="val 12903" name="adj"/>
                </a:avLst>
              </a:prstGeom>
              <a:solidFill>
                <a:srgbClr val="0E3D41"/>
              </a:solidFill>
              <a:ln cap="flat" cmpd="sng" w="11175">
                <a:solidFill>
                  <a:srgbClr val="00A89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642"/>
              </a:p>
            </p:txBody>
          </p:sp>
          <p:sp>
            <p:nvSpPr>
              <p:cNvPr id="210" name="Google Shape;210;p24"/>
              <p:cNvSpPr txBox="1"/>
              <p:nvPr/>
            </p:nvSpPr>
            <p:spPr>
              <a:xfrm>
                <a:off x="114300" y="0"/>
                <a:ext cx="1657500" cy="590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73">
                    <a:solidFill>
                      <a:srgbClr val="FFFFFF"/>
                    </a:solidFill>
                    <a:latin typeface="Calibri"/>
                    <a:ea typeface="Calibri"/>
                    <a:cs typeface="Calibri"/>
                    <a:sym typeface="Calibri"/>
                  </a:rPr>
                  <a:t>Business User</a:t>
                </a:r>
                <a:endParaRPr b="1" sz="1173">
                  <a:solidFill>
                    <a:srgbClr val="FFFFFF"/>
                  </a:solidFill>
                  <a:latin typeface="Calibri"/>
                  <a:ea typeface="Calibri"/>
                  <a:cs typeface="Calibri"/>
                  <a:sym typeface="Calibri"/>
                </a:endParaRPr>
              </a:p>
              <a:p>
                <a:pPr indent="0" lvl="0" marL="0" rtl="0" algn="ctr">
                  <a:spcBef>
                    <a:spcPts val="176"/>
                  </a:spcBef>
                  <a:spcAft>
                    <a:spcPts val="0"/>
                  </a:spcAft>
                  <a:buNone/>
                </a:pPr>
                <a:r>
                  <a:rPr lang="en" sz="997">
                    <a:solidFill>
                      <a:srgbClr val="8EC3C1"/>
                    </a:solidFill>
                    <a:latin typeface="Calibri"/>
                    <a:ea typeface="Calibri"/>
                    <a:cs typeface="Calibri"/>
                    <a:sym typeface="Calibri"/>
                  </a:rPr>
                  <a:t>Asks a Question</a:t>
                </a:r>
                <a:endParaRPr sz="997">
                  <a:solidFill>
                    <a:srgbClr val="8EC3C1"/>
                  </a:solidFill>
                  <a:latin typeface="Calibri"/>
                  <a:ea typeface="Calibri"/>
                  <a:cs typeface="Calibri"/>
                  <a:sym typeface="Calibri"/>
                </a:endParaRPr>
              </a:p>
            </p:txBody>
          </p:sp>
        </p:grpSp>
        <p:pic>
          <p:nvPicPr>
            <p:cNvPr id="211" name="Google Shape;211;p24"/>
            <p:cNvPicPr preferRelativeResize="0"/>
            <p:nvPr/>
          </p:nvPicPr>
          <p:blipFill rotWithShape="1">
            <a:blip r:embed="rId4">
              <a:alphaModFix/>
            </a:blip>
            <a:srcRect b="0" l="0" r="0" t="0"/>
            <a:stretch/>
          </p:blipFill>
          <p:spPr>
            <a:xfrm>
              <a:off x="1952625" y="514350"/>
              <a:ext cx="76200" cy="19200"/>
            </a:xfrm>
            <a:prstGeom prst="rect">
              <a:avLst/>
            </a:prstGeom>
            <a:noFill/>
            <a:ln>
              <a:noFill/>
            </a:ln>
          </p:spPr>
        </p:pic>
        <p:sp>
          <p:nvSpPr>
            <p:cNvPr id="212" name="Google Shape;212;p24"/>
            <p:cNvSpPr/>
            <p:nvPr/>
          </p:nvSpPr>
          <p:spPr>
            <a:xfrm>
              <a:off x="2028825" y="485775"/>
              <a:ext cx="57300" cy="76200"/>
            </a:xfrm>
            <a:custGeom>
              <a:rect b="b" l="l" r="r" t="t"/>
              <a:pathLst>
                <a:path extrusionOk="0" h="120000" w="120000">
                  <a:moveTo>
                    <a:pt x="0" y="0"/>
                  </a:moveTo>
                  <a:lnTo>
                    <a:pt x="120000" y="60000"/>
                  </a:lnTo>
                  <a:lnTo>
                    <a:pt x="0" y="120000"/>
                  </a:lnTo>
                  <a:close/>
                </a:path>
              </a:pathLst>
            </a:custGeom>
            <a:solidFill>
              <a:srgbClr val="00A89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13" name="Google Shape;213;p24"/>
            <p:cNvGrpSpPr/>
            <p:nvPr/>
          </p:nvGrpSpPr>
          <p:grpSpPr>
            <a:xfrm>
              <a:off x="2133600" y="228600"/>
              <a:ext cx="1886100" cy="590700"/>
              <a:chOff x="0" y="0"/>
              <a:chExt cx="1886100" cy="590700"/>
            </a:xfrm>
          </p:grpSpPr>
          <p:sp>
            <p:nvSpPr>
              <p:cNvPr id="214" name="Google Shape;214;p24"/>
              <p:cNvSpPr/>
              <p:nvPr/>
            </p:nvSpPr>
            <p:spPr>
              <a:xfrm>
                <a:off x="0" y="0"/>
                <a:ext cx="1886100" cy="590700"/>
              </a:xfrm>
              <a:prstGeom prst="roundRect">
                <a:avLst>
                  <a:gd fmla="val 12903" name="adj"/>
                </a:avLst>
              </a:prstGeom>
              <a:solidFill>
                <a:srgbClr val="0E3D41"/>
              </a:solidFill>
              <a:ln cap="flat" cmpd="sng" w="11175">
                <a:solidFill>
                  <a:srgbClr val="00A89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642"/>
              </a:p>
            </p:txBody>
          </p:sp>
          <p:sp>
            <p:nvSpPr>
              <p:cNvPr id="215" name="Google Shape;215;p24"/>
              <p:cNvSpPr txBox="1"/>
              <p:nvPr/>
            </p:nvSpPr>
            <p:spPr>
              <a:xfrm>
                <a:off x="114300" y="0"/>
                <a:ext cx="1657500" cy="590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73">
                    <a:solidFill>
                      <a:srgbClr val="FFFFFF"/>
                    </a:solidFill>
                    <a:latin typeface="Calibri"/>
                    <a:ea typeface="Calibri"/>
                    <a:cs typeface="Calibri"/>
                    <a:sym typeface="Calibri"/>
                  </a:rPr>
                  <a:t>Cortex Agent</a:t>
                </a:r>
                <a:endParaRPr b="1" sz="1173">
                  <a:solidFill>
                    <a:srgbClr val="FFFFFF"/>
                  </a:solidFill>
                  <a:latin typeface="Calibri"/>
                  <a:ea typeface="Calibri"/>
                  <a:cs typeface="Calibri"/>
                  <a:sym typeface="Calibri"/>
                </a:endParaRPr>
              </a:p>
              <a:p>
                <a:pPr indent="0" lvl="0" marL="0" rtl="0" algn="ctr">
                  <a:spcBef>
                    <a:spcPts val="176"/>
                  </a:spcBef>
                  <a:spcAft>
                    <a:spcPts val="0"/>
                  </a:spcAft>
                  <a:buNone/>
                </a:pPr>
                <a:r>
                  <a:rPr lang="en" sz="997">
                    <a:solidFill>
                      <a:srgbClr val="8EC3C1"/>
                    </a:solidFill>
                    <a:latin typeface="Calibri"/>
                    <a:ea typeface="Calibri"/>
                    <a:cs typeface="Calibri"/>
                    <a:sym typeface="Calibri"/>
                  </a:rPr>
                  <a:t>Routes the Request</a:t>
                </a:r>
                <a:endParaRPr sz="997">
                  <a:solidFill>
                    <a:srgbClr val="8EC3C1"/>
                  </a:solidFill>
                  <a:latin typeface="Calibri"/>
                  <a:ea typeface="Calibri"/>
                  <a:cs typeface="Calibri"/>
                  <a:sym typeface="Calibri"/>
                </a:endParaRPr>
              </a:p>
            </p:txBody>
          </p:sp>
        </p:grpSp>
        <p:sp>
          <p:nvSpPr>
            <p:cNvPr id="216" name="Google Shape;216;p24"/>
            <p:cNvSpPr/>
            <p:nvPr/>
          </p:nvSpPr>
          <p:spPr>
            <a:xfrm>
              <a:off x="4086225" y="523875"/>
              <a:ext cx="76200" cy="0"/>
            </a:xfrm>
            <a:custGeom>
              <a:rect b="b" l="l" r="r" t="t"/>
              <a:pathLst>
                <a:path extrusionOk="0" h="120000" w="120000">
                  <a:moveTo>
                    <a:pt x="0" y="0"/>
                  </a:moveTo>
                  <a:lnTo>
                    <a:pt x="120000" y="0"/>
                  </a:lnTo>
                </a:path>
              </a:pathLst>
            </a:custGeom>
            <a:solidFill>
              <a:srgbClr val="000000">
                <a:alpha val="0"/>
              </a:srgbClr>
            </a:solidFill>
            <a:ln cap="flat" cmpd="sng" w="22325">
              <a:solidFill>
                <a:srgbClr val="00A89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7" name="Google Shape;217;p24"/>
            <p:cNvSpPr/>
            <p:nvPr/>
          </p:nvSpPr>
          <p:spPr>
            <a:xfrm>
              <a:off x="4162425" y="485775"/>
              <a:ext cx="57300" cy="76200"/>
            </a:xfrm>
            <a:custGeom>
              <a:rect b="b" l="l" r="r" t="t"/>
              <a:pathLst>
                <a:path extrusionOk="0" h="120000" w="120000">
                  <a:moveTo>
                    <a:pt x="0" y="0"/>
                  </a:moveTo>
                  <a:lnTo>
                    <a:pt x="120000" y="60000"/>
                  </a:lnTo>
                  <a:lnTo>
                    <a:pt x="0" y="120000"/>
                  </a:lnTo>
                  <a:close/>
                </a:path>
              </a:pathLst>
            </a:custGeom>
            <a:solidFill>
              <a:srgbClr val="00A89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18" name="Google Shape;218;p24"/>
            <p:cNvGrpSpPr/>
            <p:nvPr/>
          </p:nvGrpSpPr>
          <p:grpSpPr>
            <a:xfrm>
              <a:off x="4267200" y="228600"/>
              <a:ext cx="1886100" cy="590700"/>
              <a:chOff x="0" y="0"/>
              <a:chExt cx="1886100" cy="590700"/>
            </a:xfrm>
          </p:grpSpPr>
          <p:sp>
            <p:nvSpPr>
              <p:cNvPr id="219" name="Google Shape;219;p24"/>
              <p:cNvSpPr/>
              <p:nvPr/>
            </p:nvSpPr>
            <p:spPr>
              <a:xfrm>
                <a:off x="0" y="0"/>
                <a:ext cx="1886100" cy="590700"/>
              </a:xfrm>
              <a:prstGeom prst="roundRect">
                <a:avLst>
                  <a:gd fmla="val 12903" name="adj"/>
                </a:avLst>
              </a:prstGeom>
              <a:solidFill>
                <a:srgbClr val="0E3D41"/>
              </a:solidFill>
              <a:ln cap="flat" cmpd="sng" w="11175">
                <a:solidFill>
                  <a:srgbClr val="00A89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642"/>
              </a:p>
            </p:txBody>
          </p:sp>
          <p:sp>
            <p:nvSpPr>
              <p:cNvPr id="220" name="Google Shape;220;p24"/>
              <p:cNvSpPr txBox="1"/>
              <p:nvPr/>
            </p:nvSpPr>
            <p:spPr>
              <a:xfrm>
                <a:off x="114300" y="0"/>
                <a:ext cx="1657500" cy="590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73">
                    <a:solidFill>
                      <a:srgbClr val="FFFFFF"/>
                    </a:solidFill>
                    <a:latin typeface="Calibri"/>
                    <a:ea typeface="Calibri"/>
                    <a:cs typeface="Calibri"/>
                    <a:sym typeface="Calibri"/>
                  </a:rPr>
                  <a:t>Specialist Responds</a:t>
                </a:r>
                <a:endParaRPr b="1" sz="1173">
                  <a:solidFill>
                    <a:srgbClr val="FFFFFF"/>
                  </a:solidFill>
                  <a:latin typeface="Calibri"/>
                  <a:ea typeface="Calibri"/>
                  <a:cs typeface="Calibri"/>
                  <a:sym typeface="Calibri"/>
                </a:endParaRPr>
              </a:p>
              <a:p>
                <a:pPr indent="0" lvl="0" marL="0" rtl="0" algn="ctr">
                  <a:spcBef>
                    <a:spcPts val="176"/>
                  </a:spcBef>
                  <a:spcAft>
                    <a:spcPts val="0"/>
                  </a:spcAft>
                  <a:buNone/>
                </a:pPr>
                <a:r>
                  <a:rPr lang="en" sz="997">
                    <a:solidFill>
                      <a:srgbClr val="8EC3C1"/>
                    </a:solidFill>
                    <a:latin typeface="Calibri"/>
                    <a:ea typeface="Calibri"/>
                    <a:cs typeface="Calibri"/>
                    <a:sym typeface="Calibri"/>
                  </a:rPr>
                  <a:t>with Grounded Answer</a:t>
                </a:r>
                <a:endParaRPr sz="997">
                  <a:solidFill>
                    <a:srgbClr val="8EC3C1"/>
                  </a:solidFill>
                  <a:latin typeface="Calibri"/>
                  <a:ea typeface="Calibri"/>
                  <a:cs typeface="Calibri"/>
                  <a:sym typeface="Calibri"/>
                </a:endParaRPr>
              </a:p>
            </p:txBody>
          </p:sp>
        </p:grpSp>
        <p:sp>
          <p:nvSpPr>
            <p:cNvPr id="221" name="Google Shape;221;p24"/>
            <p:cNvSpPr/>
            <p:nvPr/>
          </p:nvSpPr>
          <p:spPr>
            <a:xfrm>
              <a:off x="6219825" y="523875"/>
              <a:ext cx="76200" cy="0"/>
            </a:xfrm>
            <a:custGeom>
              <a:rect b="b" l="l" r="r" t="t"/>
              <a:pathLst>
                <a:path extrusionOk="0" h="120000" w="120000">
                  <a:moveTo>
                    <a:pt x="0" y="0"/>
                  </a:moveTo>
                  <a:lnTo>
                    <a:pt x="120000" y="0"/>
                  </a:lnTo>
                </a:path>
              </a:pathLst>
            </a:custGeom>
            <a:solidFill>
              <a:srgbClr val="000000">
                <a:alpha val="0"/>
              </a:srgbClr>
            </a:solidFill>
            <a:ln cap="flat" cmpd="sng" w="22325">
              <a:solidFill>
                <a:srgbClr val="00A89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2" name="Google Shape;222;p24"/>
            <p:cNvSpPr/>
            <p:nvPr/>
          </p:nvSpPr>
          <p:spPr>
            <a:xfrm>
              <a:off x="6296025" y="485775"/>
              <a:ext cx="57300" cy="76200"/>
            </a:xfrm>
            <a:custGeom>
              <a:rect b="b" l="l" r="r" t="t"/>
              <a:pathLst>
                <a:path extrusionOk="0" h="120000" w="120000">
                  <a:moveTo>
                    <a:pt x="0" y="0"/>
                  </a:moveTo>
                  <a:lnTo>
                    <a:pt x="120000" y="60000"/>
                  </a:lnTo>
                  <a:lnTo>
                    <a:pt x="0" y="120000"/>
                  </a:lnTo>
                  <a:close/>
                </a:path>
              </a:pathLst>
            </a:custGeom>
            <a:solidFill>
              <a:srgbClr val="00A89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23" name="Google Shape;223;p24"/>
            <p:cNvGrpSpPr/>
            <p:nvPr/>
          </p:nvGrpSpPr>
          <p:grpSpPr>
            <a:xfrm>
              <a:off x="6400800" y="228600"/>
              <a:ext cx="1886100" cy="590700"/>
              <a:chOff x="0" y="0"/>
              <a:chExt cx="1886100" cy="590700"/>
            </a:xfrm>
          </p:grpSpPr>
          <p:sp>
            <p:nvSpPr>
              <p:cNvPr id="224" name="Google Shape;224;p24"/>
              <p:cNvSpPr/>
              <p:nvPr/>
            </p:nvSpPr>
            <p:spPr>
              <a:xfrm>
                <a:off x="0" y="0"/>
                <a:ext cx="1886100" cy="590700"/>
              </a:xfrm>
              <a:prstGeom prst="roundRect">
                <a:avLst>
                  <a:gd fmla="val 12903" name="adj"/>
                </a:avLst>
              </a:prstGeom>
              <a:solidFill>
                <a:srgbClr val="0E3D41"/>
              </a:solidFill>
              <a:ln cap="flat" cmpd="sng" w="11175">
                <a:solidFill>
                  <a:srgbClr val="00A89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p24"/>
              <p:cNvSpPr txBox="1"/>
              <p:nvPr/>
            </p:nvSpPr>
            <p:spPr>
              <a:xfrm>
                <a:off x="114300" y="0"/>
                <a:ext cx="1657500" cy="590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73">
                    <a:solidFill>
                      <a:srgbClr val="FFFFFF"/>
                    </a:solidFill>
                    <a:latin typeface="Calibri"/>
                    <a:ea typeface="Calibri"/>
                    <a:cs typeface="Calibri"/>
                    <a:sym typeface="Calibri"/>
                  </a:rPr>
                  <a:t>Adjuster / Analyst</a:t>
                </a:r>
                <a:endParaRPr b="1" sz="1173">
                  <a:solidFill>
                    <a:srgbClr val="FFFFFF"/>
                  </a:solidFill>
                  <a:latin typeface="Calibri"/>
                  <a:ea typeface="Calibri"/>
                  <a:cs typeface="Calibri"/>
                  <a:sym typeface="Calibri"/>
                </a:endParaRPr>
              </a:p>
              <a:p>
                <a:pPr indent="0" lvl="0" marL="0" rtl="0" algn="ctr">
                  <a:spcBef>
                    <a:spcPts val="176"/>
                  </a:spcBef>
                  <a:spcAft>
                    <a:spcPts val="0"/>
                  </a:spcAft>
                  <a:buNone/>
                </a:pPr>
                <a:r>
                  <a:rPr lang="en" sz="997">
                    <a:solidFill>
                      <a:srgbClr val="8EC3C1"/>
                    </a:solidFill>
                    <a:latin typeface="Calibri"/>
                    <a:ea typeface="Calibri"/>
                    <a:cs typeface="Calibri"/>
                    <a:sym typeface="Calibri"/>
                  </a:rPr>
                  <a:t>Takes Action</a:t>
                </a:r>
                <a:endParaRPr sz="997">
                  <a:solidFill>
                    <a:srgbClr val="8EC3C1"/>
                  </a:solidFill>
                  <a:latin typeface="Calibri"/>
                  <a:ea typeface="Calibri"/>
                  <a:cs typeface="Calibri"/>
                  <a:sym typeface="Calibri"/>
                </a:endParaRPr>
              </a:p>
            </p:txBody>
          </p:sp>
        </p:grpSp>
      </p:grpSp>
      <p:pic>
        <p:nvPicPr>
          <p:cNvPr id="226" name="Google Shape;226;p24" title="STREAMLIT_MEDIA_FILE_E7251326BB6F491788A5E45AD5FFB55C.png"/>
          <p:cNvPicPr preferRelativeResize="0"/>
          <p:nvPr/>
        </p:nvPicPr>
        <p:blipFill rotWithShape="1">
          <a:blip r:embed="rId5">
            <a:alphaModFix/>
          </a:blip>
          <a:srcRect b="12381" l="3078" r="70812" t="0"/>
          <a:stretch/>
        </p:blipFill>
        <p:spPr>
          <a:xfrm>
            <a:off x="8386232" y="38775"/>
            <a:ext cx="638443" cy="704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0" name="Shape 230"/>
        <p:cNvGrpSpPr/>
        <p:nvPr/>
      </p:nvGrpSpPr>
      <p:grpSpPr>
        <a:xfrm>
          <a:off x="0" y="0"/>
          <a:ext cx="0" cy="0"/>
          <a:chOff x="0" y="0"/>
          <a:chExt cx="0" cy="0"/>
        </a:xfrm>
      </p:grpSpPr>
      <p:sp>
        <p:nvSpPr>
          <p:cNvPr id="231" name="Google Shape;231;p25"/>
          <p:cNvSpPr txBox="1"/>
          <p:nvPr/>
        </p:nvSpPr>
        <p:spPr>
          <a:xfrm>
            <a:off x="342900" y="4838700"/>
            <a:ext cx="8458200" cy="1230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 sz="800">
                <a:solidFill>
                  <a:srgbClr val="5B6B6B"/>
                </a:solidFill>
                <a:latin typeface="Calibri"/>
                <a:ea typeface="Calibri"/>
                <a:cs typeface="Calibri"/>
                <a:sym typeface="Calibri"/>
              </a:rPr>
              <a:t>Claims Fraud Triage Copilo  |  Snowflake Cortex</a:t>
            </a:r>
            <a:endParaRPr b="0" sz="800">
              <a:solidFill>
                <a:srgbClr val="5B6B6B"/>
              </a:solidFill>
              <a:latin typeface="Calibri"/>
              <a:ea typeface="Calibri"/>
              <a:cs typeface="Calibri"/>
              <a:sym typeface="Calibri"/>
            </a:endParaRPr>
          </a:p>
        </p:txBody>
      </p:sp>
      <p:sp>
        <p:nvSpPr>
          <p:cNvPr id="232" name="Google Shape;232;p25"/>
          <p:cNvSpPr txBox="1"/>
          <p:nvPr/>
        </p:nvSpPr>
        <p:spPr>
          <a:xfrm>
            <a:off x="361950" y="190500"/>
            <a:ext cx="7620000" cy="354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 sz="2300">
                <a:solidFill>
                  <a:srgbClr val="02C39A"/>
                </a:solidFill>
                <a:latin typeface="Cambria"/>
                <a:ea typeface="Cambria"/>
                <a:cs typeface="Cambria"/>
                <a:sym typeface="Cambria"/>
              </a:rPr>
              <a:t>WHO IS THIS FOR?</a:t>
            </a:r>
            <a:endParaRPr b="1" sz="2300">
              <a:solidFill>
                <a:srgbClr val="02C39A"/>
              </a:solidFill>
              <a:latin typeface="Cambria"/>
              <a:ea typeface="Cambria"/>
              <a:cs typeface="Cambria"/>
              <a:sym typeface="Cambria"/>
            </a:endParaRPr>
          </a:p>
        </p:txBody>
      </p:sp>
      <p:pic>
        <p:nvPicPr>
          <p:cNvPr id="233" name="Google Shape;233;p25" title="STREAMLIT_MEDIA_FILE_E7251326BB6F491788A5E45AD5FFB55C.png"/>
          <p:cNvPicPr preferRelativeResize="0"/>
          <p:nvPr/>
        </p:nvPicPr>
        <p:blipFill rotWithShape="1">
          <a:blip r:embed="rId4">
            <a:alphaModFix/>
          </a:blip>
          <a:srcRect b="12381" l="3078" r="70812" t="0"/>
          <a:stretch/>
        </p:blipFill>
        <p:spPr>
          <a:xfrm>
            <a:off x="8386232" y="47705"/>
            <a:ext cx="638443" cy="704175"/>
          </a:xfrm>
          <a:prstGeom prst="rect">
            <a:avLst/>
          </a:prstGeom>
          <a:noFill/>
          <a:ln>
            <a:noFill/>
          </a:ln>
        </p:spPr>
      </p:pic>
      <p:pic>
        <p:nvPicPr>
          <p:cNvPr id="234" name="Google Shape;234;p25"/>
          <p:cNvPicPr preferRelativeResize="0"/>
          <p:nvPr/>
        </p:nvPicPr>
        <p:blipFill rotWithShape="1">
          <a:blip r:embed="rId5">
            <a:alphaModFix/>
          </a:blip>
          <a:srcRect b="1325" l="1132" r="1298" t="1218"/>
          <a:stretch/>
        </p:blipFill>
        <p:spPr>
          <a:xfrm>
            <a:off x="479750" y="641150"/>
            <a:ext cx="7906474" cy="45023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8" name="Shape 238"/>
        <p:cNvGrpSpPr/>
        <p:nvPr/>
      </p:nvGrpSpPr>
      <p:grpSpPr>
        <a:xfrm>
          <a:off x="0" y="0"/>
          <a:ext cx="0" cy="0"/>
          <a:chOff x="0" y="0"/>
          <a:chExt cx="0" cy="0"/>
        </a:xfrm>
      </p:grpSpPr>
      <p:sp>
        <p:nvSpPr>
          <p:cNvPr id="239" name="Google Shape;239;p26"/>
          <p:cNvSpPr txBox="1"/>
          <p:nvPr/>
        </p:nvSpPr>
        <p:spPr>
          <a:xfrm>
            <a:off x="342900" y="4838700"/>
            <a:ext cx="8458200" cy="1230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 sz="800">
                <a:solidFill>
                  <a:srgbClr val="5B6B6B"/>
                </a:solidFill>
                <a:latin typeface="Calibri"/>
                <a:ea typeface="Calibri"/>
                <a:cs typeface="Calibri"/>
                <a:sym typeface="Calibri"/>
              </a:rPr>
              <a:t>Claims Fraud Triage Copilo  |  Snowflake Cortex</a:t>
            </a:r>
            <a:endParaRPr b="0" sz="800">
              <a:solidFill>
                <a:srgbClr val="5B6B6B"/>
              </a:solidFill>
              <a:latin typeface="Calibri"/>
              <a:ea typeface="Calibri"/>
              <a:cs typeface="Calibri"/>
              <a:sym typeface="Calibri"/>
            </a:endParaRPr>
          </a:p>
        </p:txBody>
      </p:sp>
      <p:sp>
        <p:nvSpPr>
          <p:cNvPr id="240" name="Google Shape;240;p26"/>
          <p:cNvSpPr txBox="1"/>
          <p:nvPr/>
        </p:nvSpPr>
        <p:spPr>
          <a:xfrm>
            <a:off x="361950" y="190500"/>
            <a:ext cx="7620000" cy="354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 sz="2300">
                <a:solidFill>
                  <a:srgbClr val="02C39A"/>
                </a:solidFill>
                <a:latin typeface="Cambria"/>
                <a:ea typeface="Cambria"/>
                <a:cs typeface="Cambria"/>
                <a:sym typeface="Cambria"/>
              </a:rPr>
              <a:t>Architecture – End-to-End Data Flow</a:t>
            </a:r>
            <a:endParaRPr b="1" sz="2300">
              <a:solidFill>
                <a:srgbClr val="02C39A"/>
              </a:solidFill>
              <a:latin typeface="Cambria"/>
              <a:ea typeface="Cambria"/>
              <a:cs typeface="Cambria"/>
              <a:sym typeface="Cambria"/>
            </a:endParaRPr>
          </a:p>
        </p:txBody>
      </p:sp>
      <p:pic>
        <p:nvPicPr>
          <p:cNvPr id="241" name="Google Shape;241;p26" title="STREAMLIT_MEDIA_FILE_E7251326BB6F491788A5E45AD5FFB55C.png"/>
          <p:cNvPicPr preferRelativeResize="0"/>
          <p:nvPr/>
        </p:nvPicPr>
        <p:blipFill rotWithShape="1">
          <a:blip r:embed="rId4">
            <a:alphaModFix/>
          </a:blip>
          <a:srcRect b="12381" l="3078" r="70812" t="0"/>
          <a:stretch/>
        </p:blipFill>
        <p:spPr>
          <a:xfrm>
            <a:off x="8386232" y="47705"/>
            <a:ext cx="638443" cy="704175"/>
          </a:xfrm>
          <a:prstGeom prst="rect">
            <a:avLst/>
          </a:prstGeom>
          <a:noFill/>
          <a:ln>
            <a:noFill/>
          </a:ln>
        </p:spPr>
      </p:pic>
      <p:sp>
        <p:nvSpPr>
          <p:cNvPr id="242" name="Google Shape;242;p26"/>
          <p:cNvSpPr/>
          <p:nvPr/>
        </p:nvSpPr>
        <p:spPr>
          <a:xfrm>
            <a:off x="2958703" y="904875"/>
            <a:ext cx="3619500" cy="438300"/>
          </a:xfrm>
          <a:prstGeom prst="roundRect">
            <a:avLst>
              <a:gd fmla="val 17391" name="adj"/>
            </a:avLst>
          </a:prstGeom>
          <a:solidFill>
            <a:srgbClr val="0284C7"/>
          </a:solidFill>
          <a:ln cap="flat" cmpd="sng" w="14300">
            <a:solidFill>
              <a:srgbClr val="38BDF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rtl="0" algn="ctr">
              <a:spcBef>
                <a:spcPts val="0"/>
              </a:spcBef>
              <a:spcAft>
                <a:spcPts val="0"/>
              </a:spcAft>
              <a:buNone/>
            </a:pPr>
            <a:r>
              <a:rPr b="1" i="0" lang="en" sz="1200">
                <a:solidFill>
                  <a:srgbClr val="FFFFFF"/>
                </a:solidFill>
                <a:latin typeface="Calibri"/>
                <a:ea typeface="Calibri"/>
                <a:cs typeface="Calibri"/>
                <a:sym typeface="Calibri"/>
              </a:rPr>
              <a:t>Streamlit-</a:t>
            </a:r>
            <a:r>
              <a:rPr b="1" i="0" lang="en" sz="1200">
                <a:solidFill>
                  <a:srgbClr val="FFFFFF"/>
                </a:solidFill>
                <a:latin typeface="Calibri"/>
                <a:ea typeface="Calibri"/>
                <a:cs typeface="Calibri"/>
                <a:sym typeface="Calibri"/>
              </a:rPr>
              <a:t>in-Snowflake </a:t>
            </a:r>
            <a:r>
              <a:rPr b="0" i="0" lang="en" sz="1000">
                <a:solidFill>
                  <a:srgbClr val="E0F2FE"/>
                </a:solidFill>
                <a:latin typeface="Calibri"/>
                <a:ea typeface="Calibri"/>
                <a:cs typeface="Calibri"/>
                <a:sym typeface="Calibri"/>
              </a:rPr>
              <a:t>(User Interface)</a:t>
            </a:r>
            <a:endParaRPr b="1" i="0" sz="1200">
              <a:solidFill>
                <a:srgbClr val="FFFFFF"/>
              </a:solidFill>
              <a:latin typeface="Calibri"/>
              <a:ea typeface="Calibri"/>
              <a:cs typeface="Calibri"/>
              <a:sym typeface="Calibri"/>
            </a:endParaRPr>
          </a:p>
        </p:txBody>
      </p:sp>
      <p:sp>
        <p:nvSpPr>
          <p:cNvPr id="243" name="Google Shape;243;p26"/>
          <p:cNvSpPr/>
          <p:nvPr/>
        </p:nvSpPr>
        <p:spPr>
          <a:xfrm>
            <a:off x="2958703" y="1714500"/>
            <a:ext cx="3619500" cy="438300"/>
          </a:xfrm>
          <a:prstGeom prst="roundRect">
            <a:avLst>
              <a:gd fmla="val 17391" name="adj"/>
            </a:avLst>
          </a:prstGeom>
          <a:solidFill>
            <a:srgbClr val="4F46E5"/>
          </a:solidFill>
          <a:ln cap="flat" cmpd="sng" w="14300">
            <a:solidFill>
              <a:srgbClr val="818CF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rtl="0" algn="ctr">
              <a:spcBef>
                <a:spcPts val="0"/>
              </a:spcBef>
              <a:spcAft>
                <a:spcPts val="0"/>
              </a:spcAft>
              <a:buNone/>
            </a:pPr>
            <a:r>
              <a:rPr b="1" i="0" lang="en" sz="1200">
                <a:solidFill>
                  <a:srgbClr val="FFFFFF"/>
                </a:solidFill>
                <a:latin typeface="Calibri"/>
                <a:ea typeface="Calibri"/>
                <a:cs typeface="Calibri"/>
                <a:sym typeface="Calibri"/>
              </a:rPr>
              <a:t>Cortex Agent </a:t>
            </a:r>
            <a:r>
              <a:rPr b="0" i="0" lang="en" sz="1000">
                <a:solidFill>
                  <a:srgbClr val="E0E7FF"/>
                </a:solidFill>
                <a:latin typeface="Calibri"/>
                <a:ea typeface="Calibri"/>
                <a:cs typeface="Calibri"/>
                <a:sym typeface="Calibri"/>
              </a:rPr>
              <a:t>(Orchestration &amp; Reasoning)</a:t>
            </a:r>
            <a:endParaRPr b="1" i="0" sz="1200">
              <a:solidFill>
                <a:srgbClr val="FFFFFF"/>
              </a:solidFill>
              <a:latin typeface="Calibri"/>
              <a:ea typeface="Calibri"/>
              <a:cs typeface="Calibri"/>
              <a:sym typeface="Calibri"/>
            </a:endParaRPr>
          </a:p>
        </p:txBody>
      </p:sp>
      <p:sp>
        <p:nvSpPr>
          <p:cNvPr id="244" name="Google Shape;244;p26"/>
          <p:cNvSpPr/>
          <p:nvPr/>
        </p:nvSpPr>
        <p:spPr>
          <a:xfrm>
            <a:off x="1910953" y="2700850"/>
            <a:ext cx="2667000" cy="552600"/>
          </a:xfrm>
          <a:prstGeom prst="roundRect">
            <a:avLst>
              <a:gd fmla="val 17241" name="adj"/>
            </a:avLst>
          </a:prstGeom>
          <a:solidFill>
            <a:srgbClr val="0C2A3A"/>
          </a:solidFill>
          <a:ln cap="flat" cmpd="sng" w="14300">
            <a:solidFill>
              <a:srgbClr val="38BDF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rtl="0" algn="ctr">
              <a:spcBef>
                <a:spcPts val="0"/>
              </a:spcBef>
              <a:spcAft>
                <a:spcPts val="0"/>
              </a:spcAft>
              <a:buNone/>
            </a:pPr>
            <a:r>
              <a:rPr b="1" i="0" lang="en" sz="1050">
                <a:solidFill>
                  <a:srgbClr val="38BDF8"/>
                </a:solidFill>
                <a:latin typeface="Calibri"/>
                <a:ea typeface="Calibri"/>
                <a:cs typeface="Calibri"/>
                <a:sym typeface="Calibri"/>
              </a:rPr>
              <a:t>Cortex Analyst (Insurance Analyst)</a:t>
            </a:r>
            <a:endParaRPr b="1" i="0" sz="1050">
              <a:solidFill>
                <a:srgbClr val="38BDF8"/>
              </a:solidFill>
              <a:latin typeface="Calibri"/>
              <a:ea typeface="Calibri"/>
              <a:cs typeface="Calibri"/>
              <a:sym typeface="Calibri"/>
            </a:endParaRPr>
          </a:p>
          <a:p>
            <a:pPr indent="0" lvl="0" marL="0" rtl="0" algn="ctr">
              <a:spcBef>
                <a:spcPts val="200"/>
              </a:spcBef>
              <a:spcAft>
                <a:spcPts val="0"/>
              </a:spcAft>
              <a:buNone/>
            </a:pPr>
            <a:r>
              <a:rPr b="0" i="0" lang="en" sz="800">
                <a:solidFill>
                  <a:srgbClr val="94A3B8"/>
                </a:solidFill>
                <a:latin typeface="Calibri"/>
                <a:ea typeface="Calibri"/>
                <a:cs typeface="Calibri"/>
                <a:sym typeface="Calibri"/>
              </a:rPr>
              <a:t>SQL via Semantic View  →  Structured Facts</a:t>
            </a:r>
            <a:endParaRPr b="1" i="0" sz="800">
              <a:solidFill>
                <a:srgbClr val="38BDF8"/>
              </a:solidFill>
              <a:latin typeface="Calibri"/>
              <a:ea typeface="Calibri"/>
              <a:cs typeface="Calibri"/>
              <a:sym typeface="Calibri"/>
            </a:endParaRPr>
          </a:p>
        </p:txBody>
      </p:sp>
      <p:sp>
        <p:nvSpPr>
          <p:cNvPr id="245" name="Google Shape;245;p26"/>
          <p:cNvSpPr/>
          <p:nvPr/>
        </p:nvSpPr>
        <p:spPr>
          <a:xfrm>
            <a:off x="5060153" y="2700850"/>
            <a:ext cx="2667000" cy="552600"/>
          </a:xfrm>
          <a:prstGeom prst="roundRect">
            <a:avLst>
              <a:gd fmla="val 17241" name="adj"/>
            </a:avLst>
          </a:prstGeom>
          <a:solidFill>
            <a:srgbClr val="06372B"/>
          </a:solidFill>
          <a:ln cap="flat" cmpd="sng" w="14300">
            <a:solidFill>
              <a:srgbClr val="34D39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rtl="0" algn="ctr">
              <a:spcBef>
                <a:spcPts val="0"/>
              </a:spcBef>
              <a:spcAft>
                <a:spcPts val="0"/>
              </a:spcAft>
              <a:buNone/>
            </a:pPr>
            <a:r>
              <a:rPr b="1" i="0" lang="en" sz="1050">
                <a:solidFill>
                  <a:srgbClr val="34D399"/>
                </a:solidFill>
                <a:latin typeface="Calibri"/>
                <a:ea typeface="Calibri"/>
                <a:cs typeface="Calibri"/>
                <a:sym typeface="Calibri"/>
              </a:rPr>
              <a:t>Cortex Search (Policy Search)</a:t>
            </a:r>
            <a:endParaRPr b="1" i="0" sz="1050">
              <a:solidFill>
                <a:srgbClr val="34D399"/>
              </a:solidFill>
              <a:latin typeface="Calibri"/>
              <a:ea typeface="Calibri"/>
              <a:cs typeface="Calibri"/>
              <a:sym typeface="Calibri"/>
            </a:endParaRPr>
          </a:p>
          <a:p>
            <a:pPr indent="0" lvl="0" marL="0" rtl="0" algn="ctr">
              <a:spcBef>
                <a:spcPts val="200"/>
              </a:spcBef>
              <a:spcAft>
                <a:spcPts val="0"/>
              </a:spcAft>
              <a:buNone/>
            </a:pPr>
            <a:r>
              <a:rPr b="0" i="0" lang="en" sz="800">
                <a:solidFill>
                  <a:srgbClr val="A7F3D0"/>
                </a:solidFill>
                <a:latin typeface="Calibri"/>
                <a:ea typeface="Calibri"/>
                <a:cs typeface="Calibri"/>
                <a:sym typeface="Calibri"/>
              </a:rPr>
              <a:t>Vector Search  →  Policy Document Clauses</a:t>
            </a:r>
            <a:endParaRPr b="1" i="0" sz="800">
              <a:solidFill>
                <a:srgbClr val="34D399"/>
              </a:solidFill>
              <a:latin typeface="Calibri"/>
              <a:ea typeface="Calibri"/>
              <a:cs typeface="Calibri"/>
              <a:sym typeface="Calibri"/>
            </a:endParaRPr>
          </a:p>
        </p:txBody>
      </p:sp>
      <p:sp>
        <p:nvSpPr>
          <p:cNvPr id="246" name="Google Shape;246;p26"/>
          <p:cNvSpPr/>
          <p:nvPr/>
        </p:nvSpPr>
        <p:spPr>
          <a:xfrm>
            <a:off x="1693303" y="3703175"/>
            <a:ext cx="3102300" cy="685800"/>
          </a:xfrm>
          <a:prstGeom prst="roundRect">
            <a:avLst>
              <a:gd fmla="val 13888" name="adj"/>
            </a:avLst>
          </a:prstGeom>
          <a:solidFill>
            <a:srgbClr val="0C2A3A"/>
          </a:solidFill>
          <a:ln cap="flat" cmpd="sng" w="14300">
            <a:solidFill>
              <a:srgbClr val="0284C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rtl="0" algn="ctr">
              <a:spcBef>
                <a:spcPts val="0"/>
              </a:spcBef>
              <a:spcAft>
                <a:spcPts val="0"/>
              </a:spcAft>
              <a:buNone/>
            </a:pPr>
            <a:r>
              <a:rPr b="1" i="0" lang="en" sz="1000">
                <a:solidFill>
                  <a:srgbClr val="38BDF8"/>
                </a:solidFill>
                <a:latin typeface="Calibri"/>
                <a:ea typeface="Calibri"/>
                <a:cs typeface="Calibri"/>
                <a:sym typeface="Calibri"/>
              </a:rPr>
              <a:t>INSURANCE_AI_HUB.ANALYTICS</a:t>
            </a:r>
            <a:endParaRPr b="1" i="0" sz="1000">
              <a:solidFill>
                <a:srgbClr val="38BDF8"/>
              </a:solidFill>
              <a:latin typeface="Calibri"/>
              <a:ea typeface="Calibri"/>
              <a:cs typeface="Calibri"/>
              <a:sym typeface="Calibri"/>
            </a:endParaRPr>
          </a:p>
          <a:p>
            <a:pPr indent="0" lvl="0" marL="0" rtl="0" algn="ctr">
              <a:spcBef>
                <a:spcPts val="200"/>
              </a:spcBef>
              <a:spcAft>
                <a:spcPts val="0"/>
              </a:spcAft>
              <a:buNone/>
            </a:pPr>
            <a:r>
              <a:rPr b="0" i="0" lang="en" sz="750">
                <a:solidFill>
                  <a:srgbClr val="E2E8F0"/>
                </a:solidFill>
                <a:latin typeface="Calibri"/>
                <a:ea typeface="Calibri"/>
                <a:cs typeface="Calibri"/>
                <a:sym typeface="Calibri"/>
              </a:rPr>
              <a:t>CUSTOMERS  |  POLICIES  |  CLAIMS  |  BILLING  |  AGENTS</a:t>
            </a:r>
            <a:endParaRPr b="1" i="0" sz="750">
              <a:solidFill>
                <a:srgbClr val="38BDF8"/>
              </a:solidFill>
              <a:latin typeface="Calibri"/>
              <a:ea typeface="Calibri"/>
              <a:cs typeface="Calibri"/>
              <a:sym typeface="Calibri"/>
            </a:endParaRPr>
          </a:p>
          <a:p>
            <a:pPr indent="0" lvl="0" marL="0" rtl="0" algn="ctr">
              <a:spcBef>
                <a:spcPts val="200"/>
              </a:spcBef>
              <a:spcAft>
                <a:spcPts val="0"/>
              </a:spcAft>
              <a:buNone/>
            </a:pPr>
            <a:r>
              <a:rPr b="0" i="0" lang="en" sz="750">
                <a:solidFill>
                  <a:srgbClr val="94A3B8"/>
                </a:solidFill>
                <a:latin typeface="Calibri"/>
                <a:ea typeface="Calibri"/>
                <a:cs typeface="Calibri"/>
                <a:sym typeface="Calibri"/>
              </a:rPr>
              <a:t>AT_RISK_POLICIES  |  PRICING  |  MARKET_TRENDS</a:t>
            </a:r>
            <a:endParaRPr b="1" i="0" sz="750">
              <a:solidFill>
                <a:srgbClr val="38BDF8"/>
              </a:solidFill>
              <a:latin typeface="Calibri"/>
              <a:ea typeface="Calibri"/>
              <a:cs typeface="Calibri"/>
              <a:sym typeface="Calibri"/>
            </a:endParaRPr>
          </a:p>
        </p:txBody>
      </p:sp>
      <p:sp>
        <p:nvSpPr>
          <p:cNvPr id="247" name="Google Shape;247;p26"/>
          <p:cNvSpPr/>
          <p:nvPr/>
        </p:nvSpPr>
        <p:spPr>
          <a:xfrm>
            <a:off x="4934153" y="3703175"/>
            <a:ext cx="2919000" cy="685800"/>
          </a:xfrm>
          <a:prstGeom prst="roundRect">
            <a:avLst>
              <a:gd fmla="val 13888" name="adj"/>
            </a:avLst>
          </a:prstGeom>
          <a:solidFill>
            <a:srgbClr val="06372B"/>
          </a:solidFill>
          <a:ln cap="flat" cmpd="sng" w="14300">
            <a:solidFill>
              <a:srgbClr val="05966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rtl="0" algn="ctr">
              <a:spcBef>
                <a:spcPts val="0"/>
              </a:spcBef>
              <a:spcAft>
                <a:spcPts val="0"/>
              </a:spcAft>
              <a:buNone/>
            </a:pPr>
            <a:r>
              <a:rPr b="1" i="0" lang="en" sz="1000">
                <a:solidFill>
                  <a:srgbClr val="34D399"/>
                </a:solidFill>
                <a:latin typeface="Calibri"/>
                <a:ea typeface="Calibri"/>
                <a:cs typeface="Calibri"/>
                <a:sym typeface="Calibri"/>
              </a:rPr>
              <a:t>INSURANCE_AI_HUB.DOCUMENTS</a:t>
            </a:r>
            <a:endParaRPr b="1" i="0" sz="1000">
              <a:solidFill>
                <a:srgbClr val="34D399"/>
              </a:solidFill>
              <a:latin typeface="Calibri"/>
              <a:ea typeface="Calibri"/>
              <a:cs typeface="Calibri"/>
              <a:sym typeface="Calibri"/>
            </a:endParaRPr>
          </a:p>
          <a:p>
            <a:pPr indent="0" lvl="0" marL="0" rtl="0" algn="ctr">
              <a:spcBef>
                <a:spcPts val="200"/>
              </a:spcBef>
              <a:spcAft>
                <a:spcPts val="0"/>
              </a:spcAft>
              <a:buNone/>
            </a:pPr>
            <a:r>
              <a:rPr b="0" i="0" lang="en" sz="750">
                <a:solidFill>
                  <a:srgbClr val="E2E8F0"/>
                </a:solidFill>
                <a:latin typeface="Calibri"/>
                <a:ea typeface="Calibri"/>
                <a:cs typeface="Calibri"/>
                <a:sym typeface="Calibri"/>
              </a:rPr>
              <a:t>POLICY_DOCUMENTS  |  DOCUMENT_CHUNKS</a:t>
            </a:r>
            <a:endParaRPr b="1" i="0" sz="750">
              <a:solidFill>
                <a:srgbClr val="34D399"/>
              </a:solidFill>
              <a:latin typeface="Calibri"/>
              <a:ea typeface="Calibri"/>
              <a:cs typeface="Calibri"/>
              <a:sym typeface="Calibri"/>
            </a:endParaRPr>
          </a:p>
          <a:p>
            <a:pPr indent="0" lvl="0" marL="0" rtl="0" algn="ctr">
              <a:spcBef>
                <a:spcPts val="200"/>
              </a:spcBef>
              <a:spcAft>
                <a:spcPts val="0"/>
              </a:spcAft>
              <a:buNone/>
            </a:pPr>
            <a:r>
              <a:rPr b="0" i="0" lang="en" sz="750">
                <a:solidFill>
                  <a:srgbClr val="A7F3D0"/>
                </a:solidFill>
                <a:latin typeface="Calibri"/>
                <a:ea typeface="Calibri"/>
                <a:cs typeface="Calibri"/>
                <a:sym typeface="Calibri"/>
              </a:rPr>
              <a:t>(Embeddings for vector search)</a:t>
            </a:r>
            <a:endParaRPr b="1" i="0" sz="750">
              <a:solidFill>
                <a:srgbClr val="34D399"/>
              </a:solidFill>
              <a:latin typeface="Calibri"/>
              <a:ea typeface="Calibri"/>
              <a:cs typeface="Calibri"/>
              <a:sym typeface="Calibri"/>
            </a:endParaRPr>
          </a:p>
        </p:txBody>
      </p:sp>
      <p:sp>
        <p:nvSpPr>
          <p:cNvPr id="248" name="Google Shape;248;p26"/>
          <p:cNvSpPr/>
          <p:nvPr/>
        </p:nvSpPr>
        <p:spPr>
          <a:xfrm>
            <a:off x="558403" y="1343175"/>
            <a:ext cx="1913100" cy="809700"/>
          </a:xfrm>
          <a:prstGeom prst="roundRect">
            <a:avLst>
              <a:gd fmla="val 10869" name="adj"/>
            </a:avLst>
          </a:prstGeom>
          <a:solidFill>
            <a:srgbClr val="1E293B"/>
          </a:solidFill>
          <a:ln cap="flat" cmpd="sng" w="14300">
            <a:solidFill>
              <a:srgbClr val="F59E0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rtl="0" algn="ctr">
              <a:spcBef>
                <a:spcPts val="0"/>
              </a:spcBef>
              <a:spcAft>
                <a:spcPts val="0"/>
              </a:spcAft>
              <a:buNone/>
            </a:pPr>
            <a:r>
              <a:rPr b="1" i="0" lang="en" sz="950">
                <a:solidFill>
                  <a:srgbClr val="FBBF24"/>
                </a:solidFill>
                <a:latin typeface="Calibri"/>
                <a:ea typeface="Calibri"/>
                <a:cs typeface="Calibri"/>
                <a:sym typeface="Calibri"/>
              </a:rPr>
              <a:t>DATA_QUALITY Schema</a:t>
            </a:r>
            <a:endParaRPr b="1" i="0" sz="950">
              <a:solidFill>
                <a:srgbClr val="FBBF24"/>
              </a:solidFill>
              <a:latin typeface="Calibri"/>
              <a:ea typeface="Calibri"/>
              <a:cs typeface="Calibri"/>
              <a:sym typeface="Calibri"/>
            </a:endParaRPr>
          </a:p>
          <a:p>
            <a:pPr indent="0" lvl="0" marL="0" rtl="0" algn="ctr">
              <a:spcBef>
                <a:spcPts val="300"/>
              </a:spcBef>
              <a:spcAft>
                <a:spcPts val="0"/>
              </a:spcAft>
              <a:buNone/>
            </a:pPr>
            <a:r>
              <a:rPr b="0" i="0" lang="en" sz="800">
                <a:solidFill>
                  <a:srgbClr val="CBD5E1"/>
                </a:solidFill>
                <a:latin typeface="Calibri"/>
                <a:ea typeface="Calibri"/>
                <a:cs typeface="Calibri"/>
                <a:sym typeface="Calibri"/>
              </a:rPr>
              <a:t>DQ_SCORES  •  DQ_RULES</a:t>
            </a:r>
            <a:br>
              <a:rPr b="1" i="0" lang="en" sz="800">
                <a:solidFill>
                  <a:srgbClr val="FBBF24"/>
                </a:solidFill>
                <a:latin typeface="Calibri"/>
                <a:ea typeface="Calibri"/>
                <a:cs typeface="Calibri"/>
                <a:sym typeface="Calibri"/>
              </a:rPr>
            </a:br>
            <a:r>
              <a:rPr b="0" i="0" lang="en" sz="800">
                <a:solidFill>
                  <a:srgbClr val="CBD5E1"/>
                </a:solidFill>
                <a:latin typeface="Calibri"/>
                <a:ea typeface="Calibri"/>
                <a:cs typeface="Calibri"/>
                <a:sym typeface="Calibri"/>
              </a:rPr>
              <a:t>DQ_RESULTS  •  DQ_COLUMN_HEALTH</a:t>
            </a:r>
            <a:endParaRPr b="1" i="0" sz="800">
              <a:solidFill>
                <a:srgbClr val="FBBF24"/>
              </a:solidFill>
              <a:latin typeface="Calibri"/>
              <a:ea typeface="Calibri"/>
              <a:cs typeface="Calibri"/>
              <a:sym typeface="Calibri"/>
            </a:endParaRPr>
          </a:p>
        </p:txBody>
      </p:sp>
      <p:cxnSp>
        <p:nvCxnSpPr>
          <p:cNvPr id="249" name="Google Shape;249;p26"/>
          <p:cNvCxnSpPr>
            <a:stCxn id="242" idx="2"/>
            <a:endCxn id="243" idx="0"/>
          </p:cNvCxnSpPr>
          <p:nvPr/>
        </p:nvCxnSpPr>
        <p:spPr>
          <a:xfrm>
            <a:off x="4768453" y="1343175"/>
            <a:ext cx="0" cy="371400"/>
          </a:xfrm>
          <a:prstGeom prst="straightConnector1">
            <a:avLst/>
          </a:prstGeom>
          <a:noFill/>
          <a:ln cap="flat" cmpd="sng" w="9525">
            <a:solidFill>
              <a:srgbClr val="818CF8"/>
            </a:solidFill>
            <a:prstDash val="solid"/>
            <a:round/>
            <a:headEnd len="med" w="med" type="none"/>
            <a:tailEnd len="med" w="med" type="triangle"/>
          </a:ln>
        </p:spPr>
      </p:cxnSp>
      <p:cxnSp>
        <p:nvCxnSpPr>
          <p:cNvPr id="250" name="Google Shape;250;p26"/>
          <p:cNvCxnSpPr>
            <a:stCxn id="243" idx="2"/>
            <a:endCxn id="244" idx="0"/>
          </p:cNvCxnSpPr>
          <p:nvPr/>
        </p:nvCxnSpPr>
        <p:spPr>
          <a:xfrm flipH="1">
            <a:off x="3244453" y="2152800"/>
            <a:ext cx="1524000" cy="548100"/>
          </a:xfrm>
          <a:prstGeom prst="straightConnector1">
            <a:avLst/>
          </a:prstGeom>
          <a:noFill/>
          <a:ln cap="flat" cmpd="sng" w="9525">
            <a:solidFill>
              <a:srgbClr val="818CF8"/>
            </a:solidFill>
            <a:prstDash val="solid"/>
            <a:round/>
            <a:headEnd len="med" w="med" type="none"/>
            <a:tailEnd len="med" w="med" type="triangle"/>
          </a:ln>
        </p:spPr>
      </p:cxnSp>
      <p:cxnSp>
        <p:nvCxnSpPr>
          <p:cNvPr id="251" name="Google Shape;251;p26"/>
          <p:cNvCxnSpPr>
            <a:stCxn id="243" idx="2"/>
            <a:endCxn id="245" idx="0"/>
          </p:cNvCxnSpPr>
          <p:nvPr/>
        </p:nvCxnSpPr>
        <p:spPr>
          <a:xfrm>
            <a:off x="4768453" y="2152800"/>
            <a:ext cx="1625100" cy="548100"/>
          </a:xfrm>
          <a:prstGeom prst="straightConnector1">
            <a:avLst/>
          </a:prstGeom>
          <a:noFill/>
          <a:ln cap="flat" cmpd="sng" w="9525">
            <a:solidFill>
              <a:srgbClr val="34D399"/>
            </a:solidFill>
            <a:prstDash val="solid"/>
            <a:round/>
            <a:headEnd len="med" w="med" type="none"/>
            <a:tailEnd len="med" w="med" type="triangle"/>
          </a:ln>
        </p:spPr>
      </p:cxnSp>
      <p:cxnSp>
        <p:nvCxnSpPr>
          <p:cNvPr id="252" name="Google Shape;252;p26"/>
          <p:cNvCxnSpPr>
            <a:stCxn id="244" idx="2"/>
            <a:endCxn id="246" idx="0"/>
          </p:cNvCxnSpPr>
          <p:nvPr/>
        </p:nvCxnSpPr>
        <p:spPr>
          <a:xfrm>
            <a:off x="3244453" y="3253450"/>
            <a:ext cx="0" cy="449700"/>
          </a:xfrm>
          <a:prstGeom prst="straightConnector1">
            <a:avLst/>
          </a:prstGeom>
          <a:noFill/>
          <a:ln cap="flat" cmpd="sng" w="9525">
            <a:solidFill>
              <a:srgbClr val="818CF8"/>
            </a:solidFill>
            <a:prstDash val="solid"/>
            <a:round/>
            <a:headEnd len="med" w="med" type="none"/>
            <a:tailEnd len="med" w="med" type="triangle"/>
          </a:ln>
        </p:spPr>
      </p:cxnSp>
      <p:cxnSp>
        <p:nvCxnSpPr>
          <p:cNvPr id="253" name="Google Shape;253;p26"/>
          <p:cNvCxnSpPr>
            <a:stCxn id="245" idx="2"/>
            <a:endCxn id="247" idx="0"/>
          </p:cNvCxnSpPr>
          <p:nvPr/>
        </p:nvCxnSpPr>
        <p:spPr>
          <a:xfrm>
            <a:off x="6393653" y="3253450"/>
            <a:ext cx="0" cy="449700"/>
          </a:xfrm>
          <a:prstGeom prst="straightConnector1">
            <a:avLst/>
          </a:prstGeom>
          <a:noFill/>
          <a:ln cap="flat" cmpd="sng" w="9525">
            <a:solidFill>
              <a:srgbClr val="34D399"/>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7" name="Shape 257"/>
        <p:cNvGrpSpPr/>
        <p:nvPr/>
      </p:nvGrpSpPr>
      <p:grpSpPr>
        <a:xfrm>
          <a:off x="0" y="0"/>
          <a:ext cx="0" cy="0"/>
          <a:chOff x="0" y="0"/>
          <a:chExt cx="0" cy="0"/>
        </a:xfrm>
      </p:grpSpPr>
      <p:sp>
        <p:nvSpPr>
          <p:cNvPr id="258" name="Google Shape;258;p27"/>
          <p:cNvSpPr txBox="1"/>
          <p:nvPr/>
        </p:nvSpPr>
        <p:spPr>
          <a:xfrm>
            <a:off x="333375" y="198239"/>
            <a:ext cx="7620000" cy="523800"/>
          </a:xfrm>
          <a:prstGeom prst="rect">
            <a:avLst/>
          </a:prstGeom>
          <a:noFill/>
          <a:ln>
            <a:noFill/>
          </a:ln>
        </p:spPr>
        <p:txBody>
          <a:bodyPr anchorCtr="0" anchor="t" bIns="0" lIns="0" spcFirstLastPara="1" rIns="0" wrap="square" tIns="0">
            <a:noAutofit/>
          </a:bodyPr>
          <a:lstStyle/>
          <a:p>
            <a:pPr indent="0" lvl="0" marL="0" rtl="0" algn="l">
              <a:spcBef>
                <a:spcPts val="225"/>
              </a:spcBef>
              <a:spcAft>
                <a:spcPts val="0"/>
              </a:spcAft>
              <a:buNone/>
            </a:pPr>
            <a:r>
              <a:rPr b="1" lang="en" sz="2300">
                <a:solidFill>
                  <a:srgbClr val="02C39A"/>
                </a:solidFill>
                <a:latin typeface="Cambria"/>
                <a:ea typeface="Cambria"/>
                <a:cs typeface="Cambria"/>
                <a:sym typeface="Cambria"/>
              </a:rPr>
              <a:t>Entity Relationship Diagram — Insurance AI Hub</a:t>
            </a:r>
            <a:endParaRPr b="1" sz="2300">
              <a:solidFill>
                <a:srgbClr val="02C39A"/>
              </a:solidFill>
              <a:latin typeface="Cambria"/>
              <a:ea typeface="Cambria"/>
              <a:cs typeface="Cambria"/>
              <a:sym typeface="Cambria"/>
            </a:endParaRPr>
          </a:p>
        </p:txBody>
      </p:sp>
      <p:grpSp>
        <p:nvGrpSpPr>
          <p:cNvPr id="259" name="Google Shape;259;p27"/>
          <p:cNvGrpSpPr/>
          <p:nvPr/>
        </p:nvGrpSpPr>
        <p:grpSpPr>
          <a:xfrm>
            <a:off x="285750" y="712589"/>
            <a:ext cx="8572500" cy="3924300"/>
            <a:chOff x="285750" y="685800"/>
            <a:chExt cx="8572500" cy="3924300"/>
          </a:xfrm>
        </p:grpSpPr>
        <p:sp>
          <p:nvSpPr>
            <p:cNvPr id="260" name="Google Shape;260;p27"/>
            <p:cNvSpPr/>
            <p:nvPr/>
          </p:nvSpPr>
          <p:spPr>
            <a:xfrm>
              <a:off x="285750" y="685800"/>
              <a:ext cx="3952800" cy="3924300"/>
            </a:xfrm>
            <a:prstGeom prst="roundRect">
              <a:avLst>
                <a:gd fmla="val 1941" name="adj"/>
              </a:avLst>
            </a:prstGeom>
            <a:solidFill>
              <a:srgbClr val="072226"/>
            </a:solidFill>
            <a:ln cap="flat" cmpd="sng" w="9525">
              <a:solidFill>
                <a:srgbClr val="1A4A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1" name="Google Shape;261;p27"/>
            <p:cNvSpPr txBox="1"/>
            <p:nvPr/>
          </p:nvSpPr>
          <p:spPr>
            <a:xfrm>
              <a:off x="428625" y="762000"/>
              <a:ext cx="3667200" cy="209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950">
                  <a:solidFill>
                    <a:srgbClr val="38BDF8"/>
                  </a:solidFill>
                  <a:latin typeface="Calibri"/>
                  <a:ea typeface="Calibri"/>
                  <a:cs typeface="Calibri"/>
                  <a:sym typeface="Calibri"/>
                </a:rPr>
                <a:t>ANALYTICS DOMAIN</a:t>
              </a:r>
              <a:endParaRPr>
                <a:latin typeface="Calibri"/>
                <a:ea typeface="Calibri"/>
                <a:cs typeface="Calibri"/>
                <a:sym typeface="Calibri"/>
              </a:endParaRPr>
            </a:p>
          </p:txBody>
        </p:sp>
        <p:sp>
          <p:nvSpPr>
            <p:cNvPr id="262" name="Google Shape;262;p27"/>
            <p:cNvSpPr/>
            <p:nvPr/>
          </p:nvSpPr>
          <p:spPr>
            <a:xfrm>
              <a:off x="4333875" y="685800"/>
              <a:ext cx="2143200" cy="3924300"/>
            </a:xfrm>
            <a:prstGeom prst="roundRect">
              <a:avLst>
                <a:gd fmla="val 3555" name="adj"/>
              </a:avLst>
            </a:prstGeom>
            <a:solidFill>
              <a:srgbClr val="072226"/>
            </a:solidFill>
            <a:ln cap="flat" cmpd="sng" w="9525">
              <a:solidFill>
                <a:srgbClr val="1A4A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27"/>
            <p:cNvSpPr txBox="1"/>
            <p:nvPr/>
          </p:nvSpPr>
          <p:spPr>
            <a:xfrm>
              <a:off x="4476750" y="762000"/>
              <a:ext cx="1857300" cy="209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950">
                  <a:solidFill>
                    <a:srgbClr val="34D399"/>
                  </a:solidFill>
                  <a:latin typeface="Calibri"/>
                  <a:ea typeface="Calibri"/>
                  <a:cs typeface="Calibri"/>
                  <a:sym typeface="Calibri"/>
                </a:rPr>
                <a:t>DOCUMENTS DOMAIN</a:t>
              </a:r>
              <a:endParaRPr>
                <a:latin typeface="Calibri"/>
                <a:ea typeface="Calibri"/>
                <a:cs typeface="Calibri"/>
                <a:sym typeface="Calibri"/>
              </a:endParaRPr>
            </a:p>
          </p:txBody>
        </p:sp>
        <p:sp>
          <p:nvSpPr>
            <p:cNvPr id="264" name="Google Shape;264;p27"/>
            <p:cNvSpPr/>
            <p:nvPr/>
          </p:nvSpPr>
          <p:spPr>
            <a:xfrm>
              <a:off x="6572250" y="685800"/>
              <a:ext cx="2286000" cy="3924300"/>
            </a:xfrm>
            <a:prstGeom prst="roundRect">
              <a:avLst>
                <a:gd fmla="val 3333" name="adj"/>
              </a:avLst>
            </a:prstGeom>
            <a:solidFill>
              <a:srgbClr val="072226"/>
            </a:solidFill>
            <a:ln cap="flat" cmpd="sng" w="9525">
              <a:solidFill>
                <a:srgbClr val="1A4A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5" name="Google Shape;265;p27"/>
            <p:cNvSpPr txBox="1"/>
            <p:nvPr/>
          </p:nvSpPr>
          <p:spPr>
            <a:xfrm>
              <a:off x="6715125" y="762000"/>
              <a:ext cx="2000100" cy="209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950">
                  <a:solidFill>
                    <a:srgbClr val="C084FC"/>
                  </a:solidFill>
                  <a:latin typeface="Calibri"/>
                  <a:ea typeface="Calibri"/>
                  <a:cs typeface="Calibri"/>
                  <a:sym typeface="Calibri"/>
                </a:rPr>
                <a:t>DATA QUALITY DOMAIN</a:t>
              </a:r>
              <a:endParaRPr>
                <a:latin typeface="Calibri"/>
                <a:ea typeface="Calibri"/>
                <a:cs typeface="Calibri"/>
                <a:sym typeface="Calibri"/>
              </a:endParaRPr>
            </a:p>
          </p:txBody>
        </p:sp>
      </p:grpSp>
      <p:grpSp>
        <p:nvGrpSpPr>
          <p:cNvPr id="266" name="Google Shape;266;p27"/>
          <p:cNvGrpSpPr/>
          <p:nvPr/>
        </p:nvGrpSpPr>
        <p:grpSpPr>
          <a:xfrm>
            <a:off x="1466850" y="1403152"/>
            <a:ext cx="5734200" cy="2533725"/>
            <a:chOff x="1466850" y="1376363"/>
            <a:chExt cx="5734200" cy="2533725"/>
          </a:xfrm>
        </p:grpSpPr>
        <p:pic>
          <p:nvPicPr>
            <p:cNvPr id="267" name="Google Shape;267;p27"/>
            <p:cNvPicPr preferRelativeResize="0"/>
            <p:nvPr/>
          </p:nvPicPr>
          <p:blipFill rotWithShape="1">
            <a:blip r:embed="rId4">
              <a:alphaModFix/>
            </a:blip>
            <a:srcRect b="0" l="0" r="0" t="0"/>
            <a:stretch/>
          </p:blipFill>
          <p:spPr>
            <a:xfrm>
              <a:off x="1466850" y="1376363"/>
              <a:ext cx="252300" cy="1095300"/>
            </a:xfrm>
            <a:prstGeom prst="rect">
              <a:avLst/>
            </a:prstGeom>
            <a:noFill/>
            <a:ln>
              <a:noFill/>
            </a:ln>
          </p:spPr>
        </p:pic>
        <p:pic>
          <p:nvPicPr>
            <p:cNvPr id="268" name="Google Shape;268;p27"/>
            <p:cNvPicPr preferRelativeResize="0"/>
            <p:nvPr/>
          </p:nvPicPr>
          <p:blipFill rotWithShape="1">
            <a:blip r:embed="rId5">
              <a:alphaModFix/>
            </a:blip>
            <a:srcRect b="0" l="0" r="0" t="0"/>
            <a:stretch/>
          </p:blipFill>
          <p:spPr>
            <a:xfrm>
              <a:off x="1466850" y="2757488"/>
              <a:ext cx="257100" cy="1152600"/>
            </a:xfrm>
            <a:prstGeom prst="rect">
              <a:avLst/>
            </a:prstGeom>
            <a:noFill/>
            <a:ln>
              <a:noFill/>
            </a:ln>
          </p:spPr>
        </p:pic>
        <p:pic>
          <p:nvPicPr>
            <p:cNvPr id="269" name="Google Shape;269;p27"/>
            <p:cNvPicPr preferRelativeResize="0"/>
            <p:nvPr/>
          </p:nvPicPr>
          <p:blipFill rotWithShape="1">
            <a:blip r:embed="rId6">
              <a:alphaModFix/>
            </a:blip>
            <a:srcRect b="0" l="0" r="0" t="0"/>
            <a:stretch/>
          </p:blipFill>
          <p:spPr>
            <a:xfrm>
              <a:off x="2847975" y="1376363"/>
              <a:ext cx="162000" cy="1009800"/>
            </a:xfrm>
            <a:prstGeom prst="rect">
              <a:avLst/>
            </a:prstGeom>
            <a:noFill/>
            <a:ln>
              <a:noFill/>
            </a:ln>
          </p:spPr>
        </p:pic>
        <p:pic>
          <p:nvPicPr>
            <p:cNvPr id="270" name="Google Shape;270;p27"/>
            <p:cNvPicPr preferRelativeResize="0"/>
            <p:nvPr/>
          </p:nvPicPr>
          <p:blipFill rotWithShape="1">
            <a:blip r:embed="rId7">
              <a:alphaModFix/>
            </a:blip>
            <a:srcRect b="0" l="0" r="0" t="0"/>
            <a:stretch/>
          </p:blipFill>
          <p:spPr>
            <a:xfrm>
              <a:off x="2857500" y="2562225"/>
              <a:ext cx="142800" cy="19200"/>
            </a:xfrm>
            <a:prstGeom prst="rect">
              <a:avLst/>
            </a:prstGeom>
            <a:noFill/>
            <a:ln>
              <a:noFill/>
            </a:ln>
          </p:spPr>
        </p:pic>
        <p:pic>
          <p:nvPicPr>
            <p:cNvPr id="271" name="Google Shape;271;p27"/>
            <p:cNvPicPr preferRelativeResize="0"/>
            <p:nvPr/>
          </p:nvPicPr>
          <p:blipFill rotWithShape="1">
            <a:blip r:embed="rId8">
              <a:alphaModFix/>
            </a:blip>
            <a:srcRect b="0" l="0" r="0" t="0"/>
            <a:stretch/>
          </p:blipFill>
          <p:spPr>
            <a:xfrm>
              <a:off x="2847975" y="2757488"/>
              <a:ext cx="162000" cy="1009800"/>
            </a:xfrm>
            <a:prstGeom prst="rect">
              <a:avLst/>
            </a:prstGeom>
            <a:noFill/>
            <a:ln>
              <a:noFill/>
            </a:ln>
          </p:spPr>
        </p:pic>
        <p:pic>
          <p:nvPicPr>
            <p:cNvPr id="272" name="Google Shape;272;p27"/>
            <p:cNvPicPr preferRelativeResize="0"/>
            <p:nvPr/>
          </p:nvPicPr>
          <p:blipFill rotWithShape="1">
            <a:blip r:embed="rId9">
              <a:alphaModFix/>
            </a:blip>
            <a:srcRect b="0" l="0" r="0" t="0"/>
            <a:stretch/>
          </p:blipFill>
          <p:spPr>
            <a:xfrm>
              <a:off x="4090988" y="2614613"/>
              <a:ext cx="381000" cy="609600"/>
            </a:xfrm>
            <a:prstGeom prst="rect">
              <a:avLst/>
            </a:prstGeom>
            <a:noFill/>
            <a:ln>
              <a:noFill/>
            </a:ln>
          </p:spPr>
        </p:pic>
        <p:pic>
          <p:nvPicPr>
            <p:cNvPr id="273" name="Google Shape;273;p27"/>
            <p:cNvPicPr preferRelativeResize="0"/>
            <p:nvPr/>
          </p:nvPicPr>
          <p:blipFill rotWithShape="1">
            <a:blip r:embed="rId10">
              <a:alphaModFix/>
            </a:blip>
            <a:srcRect b="0" l="0" r="0" t="0"/>
            <a:stretch/>
          </p:blipFill>
          <p:spPr>
            <a:xfrm>
              <a:off x="5391150" y="2095500"/>
              <a:ext cx="19200" cy="762000"/>
            </a:xfrm>
            <a:prstGeom prst="rect">
              <a:avLst/>
            </a:prstGeom>
            <a:noFill/>
            <a:ln>
              <a:noFill/>
            </a:ln>
          </p:spPr>
        </p:pic>
        <p:pic>
          <p:nvPicPr>
            <p:cNvPr id="274" name="Google Shape;274;p27"/>
            <p:cNvPicPr preferRelativeResize="0"/>
            <p:nvPr/>
          </p:nvPicPr>
          <p:blipFill rotWithShape="1">
            <a:blip r:embed="rId11">
              <a:alphaModFix/>
            </a:blip>
            <a:srcRect b="0" l="0" r="0" t="0"/>
            <a:stretch/>
          </p:blipFill>
          <p:spPr>
            <a:xfrm>
              <a:off x="7181850" y="2000250"/>
              <a:ext cx="19200" cy="333300"/>
            </a:xfrm>
            <a:prstGeom prst="rect">
              <a:avLst/>
            </a:prstGeom>
            <a:noFill/>
            <a:ln>
              <a:noFill/>
            </a:ln>
          </p:spPr>
        </p:pic>
      </p:grpSp>
      <p:grpSp>
        <p:nvGrpSpPr>
          <p:cNvPr id="275" name="Google Shape;275;p27"/>
          <p:cNvGrpSpPr/>
          <p:nvPr/>
        </p:nvGrpSpPr>
        <p:grpSpPr>
          <a:xfrm>
            <a:off x="428625" y="1074539"/>
            <a:ext cx="8334450" cy="3191025"/>
            <a:chOff x="428625" y="1047750"/>
            <a:chExt cx="8334450" cy="3191025"/>
          </a:xfrm>
        </p:grpSpPr>
        <p:grpSp>
          <p:nvGrpSpPr>
            <p:cNvPr id="276" name="Google Shape;276;p27"/>
            <p:cNvGrpSpPr/>
            <p:nvPr/>
          </p:nvGrpSpPr>
          <p:grpSpPr>
            <a:xfrm>
              <a:off x="428625" y="1047750"/>
              <a:ext cx="1047900" cy="666900"/>
              <a:chOff x="0" y="0"/>
              <a:chExt cx="1047900" cy="666900"/>
            </a:xfrm>
          </p:grpSpPr>
          <p:sp>
            <p:nvSpPr>
              <p:cNvPr id="277" name="Google Shape;277;p27"/>
              <p:cNvSpPr/>
              <p:nvPr/>
            </p:nvSpPr>
            <p:spPr>
              <a:xfrm>
                <a:off x="0" y="0"/>
                <a:ext cx="1047900" cy="666900"/>
              </a:xfrm>
              <a:prstGeom prst="roundRect">
                <a:avLst>
                  <a:gd fmla="val 7142" name="adj"/>
                </a:avLst>
              </a:prstGeom>
              <a:solidFill>
                <a:srgbClr val="0B3036"/>
              </a:solidFill>
              <a:ln cap="flat" cmpd="sng" w="9525">
                <a:solidFill>
                  <a:srgbClr val="02809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8" name="Google Shape;278;p27"/>
              <p:cNvSpPr/>
              <p:nvPr/>
            </p:nvSpPr>
            <p:spPr>
              <a:xfrm>
                <a:off x="0" y="0"/>
                <a:ext cx="1047900" cy="209700"/>
              </a:xfrm>
              <a:prstGeom prst="roundRect">
                <a:avLst>
                  <a:gd fmla="val 22727" name="adj"/>
                </a:avLst>
              </a:prstGeom>
              <a:solidFill>
                <a:srgbClr val="0280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9" name="Google Shape;279;p27"/>
              <p:cNvSpPr txBox="1"/>
              <p:nvPr/>
            </p:nvSpPr>
            <p:spPr>
              <a:xfrm>
                <a:off x="0" y="0"/>
                <a:ext cx="1047900" cy="666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850">
                    <a:solidFill>
                      <a:srgbClr val="FFFFFF"/>
                    </a:solidFill>
                    <a:latin typeface="Calibri"/>
                    <a:ea typeface="Calibri"/>
                    <a:cs typeface="Calibri"/>
                    <a:sym typeface="Calibri"/>
                  </a:rPr>
                  <a:t>CUSTOMERS</a:t>
                </a:r>
                <a:endParaRPr b="1" sz="850">
                  <a:solidFill>
                    <a:srgbClr val="FFFFFF"/>
                  </a:solidFill>
                  <a:latin typeface="Calibri"/>
                  <a:ea typeface="Calibri"/>
                  <a:cs typeface="Calibri"/>
                  <a:sym typeface="Calibri"/>
                </a:endParaRPr>
              </a:p>
              <a:p>
                <a:pPr indent="0" lvl="0" marL="0" rtl="0" algn="l">
                  <a:spcBef>
                    <a:spcPts val="0"/>
                  </a:spcBef>
                  <a:spcAft>
                    <a:spcPts val="0"/>
                  </a:spcAft>
                  <a:buNone/>
                </a:pPr>
                <a:r>
                  <a:t/>
                </a:r>
                <a:endParaRPr b="1" sz="750">
                  <a:solidFill>
                    <a:srgbClr val="F87171"/>
                  </a:solidFill>
                  <a:latin typeface="Calibri"/>
                  <a:ea typeface="Calibri"/>
                  <a:cs typeface="Calibri"/>
                  <a:sym typeface="Calibri"/>
                </a:endParaRPr>
              </a:p>
              <a:p>
                <a:pPr indent="0" lvl="0" marL="0" rtl="0" algn="l">
                  <a:spcBef>
                    <a:spcPts val="0"/>
                  </a:spcBef>
                  <a:spcAft>
                    <a:spcPts val="0"/>
                  </a:spcAft>
                  <a:buNone/>
                </a:pPr>
                <a:r>
                  <a:rPr b="1" lang="en" sz="750">
                    <a:solidFill>
                      <a:srgbClr val="F87171"/>
                    </a:solidFill>
                    <a:latin typeface="Calibri"/>
                    <a:ea typeface="Calibri"/>
                    <a:cs typeface="Calibri"/>
                    <a:sym typeface="Calibri"/>
                  </a:rPr>
                  <a:t>PK </a:t>
                </a:r>
                <a:r>
                  <a:rPr b="0" lang="en" sz="750">
                    <a:solidFill>
                      <a:srgbClr val="E2E8F0"/>
                    </a:solidFill>
                    <a:latin typeface="Calibri"/>
                    <a:ea typeface="Calibri"/>
                    <a:cs typeface="Calibri"/>
                    <a:sym typeface="Calibri"/>
                  </a:rPr>
                  <a:t>CUSTOMER_ID</a:t>
                </a:r>
                <a:endParaRPr b="1" sz="750">
                  <a:solidFill>
                    <a:srgbClr val="F87171"/>
                  </a:solidFill>
                  <a:latin typeface="Calibri"/>
                  <a:ea typeface="Calibri"/>
                  <a:cs typeface="Calibri"/>
                  <a:sym typeface="Calibri"/>
                </a:endParaRPr>
              </a:p>
            </p:txBody>
          </p:sp>
        </p:grpSp>
        <p:grpSp>
          <p:nvGrpSpPr>
            <p:cNvPr id="280" name="Google Shape;280;p27"/>
            <p:cNvGrpSpPr/>
            <p:nvPr/>
          </p:nvGrpSpPr>
          <p:grpSpPr>
            <a:xfrm>
              <a:off x="428625" y="3524250"/>
              <a:ext cx="1047900" cy="666900"/>
              <a:chOff x="0" y="0"/>
              <a:chExt cx="1047900" cy="666900"/>
            </a:xfrm>
          </p:grpSpPr>
          <p:sp>
            <p:nvSpPr>
              <p:cNvPr id="281" name="Google Shape;281;p27"/>
              <p:cNvSpPr/>
              <p:nvPr/>
            </p:nvSpPr>
            <p:spPr>
              <a:xfrm>
                <a:off x="0" y="0"/>
                <a:ext cx="1047900" cy="666900"/>
              </a:xfrm>
              <a:prstGeom prst="roundRect">
                <a:avLst>
                  <a:gd fmla="val 7142" name="adj"/>
                </a:avLst>
              </a:prstGeom>
              <a:solidFill>
                <a:srgbClr val="0B3036"/>
              </a:solidFill>
              <a:ln cap="flat" cmpd="sng" w="9525">
                <a:solidFill>
                  <a:srgbClr val="02809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2" name="Google Shape;282;p27"/>
              <p:cNvSpPr/>
              <p:nvPr/>
            </p:nvSpPr>
            <p:spPr>
              <a:xfrm>
                <a:off x="0" y="0"/>
                <a:ext cx="1047900" cy="209700"/>
              </a:xfrm>
              <a:prstGeom prst="roundRect">
                <a:avLst>
                  <a:gd fmla="val 22727" name="adj"/>
                </a:avLst>
              </a:prstGeom>
              <a:solidFill>
                <a:srgbClr val="0280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3" name="Google Shape;283;p27"/>
              <p:cNvSpPr txBox="1"/>
              <p:nvPr/>
            </p:nvSpPr>
            <p:spPr>
              <a:xfrm>
                <a:off x="0" y="0"/>
                <a:ext cx="1047900" cy="666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850">
                    <a:solidFill>
                      <a:srgbClr val="FFFFFF"/>
                    </a:solidFill>
                    <a:latin typeface="Calibri"/>
                    <a:ea typeface="Calibri"/>
                    <a:cs typeface="Calibri"/>
                    <a:sym typeface="Calibri"/>
                  </a:rPr>
                  <a:t>AGENTS</a:t>
                </a:r>
                <a:endParaRPr b="1" sz="850">
                  <a:solidFill>
                    <a:srgbClr val="FFFFFF"/>
                  </a:solidFill>
                  <a:latin typeface="Calibri"/>
                  <a:ea typeface="Calibri"/>
                  <a:cs typeface="Calibri"/>
                  <a:sym typeface="Calibri"/>
                </a:endParaRPr>
              </a:p>
              <a:p>
                <a:pPr indent="0" lvl="0" marL="0" rtl="0" algn="l">
                  <a:spcBef>
                    <a:spcPts val="0"/>
                  </a:spcBef>
                  <a:spcAft>
                    <a:spcPts val="0"/>
                  </a:spcAft>
                  <a:buNone/>
                </a:pPr>
                <a:r>
                  <a:t/>
                </a:r>
                <a:endParaRPr b="1" sz="750">
                  <a:solidFill>
                    <a:srgbClr val="F87171"/>
                  </a:solidFill>
                  <a:latin typeface="Calibri"/>
                  <a:ea typeface="Calibri"/>
                  <a:cs typeface="Calibri"/>
                  <a:sym typeface="Calibri"/>
                </a:endParaRPr>
              </a:p>
              <a:p>
                <a:pPr indent="0" lvl="0" marL="0" rtl="0" algn="l">
                  <a:spcBef>
                    <a:spcPts val="0"/>
                  </a:spcBef>
                  <a:spcAft>
                    <a:spcPts val="0"/>
                  </a:spcAft>
                  <a:buNone/>
                </a:pPr>
                <a:r>
                  <a:rPr b="1" lang="en" sz="750">
                    <a:solidFill>
                      <a:srgbClr val="F87171"/>
                    </a:solidFill>
                    <a:latin typeface="Calibri"/>
                    <a:ea typeface="Calibri"/>
                    <a:cs typeface="Calibri"/>
                    <a:sym typeface="Calibri"/>
                  </a:rPr>
                  <a:t>PK </a:t>
                </a:r>
                <a:r>
                  <a:rPr b="0" lang="en" sz="750">
                    <a:solidFill>
                      <a:srgbClr val="E2E8F0"/>
                    </a:solidFill>
                    <a:latin typeface="Calibri"/>
                    <a:ea typeface="Calibri"/>
                    <a:cs typeface="Calibri"/>
                    <a:sym typeface="Calibri"/>
                  </a:rPr>
                  <a:t>AGENT_ID</a:t>
                </a:r>
                <a:endParaRPr b="1" sz="750">
                  <a:solidFill>
                    <a:srgbClr val="F87171"/>
                  </a:solidFill>
                  <a:latin typeface="Calibri"/>
                  <a:ea typeface="Calibri"/>
                  <a:cs typeface="Calibri"/>
                  <a:sym typeface="Calibri"/>
                </a:endParaRPr>
              </a:p>
            </p:txBody>
          </p:sp>
        </p:grpSp>
        <p:grpSp>
          <p:nvGrpSpPr>
            <p:cNvPr id="284" name="Google Shape;284;p27"/>
            <p:cNvGrpSpPr/>
            <p:nvPr/>
          </p:nvGrpSpPr>
          <p:grpSpPr>
            <a:xfrm>
              <a:off x="1714500" y="2190750"/>
              <a:ext cx="1143000" cy="904800"/>
              <a:chOff x="0" y="0"/>
              <a:chExt cx="1143000" cy="904800"/>
            </a:xfrm>
          </p:grpSpPr>
          <p:sp>
            <p:nvSpPr>
              <p:cNvPr id="285" name="Google Shape;285;p27"/>
              <p:cNvSpPr/>
              <p:nvPr/>
            </p:nvSpPr>
            <p:spPr>
              <a:xfrm>
                <a:off x="0" y="0"/>
                <a:ext cx="1143000" cy="904800"/>
              </a:xfrm>
              <a:prstGeom prst="roundRect">
                <a:avLst>
                  <a:gd fmla="val 5263" name="adj"/>
                </a:avLst>
              </a:prstGeom>
              <a:solidFill>
                <a:srgbClr val="0B3036"/>
              </a:solidFill>
              <a:ln cap="flat" cmpd="sng" w="14300">
                <a:solidFill>
                  <a:srgbClr val="02809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6" name="Google Shape;286;p27"/>
              <p:cNvSpPr/>
              <p:nvPr/>
            </p:nvSpPr>
            <p:spPr>
              <a:xfrm>
                <a:off x="0" y="0"/>
                <a:ext cx="1143000" cy="209700"/>
              </a:xfrm>
              <a:prstGeom prst="roundRect">
                <a:avLst>
                  <a:gd fmla="val 22727" name="adj"/>
                </a:avLst>
              </a:prstGeom>
              <a:solidFill>
                <a:srgbClr val="0280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7" name="Google Shape;287;p27"/>
              <p:cNvSpPr txBox="1"/>
              <p:nvPr/>
            </p:nvSpPr>
            <p:spPr>
              <a:xfrm>
                <a:off x="0" y="0"/>
                <a:ext cx="1143000" cy="904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850">
                    <a:solidFill>
                      <a:srgbClr val="FFFFFF"/>
                    </a:solidFill>
                    <a:latin typeface="Calibri"/>
                    <a:ea typeface="Calibri"/>
                    <a:cs typeface="Calibri"/>
                    <a:sym typeface="Calibri"/>
                  </a:rPr>
                  <a:t>POLICIES</a:t>
                </a:r>
                <a:endParaRPr b="1" sz="850">
                  <a:solidFill>
                    <a:srgbClr val="FFFFFF"/>
                  </a:solidFill>
                  <a:latin typeface="Calibri"/>
                  <a:ea typeface="Calibri"/>
                  <a:cs typeface="Calibri"/>
                  <a:sym typeface="Calibri"/>
                </a:endParaRPr>
              </a:p>
              <a:p>
                <a:pPr indent="0" lvl="0" marL="0" rtl="0" algn="l">
                  <a:spcBef>
                    <a:spcPts val="0"/>
                  </a:spcBef>
                  <a:spcAft>
                    <a:spcPts val="0"/>
                  </a:spcAft>
                  <a:buNone/>
                </a:pPr>
                <a:r>
                  <a:t/>
                </a:r>
                <a:endParaRPr b="1" sz="750">
                  <a:solidFill>
                    <a:srgbClr val="F87171"/>
                  </a:solidFill>
                  <a:latin typeface="Calibri"/>
                  <a:ea typeface="Calibri"/>
                  <a:cs typeface="Calibri"/>
                  <a:sym typeface="Calibri"/>
                </a:endParaRPr>
              </a:p>
              <a:p>
                <a:pPr indent="0" lvl="0" marL="0" rtl="0" algn="l">
                  <a:spcBef>
                    <a:spcPts val="225"/>
                  </a:spcBef>
                  <a:spcAft>
                    <a:spcPts val="0"/>
                  </a:spcAft>
                  <a:buNone/>
                </a:pPr>
                <a:r>
                  <a:rPr b="1" lang="en" sz="750">
                    <a:solidFill>
                      <a:srgbClr val="F87171"/>
                    </a:solidFill>
                    <a:latin typeface="Calibri"/>
                    <a:ea typeface="Calibri"/>
                    <a:cs typeface="Calibri"/>
                    <a:sym typeface="Calibri"/>
                  </a:rPr>
                  <a:t>PK </a:t>
                </a:r>
                <a:r>
                  <a:rPr b="0" lang="en" sz="750">
                    <a:solidFill>
                      <a:srgbClr val="E2E8F0"/>
                    </a:solidFill>
                    <a:latin typeface="Calibri"/>
                    <a:ea typeface="Calibri"/>
                    <a:cs typeface="Calibri"/>
                    <a:sym typeface="Calibri"/>
                  </a:rPr>
                  <a:t>POLICY_ID</a:t>
                </a:r>
                <a:endParaRPr b="1" sz="750">
                  <a:solidFill>
                    <a:srgbClr val="F87171"/>
                  </a:solidFill>
                  <a:latin typeface="Calibri"/>
                  <a:ea typeface="Calibri"/>
                  <a:cs typeface="Calibri"/>
                  <a:sym typeface="Calibri"/>
                </a:endParaRPr>
              </a:p>
              <a:p>
                <a:pPr indent="0" lvl="0" marL="0" rtl="0" algn="l">
                  <a:spcBef>
                    <a:spcPts val="225"/>
                  </a:spcBef>
                  <a:spcAft>
                    <a:spcPts val="0"/>
                  </a:spcAft>
                  <a:buNone/>
                </a:pPr>
                <a:r>
                  <a:rPr b="1" lang="en" sz="750">
                    <a:solidFill>
                      <a:srgbClr val="38BDF8"/>
                    </a:solidFill>
                    <a:latin typeface="Calibri"/>
                    <a:ea typeface="Calibri"/>
                    <a:cs typeface="Calibri"/>
                    <a:sym typeface="Calibri"/>
                  </a:rPr>
                  <a:t>FK </a:t>
                </a:r>
                <a:r>
                  <a:rPr b="0" lang="en" sz="750">
                    <a:solidFill>
                      <a:srgbClr val="CBD5E1"/>
                    </a:solidFill>
                    <a:latin typeface="Calibri"/>
                    <a:ea typeface="Calibri"/>
                    <a:cs typeface="Calibri"/>
                    <a:sym typeface="Calibri"/>
                  </a:rPr>
                  <a:t>CUSTOMER_ID</a:t>
                </a:r>
                <a:endParaRPr b="1" sz="750">
                  <a:solidFill>
                    <a:srgbClr val="38BDF8"/>
                  </a:solidFill>
                  <a:latin typeface="Calibri"/>
                  <a:ea typeface="Calibri"/>
                  <a:cs typeface="Calibri"/>
                  <a:sym typeface="Calibri"/>
                </a:endParaRPr>
              </a:p>
              <a:p>
                <a:pPr indent="0" lvl="0" marL="0" rtl="0" algn="l">
                  <a:spcBef>
                    <a:spcPts val="225"/>
                  </a:spcBef>
                  <a:spcAft>
                    <a:spcPts val="0"/>
                  </a:spcAft>
                  <a:buNone/>
                </a:pPr>
                <a:r>
                  <a:rPr b="1" lang="en" sz="750">
                    <a:solidFill>
                      <a:srgbClr val="38BDF8"/>
                    </a:solidFill>
                    <a:latin typeface="Calibri"/>
                    <a:ea typeface="Calibri"/>
                    <a:cs typeface="Calibri"/>
                    <a:sym typeface="Calibri"/>
                  </a:rPr>
                  <a:t>FK </a:t>
                </a:r>
                <a:r>
                  <a:rPr b="0" lang="en" sz="750">
                    <a:solidFill>
                      <a:srgbClr val="CBD5E1"/>
                    </a:solidFill>
                    <a:latin typeface="Calibri"/>
                    <a:ea typeface="Calibri"/>
                    <a:cs typeface="Calibri"/>
                    <a:sym typeface="Calibri"/>
                  </a:rPr>
                  <a:t>AGENT_ID</a:t>
                </a:r>
                <a:endParaRPr b="1" sz="750">
                  <a:solidFill>
                    <a:srgbClr val="38BDF8"/>
                  </a:solidFill>
                  <a:latin typeface="Calibri"/>
                  <a:ea typeface="Calibri"/>
                  <a:cs typeface="Calibri"/>
                  <a:sym typeface="Calibri"/>
                </a:endParaRPr>
              </a:p>
            </p:txBody>
          </p:sp>
        </p:grpSp>
        <p:grpSp>
          <p:nvGrpSpPr>
            <p:cNvPr id="288" name="Google Shape;288;p27"/>
            <p:cNvGrpSpPr/>
            <p:nvPr/>
          </p:nvGrpSpPr>
          <p:grpSpPr>
            <a:xfrm>
              <a:off x="3000375" y="1047750"/>
              <a:ext cx="1095300" cy="857400"/>
              <a:chOff x="0" y="0"/>
              <a:chExt cx="1095300" cy="857400"/>
            </a:xfrm>
          </p:grpSpPr>
          <p:sp>
            <p:nvSpPr>
              <p:cNvPr id="289" name="Google Shape;289;p27"/>
              <p:cNvSpPr/>
              <p:nvPr/>
            </p:nvSpPr>
            <p:spPr>
              <a:xfrm>
                <a:off x="0" y="0"/>
                <a:ext cx="1095300" cy="857400"/>
              </a:xfrm>
              <a:prstGeom prst="roundRect">
                <a:avLst>
                  <a:gd fmla="val 5555" name="adj"/>
                </a:avLst>
              </a:prstGeom>
              <a:solidFill>
                <a:srgbClr val="0B3036"/>
              </a:solidFill>
              <a:ln cap="flat" cmpd="sng" w="9525">
                <a:solidFill>
                  <a:srgbClr val="02809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0" name="Google Shape;290;p27"/>
              <p:cNvSpPr/>
              <p:nvPr/>
            </p:nvSpPr>
            <p:spPr>
              <a:xfrm>
                <a:off x="0" y="0"/>
                <a:ext cx="1095300" cy="209700"/>
              </a:xfrm>
              <a:prstGeom prst="roundRect">
                <a:avLst>
                  <a:gd fmla="val 22727" name="adj"/>
                </a:avLst>
              </a:prstGeom>
              <a:solidFill>
                <a:srgbClr val="0280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1" name="Google Shape;291;p27"/>
              <p:cNvSpPr txBox="1"/>
              <p:nvPr/>
            </p:nvSpPr>
            <p:spPr>
              <a:xfrm>
                <a:off x="0" y="0"/>
                <a:ext cx="1095300" cy="857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850">
                    <a:solidFill>
                      <a:srgbClr val="FFFFFF"/>
                    </a:solidFill>
                    <a:latin typeface="Calibri"/>
                    <a:ea typeface="Calibri"/>
                    <a:cs typeface="Calibri"/>
                    <a:sym typeface="Calibri"/>
                  </a:rPr>
                  <a:t>BILLING</a:t>
                </a:r>
                <a:endParaRPr b="1" sz="850">
                  <a:solidFill>
                    <a:srgbClr val="FFFFFF"/>
                  </a:solidFill>
                  <a:latin typeface="Calibri"/>
                  <a:ea typeface="Calibri"/>
                  <a:cs typeface="Calibri"/>
                  <a:sym typeface="Calibri"/>
                </a:endParaRPr>
              </a:p>
              <a:p>
                <a:pPr indent="0" lvl="0" marL="0" rtl="0" algn="l">
                  <a:spcBef>
                    <a:spcPts val="0"/>
                  </a:spcBef>
                  <a:spcAft>
                    <a:spcPts val="0"/>
                  </a:spcAft>
                  <a:buNone/>
                </a:pPr>
                <a:r>
                  <a:t/>
                </a:r>
                <a:endParaRPr b="1" sz="750">
                  <a:solidFill>
                    <a:srgbClr val="F87171"/>
                  </a:solidFill>
                  <a:latin typeface="Calibri"/>
                  <a:ea typeface="Calibri"/>
                  <a:cs typeface="Calibri"/>
                  <a:sym typeface="Calibri"/>
                </a:endParaRPr>
              </a:p>
              <a:p>
                <a:pPr indent="0" lvl="0" marL="0" rtl="0" algn="l">
                  <a:spcBef>
                    <a:spcPts val="225"/>
                  </a:spcBef>
                  <a:spcAft>
                    <a:spcPts val="0"/>
                  </a:spcAft>
                  <a:buNone/>
                </a:pPr>
                <a:r>
                  <a:rPr b="1" lang="en" sz="750">
                    <a:solidFill>
                      <a:srgbClr val="F87171"/>
                    </a:solidFill>
                    <a:latin typeface="Calibri"/>
                    <a:ea typeface="Calibri"/>
                    <a:cs typeface="Calibri"/>
                    <a:sym typeface="Calibri"/>
                  </a:rPr>
                  <a:t>PK </a:t>
                </a:r>
                <a:r>
                  <a:rPr b="0" lang="en" sz="750">
                    <a:solidFill>
                      <a:srgbClr val="E2E8F0"/>
                    </a:solidFill>
                    <a:latin typeface="Calibri"/>
                    <a:ea typeface="Calibri"/>
                    <a:cs typeface="Calibri"/>
                    <a:sym typeface="Calibri"/>
                  </a:rPr>
                  <a:t>BILLING_ID</a:t>
                </a:r>
                <a:endParaRPr b="1" sz="750">
                  <a:solidFill>
                    <a:srgbClr val="F87171"/>
                  </a:solidFill>
                  <a:latin typeface="Calibri"/>
                  <a:ea typeface="Calibri"/>
                  <a:cs typeface="Calibri"/>
                  <a:sym typeface="Calibri"/>
                </a:endParaRPr>
              </a:p>
              <a:p>
                <a:pPr indent="0" lvl="0" marL="0" rtl="0" algn="l">
                  <a:spcBef>
                    <a:spcPts val="225"/>
                  </a:spcBef>
                  <a:spcAft>
                    <a:spcPts val="0"/>
                  </a:spcAft>
                  <a:buNone/>
                </a:pPr>
                <a:r>
                  <a:rPr b="1" lang="en" sz="750">
                    <a:solidFill>
                      <a:srgbClr val="38BDF8"/>
                    </a:solidFill>
                    <a:latin typeface="Calibri"/>
                    <a:ea typeface="Calibri"/>
                    <a:cs typeface="Calibri"/>
                    <a:sym typeface="Calibri"/>
                  </a:rPr>
                  <a:t>FK </a:t>
                </a:r>
                <a:r>
                  <a:rPr b="0" lang="en" sz="750">
                    <a:solidFill>
                      <a:srgbClr val="CBD5E1"/>
                    </a:solidFill>
                    <a:latin typeface="Calibri"/>
                    <a:ea typeface="Calibri"/>
                    <a:cs typeface="Calibri"/>
                    <a:sym typeface="Calibri"/>
                  </a:rPr>
                  <a:t>POLICY_ID</a:t>
                </a:r>
                <a:endParaRPr b="1" sz="750">
                  <a:solidFill>
                    <a:srgbClr val="38BDF8"/>
                  </a:solidFill>
                  <a:latin typeface="Calibri"/>
                  <a:ea typeface="Calibri"/>
                  <a:cs typeface="Calibri"/>
                  <a:sym typeface="Calibri"/>
                </a:endParaRPr>
              </a:p>
              <a:p>
                <a:pPr indent="0" lvl="0" marL="0" rtl="0" algn="l">
                  <a:spcBef>
                    <a:spcPts val="225"/>
                  </a:spcBef>
                  <a:spcAft>
                    <a:spcPts val="0"/>
                  </a:spcAft>
                  <a:buNone/>
                </a:pPr>
                <a:r>
                  <a:rPr b="1" lang="en" sz="750">
                    <a:solidFill>
                      <a:srgbClr val="38BDF8"/>
                    </a:solidFill>
                    <a:latin typeface="Calibri"/>
                    <a:ea typeface="Calibri"/>
                    <a:cs typeface="Calibri"/>
                    <a:sym typeface="Calibri"/>
                  </a:rPr>
                  <a:t>FK </a:t>
                </a:r>
                <a:r>
                  <a:rPr b="0" lang="en" sz="750">
                    <a:solidFill>
                      <a:srgbClr val="CBD5E1"/>
                    </a:solidFill>
                    <a:latin typeface="Calibri"/>
                    <a:ea typeface="Calibri"/>
                    <a:cs typeface="Calibri"/>
                    <a:sym typeface="Calibri"/>
                  </a:rPr>
                  <a:t>CUSTOMER_ID</a:t>
                </a:r>
                <a:endParaRPr b="1" sz="750">
                  <a:solidFill>
                    <a:srgbClr val="38BDF8"/>
                  </a:solidFill>
                  <a:latin typeface="Calibri"/>
                  <a:ea typeface="Calibri"/>
                  <a:cs typeface="Calibri"/>
                  <a:sym typeface="Calibri"/>
                </a:endParaRPr>
              </a:p>
            </p:txBody>
          </p:sp>
        </p:grpSp>
        <p:grpSp>
          <p:nvGrpSpPr>
            <p:cNvPr id="292" name="Google Shape;292;p27"/>
            <p:cNvGrpSpPr/>
            <p:nvPr/>
          </p:nvGrpSpPr>
          <p:grpSpPr>
            <a:xfrm>
              <a:off x="3000375" y="2190750"/>
              <a:ext cx="1095300" cy="857400"/>
              <a:chOff x="0" y="0"/>
              <a:chExt cx="1095300" cy="857400"/>
            </a:xfrm>
          </p:grpSpPr>
          <p:sp>
            <p:nvSpPr>
              <p:cNvPr id="293" name="Google Shape;293;p27"/>
              <p:cNvSpPr/>
              <p:nvPr/>
            </p:nvSpPr>
            <p:spPr>
              <a:xfrm>
                <a:off x="0" y="0"/>
                <a:ext cx="1095300" cy="857400"/>
              </a:xfrm>
              <a:prstGeom prst="roundRect">
                <a:avLst>
                  <a:gd fmla="val 5555" name="adj"/>
                </a:avLst>
              </a:prstGeom>
              <a:solidFill>
                <a:srgbClr val="0B3036"/>
              </a:solidFill>
              <a:ln cap="flat" cmpd="sng" w="9525">
                <a:solidFill>
                  <a:srgbClr val="02809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4" name="Google Shape;294;p27"/>
              <p:cNvSpPr/>
              <p:nvPr/>
            </p:nvSpPr>
            <p:spPr>
              <a:xfrm>
                <a:off x="0" y="0"/>
                <a:ext cx="1095300" cy="209700"/>
              </a:xfrm>
              <a:prstGeom prst="roundRect">
                <a:avLst>
                  <a:gd fmla="val 22727" name="adj"/>
                </a:avLst>
              </a:prstGeom>
              <a:solidFill>
                <a:srgbClr val="0280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5" name="Google Shape;295;p27"/>
              <p:cNvSpPr txBox="1"/>
              <p:nvPr/>
            </p:nvSpPr>
            <p:spPr>
              <a:xfrm>
                <a:off x="0" y="0"/>
                <a:ext cx="1095300" cy="857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850">
                    <a:solidFill>
                      <a:srgbClr val="FFFFFF"/>
                    </a:solidFill>
                    <a:latin typeface="Calibri"/>
                    <a:ea typeface="Calibri"/>
                    <a:cs typeface="Calibri"/>
                    <a:sym typeface="Calibri"/>
                  </a:rPr>
                  <a:t>AT_RISK_POLICIES</a:t>
                </a:r>
                <a:endParaRPr b="1" sz="850">
                  <a:solidFill>
                    <a:srgbClr val="FFFFFF"/>
                  </a:solidFill>
                  <a:latin typeface="Calibri"/>
                  <a:ea typeface="Calibri"/>
                  <a:cs typeface="Calibri"/>
                  <a:sym typeface="Calibri"/>
                </a:endParaRPr>
              </a:p>
              <a:p>
                <a:pPr indent="0" lvl="0" marL="0" rtl="0" algn="l">
                  <a:spcBef>
                    <a:spcPts val="0"/>
                  </a:spcBef>
                  <a:spcAft>
                    <a:spcPts val="0"/>
                  </a:spcAft>
                  <a:buNone/>
                </a:pPr>
                <a:r>
                  <a:t/>
                </a:r>
                <a:endParaRPr b="1" sz="750">
                  <a:solidFill>
                    <a:srgbClr val="F87171"/>
                  </a:solidFill>
                  <a:latin typeface="Calibri"/>
                  <a:ea typeface="Calibri"/>
                  <a:cs typeface="Calibri"/>
                  <a:sym typeface="Calibri"/>
                </a:endParaRPr>
              </a:p>
              <a:p>
                <a:pPr indent="0" lvl="0" marL="0" rtl="0" algn="l">
                  <a:spcBef>
                    <a:spcPts val="225"/>
                  </a:spcBef>
                  <a:spcAft>
                    <a:spcPts val="0"/>
                  </a:spcAft>
                  <a:buNone/>
                </a:pPr>
                <a:r>
                  <a:rPr b="1" lang="en" sz="750">
                    <a:solidFill>
                      <a:srgbClr val="F87171"/>
                    </a:solidFill>
                    <a:latin typeface="Calibri"/>
                    <a:ea typeface="Calibri"/>
                    <a:cs typeface="Calibri"/>
                    <a:sym typeface="Calibri"/>
                  </a:rPr>
                  <a:t>PK </a:t>
                </a:r>
                <a:r>
                  <a:rPr b="0" lang="en" sz="750">
                    <a:solidFill>
                      <a:srgbClr val="E2E8F0"/>
                    </a:solidFill>
                    <a:latin typeface="Calibri"/>
                    <a:ea typeface="Calibri"/>
                    <a:cs typeface="Calibri"/>
                    <a:sym typeface="Calibri"/>
                  </a:rPr>
                  <a:t>RISK_ID</a:t>
                </a:r>
                <a:endParaRPr b="1" sz="750">
                  <a:solidFill>
                    <a:srgbClr val="F87171"/>
                  </a:solidFill>
                  <a:latin typeface="Calibri"/>
                  <a:ea typeface="Calibri"/>
                  <a:cs typeface="Calibri"/>
                  <a:sym typeface="Calibri"/>
                </a:endParaRPr>
              </a:p>
              <a:p>
                <a:pPr indent="0" lvl="0" marL="0" rtl="0" algn="l">
                  <a:spcBef>
                    <a:spcPts val="225"/>
                  </a:spcBef>
                  <a:spcAft>
                    <a:spcPts val="0"/>
                  </a:spcAft>
                  <a:buNone/>
                </a:pPr>
                <a:r>
                  <a:rPr b="1" lang="en" sz="750">
                    <a:solidFill>
                      <a:srgbClr val="38BDF8"/>
                    </a:solidFill>
                    <a:latin typeface="Calibri"/>
                    <a:ea typeface="Calibri"/>
                    <a:cs typeface="Calibri"/>
                    <a:sym typeface="Calibri"/>
                  </a:rPr>
                  <a:t>FK </a:t>
                </a:r>
                <a:r>
                  <a:rPr b="0" lang="en" sz="750">
                    <a:solidFill>
                      <a:srgbClr val="CBD5E1"/>
                    </a:solidFill>
                    <a:latin typeface="Calibri"/>
                    <a:ea typeface="Calibri"/>
                    <a:cs typeface="Calibri"/>
                    <a:sym typeface="Calibri"/>
                  </a:rPr>
                  <a:t>POLICY_ID</a:t>
                </a:r>
                <a:endParaRPr b="1" sz="750">
                  <a:solidFill>
                    <a:srgbClr val="38BDF8"/>
                  </a:solidFill>
                  <a:latin typeface="Calibri"/>
                  <a:ea typeface="Calibri"/>
                  <a:cs typeface="Calibri"/>
                  <a:sym typeface="Calibri"/>
                </a:endParaRPr>
              </a:p>
              <a:p>
                <a:pPr indent="0" lvl="0" marL="0" rtl="0" algn="l">
                  <a:spcBef>
                    <a:spcPts val="225"/>
                  </a:spcBef>
                  <a:spcAft>
                    <a:spcPts val="0"/>
                  </a:spcAft>
                  <a:buNone/>
                </a:pPr>
                <a:r>
                  <a:rPr b="1" lang="en" sz="750">
                    <a:solidFill>
                      <a:srgbClr val="38BDF8"/>
                    </a:solidFill>
                    <a:latin typeface="Calibri"/>
                    <a:ea typeface="Calibri"/>
                    <a:cs typeface="Calibri"/>
                    <a:sym typeface="Calibri"/>
                  </a:rPr>
                  <a:t>FK </a:t>
                </a:r>
                <a:r>
                  <a:rPr b="0" lang="en" sz="750">
                    <a:solidFill>
                      <a:srgbClr val="CBD5E1"/>
                    </a:solidFill>
                    <a:latin typeface="Calibri"/>
                    <a:ea typeface="Calibri"/>
                    <a:cs typeface="Calibri"/>
                    <a:sym typeface="Calibri"/>
                  </a:rPr>
                  <a:t>CUSTOMER_ID</a:t>
                </a:r>
                <a:endParaRPr b="1" sz="750">
                  <a:solidFill>
                    <a:srgbClr val="38BDF8"/>
                  </a:solidFill>
                  <a:latin typeface="Calibri"/>
                  <a:ea typeface="Calibri"/>
                  <a:cs typeface="Calibri"/>
                  <a:sym typeface="Calibri"/>
                </a:endParaRPr>
              </a:p>
            </p:txBody>
          </p:sp>
        </p:grpSp>
        <p:grpSp>
          <p:nvGrpSpPr>
            <p:cNvPr id="296" name="Google Shape;296;p27"/>
            <p:cNvGrpSpPr/>
            <p:nvPr/>
          </p:nvGrpSpPr>
          <p:grpSpPr>
            <a:xfrm>
              <a:off x="3000375" y="3381375"/>
              <a:ext cx="1095300" cy="857400"/>
              <a:chOff x="0" y="0"/>
              <a:chExt cx="1095300" cy="857400"/>
            </a:xfrm>
          </p:grpSpPr>
          <p:sp>
            <p:nvSpPr>
              <p:cNvPr id="297" name="Google Shape;297;p27"/>
              <p:cNvSpPr/>
              <p:nvPr/>
            </p:nvSpPr>
            <p:spPr>
              <a:xfrm>
                <a:off x="0" y="0"/>
                <a:ext cx="1095300" cy="857400"/>
              </a:xfrm>
              <a:prstGeom prst="roundRect">
                <a:avLst>
                  <a:gd fmla="val 5555" name="adj"/>
                </a:avLst>
              </a:prstGeom>
              <a:solidFill>
                <a:srgbClr val="0B3036"/>
              </a:solidFill>
              <a:ln cap="flat" cmpd="sng" w="9525">
                <a:solidFill>
                  <a:srgbClr val="02809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8" name="Google Shape;298;p27"/>
              <p:cNvSpPr/>
              <p:nvPr/>
            </p:nvSpPr>
            <p:spPr>
              <a:xfrm>
                <a:off x="0" y="0"/>
                <a:ext cx="1095300" cy="209700"/>
              </a:xfrm>
              <a:prstGeom prst="roundRect">
                <a:avLst>
                  <a:gd fmla="val 22727" name="adj"/>
                </a:avLst>
              </a:prstGeom>
              <a:solidFill>
                <a:srgbClr val="0280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27"/>
              <p:cNvSpPr txBox="1"/>
              <p:nvPr/>
            </p:nvSpPr>
            <p:spPr>
              <a:xfrm>
                <a:off x="0" y="0"/>
                <a:ext cx="1095300" cy="857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850">
                    <a:solidFill>
                      <a:srgbClr val="FFFFFF"/>
                    </a:solidFill>
                    <a:latin typeface="Calibri"/>
                    <a:ea typeface="Calibri"/>
                    <a:cs typeface="Calibri"/>
                    <a:sym typeface="Calibri"/>
                  </a:rPr>
                  <a:t>CLAIMS</a:t>
                </a:r>
                <a:endParaRPr b="1" sz="850">
                  <a:solidFill>
                    <a:srgbClr val="FFFFFF"/>
                  </a:solidFill>
                  <a:latin typeface="Calibri"/>
                  <a:ea typeface="Calibri"/>
                  <a:cs typeface="Calibri"/>
                  <a:sym typeface="Calibri"/>
                </a:endParaRPr>
              </a:p>
              <a:p>
                <a:pPr indent="0" lvl="0" marL="0" rtl="0" algn="l">
                  <a:spcBef>
                    <a:spcPts val="0"/>
                  </a:spcBef>
                  <a:spcAft>
                    <a:spcPts val="0"/>
                  </a:spcAft>
                  <a:buNone/>
                </a:pPr>
                <a:r>
                  <a:t/>
                </a:r>
                <a:endParaRPr b="1" sz="750">
                  <a:solidFill>
                    <a:srgbClr val="F87171"/>
                  </a:solidFill>
                  <a:latin typeface="Calibri"/>
                  <a:ea typeface="Calibri"/>
                  <a:cs typeface="Calibri"/>
                  <a:sym typeface="Calibri"/>
                </a:endParaRPr>
              </a:p>
              <a:p>
                <a:pPr indent="0" lvl="0" marL="0" rtl="0" algn="l">
                  <a:spcBef>
                    <a:spcPts val="225"/>
                  </a:spcBef>
                  <a:spcAft>
                    <a:spcPts val="0"/>
                  </a:spcAft>
                  <a:buNone/>
                </a:pPr>
                <a:r>
                  <a:rPr b="1" lang="en" sz="750">
                    <a:solidFill>
                      <a:srgbClr val="F87171"/>
                    </a:solidFill>
                    <a:latin typeface="Calibri"/>
                    <a:ea typeface="Calibri"/>
                    <a:cs typeface="Calibri"/>
                    <a:sym typeface="Calibri"/>
                  </a:rPr>
                  <a:t>PK </a:t>
                </a:r>
                <a:r>
                  <a:rPr b="0" lang="en" sz="750">
                    <a:solidFill>
                      <a:srgbClr val="E2E8F0"/>
                    </a:solidFill>
                    <a:latin typeface="Calibri"/>
                    <a:ea typeface="Calibri"/>
                    <a:cs typeface="Calibri"/>
                    <a:sym typeface="Calibri"/>
                  </a:rPr>
                  <a:t>CLAIM_ID</a:t>
                </a:r>
                <a:endParaRPr b="1" sz="750">
                  <a:solidFill>
                    <a:srgbClr val="F87171"/>
                  </a:solidFill>
                  <a:latin typeface="Calibri"/>
                  <a:ea typeface="Calibri"/>
                  <a:cs typeface="Calibri"/>
                  <a:sym typeface="Calibri"/>
                </a:endParaRPr>
              </a:p>
              <a:p>
                <a:pPr indent="0" lvl="0" marL="0" rtl="0" algn="l">
                  <a:spcBef>
                    <a:spcPts val="225"/>
                  </a:spcBef>
                  <a:spcAft>
                    <a:spcPts val="0"/>
                  </a:spcAft>
                  <a:buNone/>
                </a:pPr>
                <a:r>
                  <a:rPr b="1" lang="en" sz="750">
                    <a:solidFill>
                      <a:srgbClr val="38BDF8"/>
                    </a:solidFill>
                    <a:latin typeface="Calibri"/>
                    <a:ea typeface="Calibri"/>
                    <a:cs typeface="Calibri"/>
                    <a:sym typeface="Calibri"/>
                  </a:rPr>
                  <a:t>FK </a:t>
                </a:r>
                <a:r>
                  <a:rPr b="0" lang="en" sz="750">
                    <a:solidFill>
                      <a:srgbClr val="CBD5E1"/>
                    </a:solidFill>
                    <a:latin typeface="Calibri"/>
                    <a:ea typeface="Calibri"/>
                    <a:cs typeface="Calibri"/>
                    <a:sym typeface="Calibri"/>
                  </a:rPr>
                  <a:t>POLICY_ID</a:t>
                </a:r>
                <a:endParaRPr b="1" sz="750">
                  <a:solidFill>
                    <a:srgbClr val="38BDF8"/>
                  </a:solidFill>
                  <a:latin typeface="Calibri"/>
                  <a:ea typeface="Calibri"/>
                  <a:cs typeface="Calibri"/>
                  <a:sym typeface="Calibri"/>
                </a:endParaRPr>
              </a:p>
              <a:p>
                <a:pPr indent="0" lvl="0" marL="0" rtl="0" algn="l">
                  <a:spcBef>
                    <a:spcPts val="225"/>
                  </a:spcBef>
                  <a:spcAft>
                    <a:spcPts val="0"/>
                  </a:spcAft>
                  <a:buNone/>
                </a:pPr>
                <a:r>
                  <a:rPr b="1" lang="en" sz="750">
                    <a:solidFill>
                      <a:srgbClr val="38BDF8"/>
                    </a:solidFill>
                    <a:latin typeface="Calibri"/>
                    <a:ea typeface="Calibri"/>
                    <a:cs typeface="Calibri"/>
                    <a:sym typeface="Calibri"/>
                  </a:rPr>
                  <a:t>FK </a:t>
                </a:r>
                <a:r>
                  <a:rPr b="0" lang="en" sz="750">
                    <a:solidFill>
                      <a:srgbClr val="CBD5E1"/>
                    </a:solidFill>
                    <a:latin typeface="Calibri"/>
                    <a:ea typeface="Calibri"/>
                    <a:cs typeface="Calibri"/>
                    <a:sym typeface="Calibri"/>
                  </a:rPr>
                  <a:t>CUSTOMER_ID</a:t>
                </a:r>
                <a:endParaRPr b="1" sz="750">
                  <a:solidFill>
                    <a:srgbClr val="38BDF8"/>
                  </a:solidFill>
                  <a:latin typeface="Calibri"/>
                  <a:ea typeface="Calibri"/>
                  <a:cs typeface="Calibri"/>
                  <a:sym typeface="Calibri"/>
                </a:endParaRPr>
              </a:p>
            </p:txBody>
          </p:sp>
        </p:grpSp>
        <p:grpSp>
          <p:nvGrpSpPr>
            <p:cNvPr id="300" name="Google Shape;300;p27"/>
            <p:cNvGrpSpPr/>
            <p:nvPr/>
          </p:nvGrpSpPr>
          <p:grpSpPr>
            <a:xfrm>
              <a:off x="4476750" y="1285875"/>
              <a:ext cx="1857300" cy="809700"/>
              <a:chOff x="0" y="0"/>
              <a:chExt cx="1857300" cy="809700"/>
            </a:xfrm>
          </p:grpSpPr>
          <p:sp>
            <p:nvSpPr>
              <p:cNvPr id="301" name="Google Shape;301;p27"/>
              <p:cNvSpPr/>
              <p:nvPr/>
            </p:nvSpPr>
            <p:spPr>
              <a:xfrm>
                <a:off x="0" y="0"/>
                <a:ext cx="1857300" cy="809700"/>
              </a:xfrm>
              <a:prstGeom prst="roundRect">
                <a:avLst>
                  <a:gd fmla="val 5882" name="adj"/>
                </a:avLst>
              </a:prstGeom>
              <a:solidFill>
                <a:srgbClr val="06382B"/>
              </a:solidFill>
              <a:ln cap="flat" cmpd="sng" w="9525">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2" name="Google Shape;302;p27"/>
              <p:cNvSpPr/>
              <p:nvPr/>
            </p:nvSpPr>
            <p:spPr>
              <a:xfrm>
                <a:off x="0" y="0"/>
                <a:ext cx="1857300" cy="209700"/>
              </a:xfrm>
              <a:prstGeom prst="roundRect">
                <a:avLst>
                  <a:gd fmla="val 22727"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3" name="Google Shape;303;p27"/>
              <p:cNvSpPr txBox="1"/>
              <p:nvPr/>
            </p:nvSpPr>
            <p:spPr>
              <a:xfrm>
                <a:off x="0" y="0"/>
                <a:ext cx="1857300" cy="809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850">
                    <a:solidFill>
                      <a:srgbClr val="FFFFFF"/>
                    </a:solidFill>
                    <a:latin typeface="Calibri"/>
                    <a:ea typeface="Calibri"/>
                    <a:cs typeface="Calibri"/>
                    <a:sym typeface="Calibri"/>
                  </a:rPr>
                  <a:t>DOCUMENT_CHUNKS</a:t>
                </a:r>
                <a:endParaRPr b="1" sz="850">
                  <a:solidFill>
                    <a:srgbClr val="FFFFFF"/>
                  </a:solidFill>
                  <a:latin typeface="Calibri"/>
                  <a:ea typeface="Calibri"/>
                  <a:cs typeface="Calibri"/>
                  <a:sym typeface="Calibri"/>
                </a:endParaRPr>
              </a:p>
              <a:p>
                <a:pPr indent="0" lvl="0" marL="0" rtl="0" algn="l">
                  <a:spcBef>
                    <a:spcPts val="0"/>
                  </a:spcBef>
                  <a:spcAft>
                    <a:spcPts val="0"/>
                  </a:spcAft>
                  <a:buNone/>
                </a:pPr>
                <a:r>
                  <a:rPr b="1" lang="en" sz="750">
                    <a:solidFill>
                      <a:srgbClr val="F87171"/>
                    </a:solidFill>
                    <a:latin typeface="Calibri"/>
                    <a:ea typeface="Calibri"/>
                    <a:cs typeface="Calibri"/>
                    <a:sym typeface="Calibri"/>
                  </a:rPr>
                  <a:t> </a:t>
                </a:r>
                <a:endParaRPr b="1" sz="750">
                  <a:solidFill>
                    <a:srgbClr val="F87171"/>
                  </a:solidFill>
                  <a:latin typeface="Calibri"/>
                  <a:ea typeface="Calibri"/>
                  <a:cs typeface="Calibri"/>
                  <a:sym typeface="Calibri"/>
                </a:endParaRPr>
              </a:p>
              <a:p>
                <a:pPr indent="0" lvl="0" marL="0" rtl="0" algn="l">
                  <a:spcBef>
                    <a:spcPts val="225"/>
                  </a:spcBef>
                  <a:spcAft>
                    <a:spcPts val="0"/>
                  </a:spcAft>
                  <a:buNone/>
                </a:pPr>
                <a:r>
                  <a:rPr b="1" lang="en" sz="750">
                    <a:solidFill>
                      <a:srgbClr val="F87171"/>
                    </a:solidFill>
                    <a:latin typeface="Calibri"/>
                    <a:ea typeface="Calibri"/>
                    <a:cs typeface="Calibri"/>
                    <a:sym typeface="Calibri"/>
                  </a:rPr>
                  <a:t>PK </a:t>
                </a:r>
                <a:r>
                  <a:rPr b="0" lang="en" sz="750">
                    <a:solidFill>
                      <a:srgbClr val="E2E8F0"/>
                    </a:solidFill>
                    <a:latin typeface="Calibri"/>
                    <a:ea typeface="Calibri"/>
                    <a:cs typeface="Calibri"/>
                    <a:sym typeface="Calibri"/>
                  </a:rPr>
                  <a:t>CHUNK_ID</a:t>
                </a:r>
                <a:endParaRPr b="1" sz="750">
                  <a:solidFill>
                    <a:srgbClr val="F87171"/>
                  </a:solidFill>
                  <a:latin typeface="Calibri"/>
                  <a:ea typeface="Calibri"/>
                  <a:cs typeface="Calibri"/>
                  <a:sym typeface="Calibri"/>
                </a:endParaRPr>
              </a:p>
              <a:p>
                <a:pPr indent="0" lvl="0" marL="0" rtl="0" algn="l">
                  <a:spcBef>
                    <a:spcPts val="225"/>
                  </a:spcBef>
                  <a:spcAft>
                    <a:spcPts val="0"/>
                  </a:spcAft>
                  <a:buNone/>
                </a:pPr>
                <a:r>
                  <a:rPr b="1" lang="en" sz="750">
                    <a:solidFill>
                      <a:srgbClr val="38BDF8"/>
                    </a:solidFill>
                    <a:latin typeface="Calibri"/>
                    <a:ea typeface="Calibri"/>
                    <a:cs typeface="Calibri"/>
                    <a:sym typeface="Calibri"/>
                  </a:rPr>
                  <a:t>FK </a:t>
                </a:r>
                <a:r>
                  <a:rPr b="0" lang="en" sz="750">
                    <a:solidFill>
                      <a:srgbClr val="CBD5E1"/>
                    </a:solidFill>
                    <a:latin typeface="Calibri"/>
                    <a:ea typeface="Calibri"/>
                    <a:cs typeface="Calibri"/>
                    <a:sym typeface="Calibri"/>
                  </a:rPr>
                  <a:t>DOCUMENT_ID</a:t>
                </a:r>
                <a:endParaRPr b="1" sz="750">
                  <a:solidFill>
                    <a:srgbClr val="38BDF8"/>
                  </a:solidFill>
                  <a:latin typeface="Calibri"/>
                  <a:ea typeface="Calibri"/>
                  <a:cs typeface="Calibri"/>
                  <a:sym typeface="Calibri"/>
                </a:endParaRPr>
              </a:p>
            </p:txBody>
          </p:sp>
        </p:grpSp>
        <p:grpSp>
          <p:nvGrpSpPr>
            <p:cNvPr id="304" name="Google Shape;304;p27"/>
            <p:cNvGrpSpPr/>
            <p:nvPr/>
          </p:nvGrpSpPr>
          <p:grpSpPr>
            <a:xfrm>
              <a:off x="4476750" y="2857500"/>
              <a:ext cx="1857300" cy="809700"/>
              <a:chOff x="0" y="0"/>
              <a:chExt cx="1857300" cy="809700"/>
            </a:xfrm>
          </p:grpSpPr>
          <p:sp>
            <p:nvSpPr>
              <p:cNvPr id="305" name="Google Shape;305;p27"/>
              <p:cNvSpPr/>
              <p:nvPr/>
            </p:nvSpPr>
            <p:spPr>
              <a:xfrm>
                <a:off x="0" y="0"/>
                <a:ext cx="1857300" cy="809700"/>
              </a:xfrm>
              <a:prstGeom prst="roundRect">
                <a:avLst>
                  <a:gd fmla="val 5882" name="adj"/>
                </a:avLst>
              </a:prstGeom>
              <a:solidFill>
                <a:srgbClr val="06382B"/>
              </a:solidFill>
              <a:ln cap="flat" cmpd="sng" w="9525">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6" name="Google Shape;306;p27"/>
              <p:cNvSpPr/>
              <p:nvPr/>
            </p:nvSpPr>
            <p:spPr>
              <a:xfrm>
                <a:off x="0" y="0"/>
                <a:ext cx="1857300" cy="209700"/>
              </a:xfrm>
              <a:prstGeom prst="roundRect">
                <a:avLst>
                  <a:gd fmla="val 22727"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7" name="Google Shape;307;p27"/>
              <p:cNvSpPr txBox="1"/>
              <p:nvPr/>
            </p:nvSpPr>
            <p:spPr>
              <a:xfrm>
                <a:off x="0" y="0"/>
                <a:ext cx="1857300" cy="809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850">
                    <a:solidFill>
                      <a:srgbClr val="FFFFFF"/>
                    </a:solidFill>
                    <a:latin typeface="Calibri"/>
                    <a:ea typeface="Calibri"/>
                    <a:cs typeface="Calibri"/>
                    <a:sym typeface="Calibri"/>
                  </a:rPr>
                  <a:t>POLICY_DOCUMENTS</a:t>
                </a:r>
                <a:endParaRPr b="1" sz="850">
                  <a:solidFill>
                    <a:srgbClr val="FFFFFF"/>
                  </a:solidFill>
                  <a:latin typeface="Calibri"/>
                  <a:ea typeface="Calibri"/>
                  <a:cs typeface="Calibri"/>
                  <a:sym typeface="Calibri"/>
                </a:endParaRPr>
              </a:p>
              <a:p>
                <a:pPr indent="0" lvl="0" marL="0" rtl="0" algn="l">
                  <a:spcBef>
                    <a:spcPts val="0"/>
                  </a:spcBef>
                  <a:spcAft>
                    <a:spcPts val="0"/>
                  </a:spcAft>
                  <a:buNone/>
                </a:pPr>
                <a:r>
                  <a:t/>
                </a:r>
                <a:endParaRPr b="1" sz="750">
                  <a:solidFill>
                    <a:srgbClr val="F87171"/>
                  </a:solidFill>
                  <a:latin typeface="Calibri"/>
                  <a:ea typeface="Calibri"/>
                  <a:cs typeface="Calibri"/>
                  <a:sym typeface="Calibri"/>
                </a:endParaRPr>
              </a:p>
              <a:p>
                <a:pPr indent="0" lvl="0" marL="0" rtl="0" algn="l">
                  <a:spcBef>
                    <a:spcPts val="225"/>
                  </a:spcBef>
                  <a:spcAft>
                    <a:spcPts val="0"/>
                  </a:spcAft>
                  <a:buNone/>
                </a:pPr>
                <a:r>
                  <a:rPr b="1" lang="en" sz="750">
                    <a:solidFill>
                      <a:srgbClr val="F87171"/>
                    </a:solidFill>
                    <a:latin typeface="Calibri"/>
                    <a:ea typeface="Calibri"/>
                    <a:cs typeface="Calibri"/>
                    <a:sym typeface="Calibri"/>
                  </a:rPr>
                  <a:t>PK </a:t>
                </a:r>
                <a:r>
                  <a:rPr b="0" lang="en" sz="750">
                    <a:solidFill>
                      <a:srgbClr val="E2E8F0"/>
                    </a:solidFill>
                    <a:latin typeface="Calibri"/>
                    <a:ea typeface="Calibri"/>
                    <a:cs typeface="Calibri"/>
                    <a:sym typeface="Calibri"/>
                  </a:rPr>
                  <a:t>DOCUMENT_ID</a:t>
                </a:r>
                <a:endParaRPr b="1" sz="750">
                  <a:solidFill>
                    <a:srgbClr val="F87171"/>
                  </a:solidFill>
                  <a:latin typeface="Calibri"/>
                  <a:ea typeface="Calibri"/>
                  <a:cs typeface="Calibri"/>
                  <a:sym typeface="Calibri"/>
                </a:endParaRPr>
              </a:p>
              <a:p>
                <a:pPr indent="0" lvl="0" marL="0" rtl="0" algn="l">
                  <a:spcBef>
                    <a:spcPts val="225"/>
                  </a:spcBef>
                  <a:spcAft>
                    <a:spcPts val="0"/>
                  </a:spcAft>
                  <a:buNone/>
                </a:pPr>
                <a:r>
                  <a:rPr b="1" lang="en" sz="750">
                    <a:solidFill>
                      <a:srgbClr val="38BDF8"/>
                    </a:solidFill>
                    <a:latin typeface="Calibri"/>
                    <a:ea typeface="Calibri"/>
                    <a:cs typeface="Calibri"/>
                    <a:sym typeface="Calibri"/>
                  </a:rPr>
                  <a:t>FK </a:t>
                </a:r>
                <a:r>
                  <a:rPr b="0" lang="en" sz="750">
                    <a:solidFill>
                      <a:srgbClr val="CBD5E1"/>
                    </a:solidFill>
                    <a:latin typeface="Calibri"/>
                    <a:ea typeface="Calibri"/>
                    <a:cs typeface="Calibri"/>
                    <a:sym typeface="Calibri"/>
                  </a:rPr>
                  <a:t>POLICY_ID</a:t>
                </a:r>
                <a:endParaRPr b="1" sz="750">
                  <a:solidFill>
                    <a:srgbClr val="38BDF8"/>
                  </a:solidFill>
                  <a:latin typeface="Calibri"/>
                  <a:ea typeface="Calibri"/>
                  <a:cs typeface="Calibri"/>
                  <a:sym typeface="Calibri"/>
                </a:endParaRPr>
              </a:p>
            </p:txBody>
          </p:sp>
        </p:grpSp>
        <p:grpSp>
          <p:nvGrpSpPr>
            <p:cNvPr id="308" name="Google Shape;308;p27"/>
            <p:cNvGrpSpPr/>
            <p:nvPr/>
          </p:nvGrpSpPr>
          <p:grpSpPr>
            <a:xfrm>
              <a:off x="6715125" y="1285875"/>
              <a:ext cx="952500" cy="714300"/>
              <a:chOff x="0" y="0"/>
              <a:chExt cx="952500" cy="714300"/>
            </a:xfrm>
          </p:grpSpPr>
          <p:sp>
            <p:nvSpPr>
              <p:cNvPr id="309" name="Google Shape;309;p27"/>
              <p:cNvSpPr/>
              <p:nvPr/>
            </p:nvSpPr>
            <p:spPr>
              <a:xfrm>
                <a:off x="0" y="0"/>
                <a:ext cx="952500" cy="714300"/>
              </a:xfrm>
              <a:prstGeom prst="roundRect">
                <a:avLst>
                  <a:gd fmla="val 6666" name="adj"/>
                </a:avLst>
              </a:prstGeom>
              <a:solidFill>
                <a:srgbClr val="2E1065"/>
              </a:solidFill>
              <a:ln cap="flat" cmpd="sng" w="9525">
                <a:solidFill>
                  <a:srgbClr val="7C3AE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27"/>
              <p:cNvSpPr/>
              <p:nvPr/>
            </p:nvSpPr>
            <p:spPr>
              <a:xfrm>
                <a:off x="0" y="0"/>
                <a:ext cx="952500" cy="209700"/>
              </a:xfrm>
              <a:prstGeom prst="roundRect">
                <a:avLst>
                  <a:gd fmla="val 22727"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1" name="Google Shape;311;p27"/>
              <p:cNvSpPr txBox="1"/>
              <p:nvPr/>
            </p:nvSpPr>
            <p:spPr>
              <a:xfrm>
                <a:off x="0" y="0"/>
                <a:ext cx="952500" cy="71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800">
                    <a:solidFill>
                      <a:srgbClr val="FFFFFF"/>
                    </a:solidFill>
                    <a:latin typeface="Calibri"/>
                    <a:ea typeface="Calibri"/>
                    <a:cs typeface="Calibri"/>
                    <a:sym typeface="Calibri"/>
                  </a:rPr>
                  <a:t>DQ_RESULTS</a:t>
                </a:r>
                <a:endParaRPr b="1" sz="800">
                  <a:solidFill>
                    <a:srgbClr val="FFFFFF"/>
                  </a:solidFill>
                  <a:latin typeface="Calibri"/>
                  <a:ea typeface="Calibri"/>
                  <a:cs typeface="Calibri"/>
                  <a:sym typeface="Calibri"/>
                </a:endParaRPr>
              </a:p>
              <a:p>
                <a:pPr indent="0" lvl="0" marL="0" rtl="0" algn="l">
                  <a:spcBef>
                    <a:spcPts val="0"/>
                  </a:spcBef>
                  <a:spcAft>
                    <a:spcPts val="0"/>
                  </a:spcAft>
                  <a:buNone/>
                </a:pPr>
                <a:r>
                  <a:t/>
                </a:r>
                <a:endParaRPr b="1" sz="750">
                  <a:solidFill>
                    <a:srgbClr val="F87171"/>
                  </a:solidFill>
                  <a:latin typeface="Calibri"/>
                  <a:ea typeface="Calibri"/>
                  <a:cs typeface="Calibri"/>
                  <a:sym typeface="Calibri"/>
                </a:endParaRPr>
              </a:p>
              <a:p>
                <a:pPr indent="0" lvl="0" marL="0" rtl="0" algn="l">
                  <a:spcBef>
                    <a:spcPts val="225"/>
                  </a:spcBef>
                  <a:spcAft>
                    <a:spcPts val="0"/>
                  </a:spcAft>
                  <a:buNone/>
                </a:pPr>
                <a:r>
                  <a:rPr b="1" lang="en" sz="750">
                    <a:solidFill>
                      <a:srgbClr val="F87171"/>
                    </a:solidFill>
                    <a:latin typeface="Calibri"/>
                    <a:ea typeface="Calibri"/>
                    <a:cs typeface="Calibri"/>
                    <a:sym typeface="Calibri"/>
                  </a:rPr>
                  <a:t>PK </a:t>
                </a:r>
                <a:r>
                  <a:rPr b="0" lang="en" sz="750">
                    <a:solidFill>
                      <a:srgbClr val="E2E8F0"/>
                    </a:solidFill>
                    <a:latin typeface="Calibri"/>
                    <a:ea typeface="Calibri"/>
                    <a:cs typeface="Calibri"/>
                    <a:sym typeface="Calibri"/>
                  </a:rPr>
                  <a:t>RESULT_ID</a:t>
                </a:r>
                <a:endParaRPr b="1" sz="750">
                  <a:solidFill>
                    <a:srgbClr val="F87171"/>
                  </a:solidFill>
                  <a:latin typeface="Calibri"/>
                  <a:ea typeface="Calibri"/>
                  <a:cs typeface="Calibri"/>
                  <a:sym typeface="Calibri"/>
                </a:endParaRPr>
              </a:p>
              <a:p>
                <a:pPr indent="0" lvl="0" marL="0" rtl="0" algn="l">
                  <a:spcBef>
                    <a:spcPts val="225"/>
                  </a:spcBef>
                  <a:spcAft>
                    <a:spcPts val="0"/>
                  </a:spcAft>
                  <a:buNone/>
                </a:pPr>
                <a:r>
                  <a:rPr b="1" lang="en" sz="750">
                    <a:solidFill>
                      <a:srgbClr val="38BDF8"/>
                    </a:solidFill>
                    <a:latin typeface="Calibri"/>
                    <a:ea typeface="Calibri"/>
                    <a:cs typeface="Calibri"/>
                    <a:sym typeface="Calibri"/>
                  </a:rPr>
                  <a:t>FK </a:t>
                </a:r>
                <a:r>
                  <a:rPr b="0" lang="en" sz="750">
                    <a:solidFill>
                      <a:srgbClr val="CBD5E1"/>
                    </a:solidFill>
                    <a:latin typeface="Calibri"/>
                    <a:ea typeface="Calibri"/>
                    <a:cs typeface="Calibri"/>
                    <a:sym typeface="Calibri"/>
                  </a:rPr>
                  <a:t>RULE_ID</a:t>
                </a:r>
                <a:endParaRPr b="1" sz="750">
                  <a:solidFill>
                    <a:srgbClr val="38BDF8"/>
                  </a:solidFill>
                  <a:latin typeface="Calibri"/>
                  <a:ea typeface="Calibri"/>
                  <a:cs typeface="Calibri"/>
                  <a:sym typeface="Calibri"/>
                </a:endParaRPr>
              </a:p>
            </p:txBody>
          </p:sp>
        </p:grpSp>
        <p:grpSp>
          <p:nvGrpSpPr>
            <p:cNvPr id="312" name="Google Shape;312;p27"/>
            <p:cNvGrpSpPr/>
            <p:nvPr/>
          </p:nvGrpSpPr>
          <p:grpSpPr>
            <a:xfrm>
              <a:off x="6715125" y="2333625"/>
              <a:ext cx="952500" cy="619200"/>
              <a:chOff x="0" y="0"/>
              <a:chExt cx="952500" cy="619200"/>
            </a:xfrm>
          </p:grpSpPr>
          <p:sp>
            <p:nvSpPr>
              <p:cNvPr id="313" name="Google Shape;313;p27"/>
              <p:cNvSpPr/>
              <p:nvPr/>
            </p:nvSpPr>
            <p:spPr>
              <a:xfrm>
                <a:off x="0" y="0"/>
                <a:ext cx="952500" cy="619200"/>
              </a:xfrm>
              <a:prstGeom prst="roundRect">
                <a:avLst>
                  <a:gd fmla="val 7692" name="adj"/>
                </a:avLst>
              </a:prstGeom>
              <a:solidFill>
                <a:srgbClr val="2E1065"/>
              </a:solidFill>
              <a:ln cap="flat" cmpd="sng" w="9525">
                <a:solidFill>
                  <a:srgbClr val="7C3AE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4" name="Google Shape;314;p27"/>
              <p:cNvSpPr/>
              <p:nvPr/>
            </p:nvSpPr>
            <p:spPr>
              <a:xfrm>
                <a:off x="0" y="0"/>
                <a:ext cx="952500" cy="209700"/>
              </a:xfrm>
              <a:prstGeom prst="roundRect">
                <a:avLst>
                  <a:gd fmla="val 22727"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5" name="Google Shape;315;p27"/>
              <p:cNvSpPr txBox="1"/>
              <p:nvPr/>
            </p:nvSpPr>
            <p:spPr>
              <a:xfrm>
                <a:off x="0" y="0"/>
                <a:ext cx="952500" cy="619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800">
                    <a:solidFill>
                      <a:srgbClr val="FFFFFF"/>
                    </a:solidFill>
                    <a:latin typeface="Calibri"/>
                    <a:ea typeface="Calibri"/>
                    <a:cs typeface="Calibri"/>
                    <a:sym typeface="Calibri"/>
                  </a:rPr>
                  <a:t>DQ_RULES</a:t>
                </a:r>
                <a:endParaRPr b="1" sz="800">
                  <a:solidFill>
                    <a:srgbClr val="FFFFFF"/>
                  </a:solidFill>
                  <a:latin typeface="Calibri"/>
                  <a:ea typeface="Calibri"/>
                  <a:cs typeface="Calibri"/>
                  <a:sym typeface="Calibri"/>
                </a:endParaRPr>
              </a:p>
              <a:p>
                <a:pPr indent="0" lvl="0" marL="0" rtl="0" algn="l">
                  <a:spcBef>
                    <a:spcPts val="0"/>
                  </a:spcBef>
                  <a:spcAft>
                    <a:spcPts val="0"/>
                  </a:spcAft>
                  <a:buNone/>
                </a:pPr>
                <a:r>
                  <a:t/>
                </a:r>
                <a:endParaRPr b="1" sz="750">
                  <a:solidFill>
                    <a:srgbClr val="F87171"/>
                  </a:solidFill>
                  <a:latin typeface="Calibri"/>
                  <a:ea typeface="Calibri"/>
                  <a:cs typeface="Calibri"/>
                  <a:sym typeface="Calibri"/>
                </a:endParaRPr>
              </a:p>
              <a:p>
                <a:pPr indent="0" lvl="0" marL="0" rtl="0" algn="l">
                  <a:spcBef>
                    <a:spcPts val="0"/>
                  </a:spcBef>
                  <a:spcAft>
                    <a:spcPts val="0"/>
                  </a:spcAft>
                  <a:buNone/>
                </a:pPr>
                <a:r>
                  <a:rPr b="1" lang="en" sz="750">
                    <a:solidFill>
                      <a:srgbClr val="F87171"/>
                    </a:solidFill>
                    <a:latin typeface="Calibri"/>
                    <a:ea typeface="Calibri"/>
                    <a:cs typeface="Calibri"/>
                    <a:sym typeface="Calibri"/>
                  </a:rPr>
                  <a:t>PK </a:t>
                </a:r>
                <a:r>
                  <a:rPr b="0" lang="en" sz="750">
                    <a:solidFill>
                      <a:srgbClr val="E2E8F0"/>
                    </a:solidFill>
                    <a:latin typeface="Calibri"/>
                    <a:ea typeface="Calibri"/>
                    <a:cs typeface="Calibri"/>
                    <a:sym typeface="Calibri"/>
                  </a:rPr>
                  <a:t>RULE_ID</a:t>
                </a:r>
                <a:endParaRPr b="1" sz="750">
                  <a:solidFill>
                    <a:srgbClr val="F87171"/>
                  </a:solidFill>
                  <a:latin typeface="Calibri"/>
                  <a:ea typeface="Calibri"/>
                  <a:cs typeface="Calibri"/>
                  <a:sym typeface="Calibri"/>
                </a:endParaRPr>
              </a:p>
            </p:txBody>
          </p:sp>
        </p:grpSp>
        <p:grpSp>
          <p:nvGrpSpPr>
            <p:cNvPr id="316" name="Google Shape;316;p27"/>
            <p:cNvGrpSpPr/>
            <p:nvPr/>
          </p:nvGrpSpPr>
          <p:grpSpPr>
            <a:xfrm>
              <a:off x="7762875" y="1285875"/>
              <a:ext cx="1000200" cy="619200"/>
              <a:chOff x="0" y="0"/>
              <a:chExt cx="1000200" cy="619200"/>
            </a:xfrm>
          </p:grpSpPr>
          <p:sp>
            <p:nvSpPr>
              <p:cNvPr id="317" name="Google Shape;317;p27"/>
              <p:cNvSpPr/>
              <p:nvPr/>
            </p:nvSpPr>
            <p:spPr>
              <a:xfrm>
                <a:off x="0" y="0"/>
                <a:ext cx="1000200" cy="619200"/>
              </a:xfrm>
              <a:prstGeom prst="roundRect">
                <a:avLst>
                  <a:gd fmla="val 7692" name="adj"/>
                </a:avLst>
              </a:prstGeom>
              <a:solidFill>
                <a:srgbClr val="2E1065"/>
              </a:solidFill>
              <a:ln cap="flat" cmpd="sng" w="9525">
                <a:solidFill>
                  <a:srgbClr val="7C3AE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8" name="Google Shape;318;p27"/>
              <p:cNvSpPr/>
              <p:nvPr/>
            </p:nvSpPr>
            <p:spPr>
              <a:xfrm>
                <a:off x="0" y="0"/>
                <a:ext cx="1000200" cy="209700"/>
              </a:xfrm>
              <a:prstGeom prst="roundRect">
                <a:avLst>
                  <a:gd fmla="val 22727"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9" name="Google Shape;319;p27"/>
              <p:cNvSpPr txBox="1"/>
              <p:nvPr/>
            </p:nvSpPr>
            <p:spPr>
              <a:xfrm>
                <a:off x="0" y="0"/>
                <a:ext cx="1000200" cy="619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750">
                    <a:solidFill>
                      <a:srgbClr val="FFFFFF"/>
                    </a:solidFill>
                    <a:latin typeface="Calibri"/>
                    <a:ea typeface="Calibri"/>
                    <a:cs typeface="Calibri"/>
                    <a:sym typeface="Calibri"/>
                  </a:rPr>
                  <a:t>DQ_COLUMN_HEALTH</a:t>
                </a:r>
                <a:endParaRPr b="1" sz="750">
                  <a:solidFill>
                    <a:srgbClr val="FFFFFF"/>
                  </a:solidFill>
                  <a:latin typeface="Calibri"/>
                  <a:ea typeface="Calibri"/>
                  <a:cs typeface="Calibri"/>
                  <a:sym typeface="Calibri"/>
                </a:endParaRPr>
              </a:p>
              <a:p>
                <a:pPr indent="0" lvl="0" marL="0" rtl="0" algn="l">
                  <a:spcBef>
                    <a:spcPts val="0"/>
                  </a:spcBef>
                  <a:spcAft>
                    <a:spcPts val="0"/>
                  </a:spcAft>
                  <a:buNone/>
                </a:pPr>
                <a:r>
                  <a:t/>
                </a:r>
                <a:endParaRPr b="1" sz="750">
                  <a:solidFill>
                    <a:srgbClr val="F87171"/>
                  </a:solidFill>
                  <a:latin typeface="Calibri"/>
                  <a:ea typeface="Calibri"/>
                  <a:cs typeface="Calibri"/>
                  <a:sym typeface="Calibri"/>
                </a:endParaRPr>
              </a:p>
              <a:p>
                <a:pPr indent="0" lvl="0" marL="0" rtl="0" algn="l">
                  <a:spcBef>
                    <a:spcPts val="0"/>
                  </a:spcBef>
                  <a:spcAft>
                    <a:spcPts val="0"/>
                  </a:spcAft>
                  <a:buNone/>
                </a:pPr>
                <a:r>
                  <a:rPr b="1" lang="en" sz="750">
                    <a:solidFill>
                      <a:srgbClr val="F87171"/>
                    </a:solidFill>
                    <a:latin typeface="Calibri"/>
                    <a:ea typeface="Calibri"/>
                    <a:cs typeface="Calibri"/>
                    <a:sym typeface="Calibri"/>
                  </a:rPr>
                  <a:t>PK </a:t>
                </a:r>
                <a:r>
                  <a:rPr b="0" lang="en" sz="750">
                    <a:solidFill>
                      <a:srgbClr val="E2E8F0"/>
                    </a:solidFill>
                    <a:latin typeface="Calibri"/>
                    <a:ea typeface="Calibri"/>
                    <a:cs typeface="Calibri"/>
                    <a:sym typeface="Calibri"/>
                  </a:rPr>
                  <a:t>HEALTH_ID</a:t>
                </a:r>
                <a:endParaRPr b="1" sz="750">
                  <a:solidFill>
                    <a:srgbClr val="F87171"/>
                  </a:solidFill>
                  <a:latin typeface="Calibri"/>
                  <a:ea typeface="Calibri"/>
                  <a:cs typeface="Calibri"/>
                  <a:sym typeface="Calibri"/>
                </a:endParaRPr>
              </a:p>
            </p:txBody>
          </p:sp>
        </p:grpSp>
        <p:grpSp>
          <p:nvGrpSpPr>
            <p:cNvPr id="320" name="Google Shape;320;p27"/>
            <p:cNvGrpSpPr/>
            <p:nvPr/>
          </p:nvGrpSpPr>
          <p:grpSpPr>
            <a:xfrm>
              <a:off x="7762875" y="2333625"/>
              <a:ext cx="1000200" cy="619200"/>
              <a:chOff x="0" y="0"/>
              <a:chExt cx="1000200" cy="619200"/>
            </a:xfrm>
          </p:grpSpPr>
          <p:sp>
            <p:nvSpPr>
              <p:cNvPr id="321" name="Google Shape;321;p27"/>
              <p:cNvSpPr/>
              <p:nvPr/>
            </p:nvSpPr>
            <p:spPr>
              <a:xfrm>
                <a:off x="0" y="0"/>
                <a:ext cx="1000200" cy="619200"/>
              </a:xfrm>
              <a:prstGeom prst="roundRect">
                <a:avLst>
                  <a:gd fmla="val 7692" name="adj"/>
                </a:avLst>
              </a:prstGeom>
              <a:solidFill>
                <a:srgbClr val="2E1065"/>
              </a:solidFill>
              <a:ln cap="flat" cmpd="sng" w="9525">
                <a:solidFill>
                  <a:srgbClr val="7C3AE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2" name="Google Shape;322;p27"/>
              <p:cNvSpPr/>
              <p:nvPr/>
            </p:nvSpPr>
            <p:spPr>
              <a:xfrm>
                <a:off x="0" y="0"/>
                <a:ext cx="1000200" cy="209700"/>
              </a:xfrm>
              <a:prstGeom prst="roundRect">
                <a:avLst>
                  <a:gd fmla="val 22727"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3" name="Google Shape;323;p27"/>
              <p:cNvSpPr txBox="1"/>
              <p:nvPr/>
            </p:nvSpPr>
            <p:spPr>
              <a:xfrm>
                <a:off x="0" y="0"/>
                <a:ext cx="1000200" cy="619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800">
                    <a:solidFill>
                      <a:srgbClr val="FFFFFF"/>
                    </a:solidFill>
                    <a:latin typeface="Calibri"/>
                    <a:ea typeface="Calibri"/>
                    <a:cs typeface="Calibri"/>
                    <a:sym typeface="Calibri"/>
                  </a:rPr>
                  <a:t>DQ_SCORES</a:t>
                </a:r>
                <a:endParaRPr b="1" sz="800">
                  <a:solidFill>
                    <a:srgbClr val="FFFFFF"/>
                  </a:solidFill>
                  <a:latin typeface="Calibri"/>
                  <a:ea typeface="Calibri"/>
                  <a:cs typeface="Calibri"/>
                  <a:sym typeface="Calibri"/>
                </a:endParaRPr>
              </a:p>
              <a:p>
                <a:pPr indent="0" lvl="0" marL="0" rtl="0" algn="l">
                  <a:spcBef>
                    <a:spcPts val="0"/>
                  </a:spcBef>
                  <a:spcAft>
                    <a:spcPts val="0"/>
                  </a:spcAft>
                  <a:buNone/>
                </a:pPr>
                <a:r>
                  <a:t/>
                </a:r>
                <a:endParaRPr b="1" sz="750">
                  <a:solidFill>
                    <a:srgbClr val="F87171"/>
                  </a:solidFill>
                  <a:latin typeface="Calibri"/>
                  <a:ea typeface="Calibri"/>
                  <a:cs typeface="Calibri"/>
                  <a:sym typeface="Calibri"/>
                </a:endParaRPr>
              </a:p>
              <a:p>
                <a:pPr indent="0" lvl="0" marL="0" rtl="0" algn="l">
                  <a:spcBef>
                    <a:spcPts val="0"/>
                  </a:spcBef>
                  <a:spcAft>
                    <a:spcPts val="0"/>
                  </a:spcAft>
                  <a:buNone/>
                </a:pPr>
                <a:r>
                  <a:rPr b="1" lang="en" sz="750">
                    <a:solidFill>
                      <a:srgbClr val="F87171"/>
                    </a:solidFill>
                    <a:latin typeface="Calibri"/>
                    <a:ea typeface="Calibri"/>
                    <a:cs typeface="Calibri"/>
                    <a:sym typeface="Calibri"/>
                  </a:rPr>
                  <a:t>PK </a:t>
                </a:r>
                <a:r>
                  <a:rPr b="0" lang="en" sz="750">
                    <a:solidFill>
                      <a:srgbClr val="E2E8F0"/>
                    </a:solidFill>
                    <a:latin typeface="Calibri"/>
                    <a:ea typeface="Calibri"/>
                    <a:cs typeface="Calibri"/>
                    <a:sym typeface="Calibri"/>
                  </a:rPr>
                  <a:t>SCORE_ID</a:t>
                </a:r>
                <a:endParaRPr b="1" sz="750">
                  <a:solidFill>
                    <a:srgbClr val="F87171"/>
                  </a:solidFill>
                  <a:latin typeface="Calibri"/>
                  <a:ea typeface="Calibri"/>
                  <a:cs typeface="Calibri"/>
                  <a:sym typeface="Calibri"/>
                </a:endParaRPr>
              </a:p>
            </p:txBody>
          </p:sp>
        </p:grpSp>
      </p:grpSp>
      <p:sp>
        <p:nvSpPr>
          <p:cNvPr id="324" name="Google Shape;324;p27"/>
          <p:cNvSpPr txBox="1"/>
          <p:nvPr/>
        </p:nvSpPr>
        <p:spPr>
          <a:xfrm>
            <a:off x="333375" y="4743450"/>
            <a:ext cx="8477400" cy="238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800">
                <a:solidFill>
                  <a:srgbClr val="F87171"/>
                </a:solidFill>
                <a:latin typeface="Calibri"/>
                <a:ea typeface="Calibri"/>
                <a:cs typeface="Calibri"/>
                <a:sym typeface="Calibri"/>
              </a:rPr>
              <a:t>PK</a:t>
            </a:r>
            <a:r>
              <a:rPr lang="en" sz="800">
                <a:solidFill>
                  <a:srgbClr val="94A3B8"/>
                </a:solidFill>
                <a:latin typeface="Calibri"/>
                <a:ea typeface="Calibri"/>
                <a:cs typeface="Calibri"/>
                <a:sym typeface="Calibri"/>
              </a:rPr>
              <a:t> Primary Key </a:t>
            </a:r>
            <a:r>
              <a:rPr lang="en" sz="800">
                <a:solidFill>
                  <a:srgbClr val="475569"/>
                </a:solidFill>
                <a:latin typeface="Calibri"/>
                <a:ea typeface="Calibri"/>
                <a:cs typeface="Calibri"/>
                <a:sym typeface="Calibri"/>
              </a:rPr>
              <a:t>|</a:t>
            </a:r>
            <a:r>
              <a:rPr lang="en" sz="800">
                <a:solidFill>
                  <a:srgbClr val="94A3B8"/>
                </a:solidFill>
                <a:latin typeface="Calibri"/>
                <a:ea typeface="Calibri"/>
                <a:cs typeface="Calibri"/>
                <a:sym typeface="Calibri"/>
              </a:rPr>
              <a:t> </a:t>
            </a:r>
            <a:r>
              <a:rPr b="1" lang="en" sz="800">
                <a:solidFill>
                  <a:srgbClr val="38BDF8"/>
                </a:solidFill>
                <a:latin typeface="Calibri"/>
                <a:ea typeface="Calibri"/>
                <a:cs typeface="Calibri"/>
                <a:sym typeface="Calibri"/>
              </a:rPr>
              <a:t>FK</a:t>
            </a:r>
            <a:r>
              <a:rPr lang="en" sz="800">
                <a:solidFill>
                  <a:srgbClr val="94A3B8"/>
                </a:solidFill>
                <a:latin typeface="Calibri"/>
                <a:ea typeface="Calibri"/>
                <a:cs typeface="Calibri"/>
                <a:sym typeface="Calibri"/>
              </a:rPr>
              <a:t> Foreign Key </a:t>
            </a:r>
            <a:r>
              <a:rPr lang="en" sz="800">
                <a:solidFill>
                  <a:srgbClr val="475569"/>
                </a:solidFill>
                <a:latin typeface="Calibri"/>
                <a:ea typeface="Calibri"/>
                <a:cs typeface="Calibri"/>
                <a:sym typeface="Calibri"/>
              </a:rPr>
              <a:t>|</a:t>
            </a:r>
            <a:r>
              <a:rPr lang="en" sz="800">
                <a:solidFill>
                  <a:srgbClr val="94A3B8"/>
                </a:solidFill>
                <a:latin typeface="Calibri"/>
                <a:ea typeface="Calibri"/>
                <a:cs typeface="Calibri"/>
                <a:sym typeface="Calibri"/>
              </a:rPr>
              <a:t> </a:t>
            </a:r>
            <a:r>
              <a:rPr i="1" lang="en" sz="800">
                <a:solidFill>
                  <a:srgbClr val="64748B"/>
                </a:solidFill>
                <a:latin typeface="Calibri"/>
                <a:ea typeface="Calibri"/>
                <a:cs typeface="Calibri"/>
                <a:sym typeface="Calibri"/>
              </a:rPr>
              <a:t>Solid lines denote direct parent-child relationships; dashed lines indicate cross-domain references.</a:t>
            </a:r>
            <a:endParaRPr sz="800">
              <a:solidFill>
                <a:srgbClr val="94A3B8"/>
              </a:solidFill>
              <a:latin typeface="Calibri"/>
              <a:ea typeface="Calibri"/>
              <a:cs typeface="Calibri"/>
              <a:sym typeface="Calibri"/>
            </a:endParaRPr>
          </a:p>
        </p:txBody>
      </p:sp>
      <p:pic>
        <p:nvPicPr>
          <p:cNvPr id="325" name="Google Shape;325;p27" title="STREAMLIT_MEDIA_FILE_E7251326BB6F491788A5E45AD5FFB55C.png"/>
          <p:cNvPicPr preferRelativeResize="0"/>
          <p:nvPr/>
        </p:nvPicPr>
        <p:blipFill rotWithShape="1">
          <a:blip r:embed="rId12">
            <a:alphaModFix/>
          </a:blip>
          <a:srcRect b="12381" l="3078" r="70812" t="0"/>
          <a:stretch/>
        </p:blipFill>
        <p:spPr>
          <a:xfrm>
            <a:off x="8386232" y="38775"/>
            <a:ext cx="638443" cy="704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0" name="Shape 330"/>
        <p:cNvGrpSpPr/>
        <p:nvPr/>
      </p:nvGrpSpPr>
      <p:grpSpPr>
        <a:xfrm>
          <a:off x="0" y="0"/>
          <a:ext cx="0" cy="0"/>
          <a:chOff x="0" y="0"/>
          <a:chExt cx="0" cy="0"/>
        </a:xfrm>
      </p:grpSpPr>
      <p:sp>
        <p:nvSpPr>
          <p:cNvPr id="331" name="Google Shape;331;p28"/>
          <p:cNvSpPr txBox="1"/>
          <p:nvPr/>
        </p:nvSpPr>
        <p:spPr>
          <a:xfrm>
            <a:off x="381000" y="190500"/>
            <a:ext cx="7620000" cy="619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 sz="2300">
                <a:solidFill>
                  <a:srgbClr val="02C39A"/>
                </a:solidFill>
                <a:latin typeface="Cambria"/>
                <a:ea typeface="Cambria"/>
                <a:cs typeface="Cambria"/>
                <a:sym typeface="Cambria"/>
              </a:rPr>
              <a:t>Old Approach </a:t>
            </a:r>
            <a:r>
              <a:rPr b="1" lang="en" sz="2300">
                <a:solidFill>
                  <a:srgbClr val="02C39A"/>
                </a:solidFill>
                <a:latin typeface="Cambria"/>
                <a:ea typeface="Cambria"/>
                <a:cs typeface="Cambria"/>
                <a:sym typeface="Cambria"/>
              </a:rPr>
              <a:t>vs</a:t>
            </a:r>
            <a:r>
              <a:rPr b="1" lang="en" sz="2300">
                <a:solidFill>
                  <a:srgbClr val="02C39A"/>
                </a:solidFill>
                <a:latin typeface="Cambria"/>
                <a:ea typeface="Cambria"/>
                <a:cs typeface="Cambria"/>
                <a:sym typeface="Cambria"/>
              </a:rPr>
              <a:t> New </a:t>
            </a:r>
            <a:r>
              <a:rPr b="1" lang="en" sz="2300">
                <a:solidFill>
                  <a:srgbClr val="02C39A"/>
                </a:solidFill>
                <a:latin typeface="Cambria"/>
                <a:ea typeface="Cambria"/>
                <a:cs typeface="Cambria"/>
                <a:sym typeface="Cambria"/>
              </a:rPr>
              <a:t>Approach</a:t>
            </a:r>
            <a:endParaRPr b="1" sz="2300">
              <a:solidFill>
                <a:srgbClr val="02C39A"/>
              </a:solidFill>
              <a:latin typeface="Cambria"/>
              <a:ea typeface="Cambria"/>
              <a:cs typeface="Cambria"/>
              <a:sym typeface="Cambria"/>
            </a:endParaRPr>
          </a:p>
        </p:txBody>
      </p:sp>
      <p:grpSp>
        <p:nvGrpSpPr>
          <p:cNvPr id="332" name="Google Shape;332;p28"/>
          <p:cNvGrpSpPr/>
          <p:nvPr/>
        </p:nvGrpSpPr>
        <p:grpSpPr>
          <a:xfrm>
            <a:off x="336352" y="876300"/>
            <a:ext cx="4048200" cy="3543300"/>
            <a:chOff x="0" y="0"/>
            <a:chExt cx="4048200" cy="3543300"/>
          </a:xfrm>
        </p:grpSpPr>
        <p:sp>
          <p:nvSpPr>
            <p:cNvPr id="333" name="Google Shape;333;p28"/>
            <p:cNvSpPr/>
            <p:nvPr/>
          </p:nvSpPr>
          <p:spPr>
            <a:xfrm>
              <a:off x="0" y="0"/>
              <a:ext cx="4048200" cy="3543300"/>
            </a:xfrm>
            <a:prstGeom prst="roundRect">
              <a:avLst>
                <a:gd fmla="val 2688" name="adj"/>
              </a:avLst>
            </a:prstGeom>
            <a:solidFill>
              <a:schemeClr val="lt1"/>
            </a:solidFill>
            <a:ln cap="flat" cmpd="sng" w="14300">
              <a:solidFill>
                <a:srgbClr val="8C2B2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4" name="Google Shape;334;p28"/>
            <p:cNvSpPr/>
            <p:nvPr/>
          </p:nvSpPr>
          <p:spPr>
            <a:xfrm>
              <a:off x="152400" y="152400"/>
              <a:ext cx="3743400" cy="342900"/>
            </a:xfrm>
            <a:prstGeom prst="roundRect">
              <a:avLst>
                <a:gd fmla="val 16666" name="adj"/>
              </a:avLst>
            </a:prstGeom>
            <a:solidFill>
              <a:srgbClr val="42181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 name="Google Shape;335;p28"/>
            <p:cNvSpPr txBox="1"/>
            <p:nvPr/>
          </p:nvSpPr>
          <p:spPr>
            <a:xfrm>
              <a:off x="152400" y="152400"/>
              <a:ext cx="3743400" cy="342900"/>
            </a:xfrm>
            <a:prstGeom prst="rect">
              <a:avLst/>
            </a:prstGeom>
            <a:noFill/>
            <a:ln>
              <a:noFill/>
            </a:ln>
          </p:spPr>
          <p:txBody>
            <a:bodyPr anchorCtr="0" anchor="ctr" bIns="0" lIns="133350" spcFirstLastPara="1" rIns="0" wrap="square" tIns="0">
              <a:noAutofit/>
            </a:bodyPr>
            <a:lstStyle/>
            <a:p>
              <a:pPr indent="0" lvl="0" marL="0" rtl="0" algn="l">
                <a:spcBef>
                  <a:spcPts val="0"/>
                </a:spcBef>
                <a:spcAft>
                  <a:spcPts val="0"/>
                </a:spcAft>
                <a:buNone/>
              </a:pPr>
              <a:r>
                <a:rPr b="1" lang="en" sz="1300">
                  <a:solidFill>
                    <a:srgbClr val="FCA5A5"/>
                  </a:solidFill>
                  <a:latin typeface="Calibri"/>
                  <a:ea typeface="Calibri"/>
                  <a:cs typeface="Calibri"/>
                  <a:sym typeface="Calibri"/>
                </a:rPr>
                <a:t>✕  OLD WAY — Without ClaimSure</a:t>
              </a:r>
              <a:endParaRPr b="1" sz="1300">
                <a:solidFill>
                  <a:srgbClr val="FCA5A5"/>
                </a:solidFill>
                <a:latin typeface="Calibri"/>
                <a:ea typeface="Calibri"/>
                <a:cs typeface="Calibri"/>
                <a:sym typeface="Calibri"/>
              </a:endParaRPr>
            </a:p>
          </p:txBody>
        </p:sp>
        <p:sp>
          <p:nvSpPr>
            <p:cNvPr id="336" name="Google Shape;336;p28"/>
            <p:cNvSpPr txBox="1"/>
            <p:nvPr/>
          </p:nvSpPr>
          <p:spPr>
            <a:xfrm>
              <a:off x="190500" y="628650"/>
              <a:ext cx="3667200" cy="2762400"/>
            </a:xfrm>
            <a:prstGeom prst="rect">
              <a:avLst/>
            </a:prstGeom>
            <a:noFill/>
            <a:ln>
              <a:noFill/>
            </a:ln>
          </p:spPr>
          <p:txBody>
            <a:bodyPr anchorCtr="0" anchor="t" bIns="38100" lIns="0" spcFirstLastPara="1" rIns="0" wrap="square" tIns="38100">
              <a:noAutofit/>
            </a:bodyPr>
            <a:lstStyle/>
            <a:p>
              <a:pPr indent="0" lvl="0" marL="0" rtl="0" algn="l">
                <a:lnSpc>
                  <a:spcPct val="150000"/>
                </a:lnSpc>
                <a:spcBef>
                  <a:spcPts val="0"/>
                </a:spcBef>
                <a:spcAft>
                  <a:spcPts val="0"/>
                </a:spcAft>
                <a:buNone/>
              </a:pPr>
              <a:r>
                <a:rPr b="1" lang="en" sz="1200">
                  <a:solidFill>
                    <a:srgbClr val="F87171"/>
                  </a:solidFill>
                  <a:latin typeface="Calibri"/>
                  <a:ea typeface="Calibri"/>
                  <a:cs typeface="Calibri"/>
                  <a:sym typeface="Calibri"/>
                </a:rPr>
                <a:t>✕</a:t>
              </a:r>
              <a:r>
                <a:rPr lang="en" sz="1200">
                  <a:solidFill>
                    <a:schemeClr val="dk1"/>
                  </a:solidFill>
                  <a:latin typeface="Calibri"/>
                  <a:ea typeface="Calibri"/>
                  <a:cs typeface="Calibri"/>
                  <a:sym typeface="Calibri"/>
                </a:rPr>
                <a:t> Manually re-reading policy PDFs per claim</a:t>
              </a:r>
              <a:endParaRPr sz="1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 sz="1200">
                  <a:solidFill>
                    <a:srgbClr val="F87171"/>
                  </a:solidFill>
                  <a:latin typeface="Calibri"/>
                  <a:ea typeface="Calibri"/>
                  <a:cs typeface="Calibri"/>
                  <a:sym typeface="Calibri"/>
                </a:rPr>
                <a:t>✕</a:t>
              </a:r>
              <a:r>
                <a:rPr lang="en" sz="1200">
                  <a:solidFill>
                    <a:srgbClr val="CBD5E1"/>
                  </a:solidFill>
                  <a:latin typeface="Calibri"/>
                  <a:ea typeface="Calibri"/>
                  <a:cs typeface="Calibri"/>
                  <a:sym typeface="Calibri"/>
                </a:rPr>
                <a:t> </a:t>
              </a:r>
              <a:r>
                <a:rPr lang="en" sz="1200">
                  <a:solidFill>
                    <a:schemeClr val="dk1"/>
                  </a:solidFill>
                  <a:latin typeface="Calibri"/>
                  <a:ea typeface="Calibri"/>
                  <a:cs typeface="Calibri"/>
                  <a:sym typeface="Calibri"/>
                </a:rPr>
                <a:t>Business users can't query claims data directly</a:t>
              </a:r>
              <a:endParaRPr sz="1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 sz="1200">
                  <a:solidFill>
                    <a:srgbClr val="F87171"/>
                  </a:solidFill>
                  <a:latin typeface="Calibri"/>
                  <a:ea typeface="Calibri"/>
                  <a:cs typeface="Calibri"/>
                  <a:sym typeface="Calibri"/>
                </a:rPr>
                <a:t>✕</a:t>
              </a:r>
              <a:r>
                <a:rPr lang="en" sz="1200">
                  <a:solidFill>
                    <a:srgbClr val="CBD5E1"/>
                  </a:solidFill>
                  <a:latin typeface="Calibri"/>
                  <a:ea typeface="Calibri"/>
                  <a:cs typeface="Calibri"/>
                  <a:sym typeface="Calibri"/>
                </a:rPr>
                <a:t> </a:t>
              </a:r>
              <a:r>
                <a:rPr lang="en" sz="1200">
                  <a:solidFill>
                    <a:schemeClr val="dk1"/>
                  </a:solidFill>
                  <a:latin typeface="Calibri"/>
                  <a:ea typeface="Calibri"/>
                  <a:cs typeface="Calibri"/>
                  <a:sym typeface="Calibri"/>
                </a:rPr>
                <a:t>All claims queued equally, regardless of risk</a:t>
              </a:r>
              <a:endParaRPr sz="1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 sz="1200">
                  <a:solidFill>
                    <a:srgbClr val="F87171"/>
                  </a:solidFill>
                  <a:latin typeface="Calibri"/>
                  <a:ea typeface="Calibri"/>
                  <a:cs typeface="Calibri"/>
                  <a:sym typeface="Calibri"/>
                </a:rPr>
                <a:t>✕</a:t>
              </a:r>
              <a:r>
                <a:rPr lang="en" sz="1200">
                  <a:solidFill>
                    <a:srgbClr val="CBD5E1"/>
                  </a:solidFill>
                  <a:latin typeface="Calibri"/>
                  <a:ea typeface="Calibri"/>
                  <a:cs typeface="Calibri"/>
                  <a:sym typeface="Calibri"/>
                </a:rPr>
                <a:t> </a:t>
              </a:r>
              <a:r>
                <a:rPr lang="en" sz="1200">
                  <a:solidFill>
                    <a:schemeClr val="dk1"/>
                  </a:solidFill>
                  <a:latin typeface="Calibri"/>
                  <a:ea typeface="Calibri"/>
                  <a:cs typeface="Calibri"/>
                  <a:sym typeface="Calibri"/>
                </a:rPr>
                <a:t>Data quality checked only by data engineering</a:t>
              </a:r>
              <a:endParaRPr sz="1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 sz="1200">
                  <a:solidFill>
                    <a:srgbClr val="F87171"/>
                  </a:solidFill>
                  <a:latin typeface="Calibri"/>
                  <a:ea typeface="Calibri"/>
                  <a:cs typeface="Calibri"/>
                  <a:sym typeface="Calibri"/>
                </a:rPr>
                <a:t>✕</a:t>
              </a:r>
              <a:r>
                <a:rPr lang="en" sz="1200">
                  <a:solidFill>
                    <a:srgbClr val="CBD5E1"/>
                  </a:solidFill>
                  <a:latin typeface="Calibri"/>
                  <a:ea typeface="Calibri"/>
                  <a:cs typeface="Calibri"/>
                  <a:sym typeface="Calibri"/>
                </a:rPr>
                <a:t> </a:t>
              </a:r>
              <a:r>
                <a:rPr lang="en" sz="1200">
                  <a:solidFill>
                    <a:schemeClr val="dk1"/>
                  </a:solidFill>
                  <a:latin typeface="Calibri"/>
                  <a:ea typeface="Calibri"/>
                  <a:cs typeface="Calibri"/>
                  <a:sym typeface="Calibri"/>
                </a:rPr>
                <a:t>High call-center volume on “what's covered”</a:t>
              </a:r>
              <a:endParaRPr sz="1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 sz="1200">
                  <a:solidFill>
                    <a:srgbClr val="F87171"/>
                  </a:solidFill>
                  <a:latin typeface="Calibri"/>
                  <a:ea typeface="Calibri"/>
                  <a:cs typeface="Calibri"/>
                  <a:sym typeface="Calibri"/>
                </a:rPr>
                <a:t>✕</a:t>
              </a:r>
              <a:r>
                <a:rPr lang="en" sz="1200">
                  <a:solidFill>
                    <a:srgbClr val="CBD5E1"/>
                  </a:solidFill>
                  <a:latin typeface="Calibri"/>
                  <a:ea typeface="Calibri"/>
                  <a:cs typeface="Calibri"/>
                  <a:sym typeface="Calibri"/>
                </a:rPr>
                <a:t> </a:t>
              </a:r>
              <a:r>
                <a:rPr lang="en" sz="1200">
                  <a:solidFill>
                    <a:schemeClr val="dk1"/>
                  </a:solidFill>
                  <a:latin typeface="Calibri"/>
                  <a:ea typeface="Calibri"/>
                  <a:cs typeface="Calibri"/>
                  <a:sym typeface="Calibri"/>
                </a:rPr>
                <a:t>A single static fraud score, no context</a:t>
              </a:r>
              <a:endParaRPr sz="1200">
                <a:solidFill>
                  <a:schemeClr val="dk1"/>
                </a:solidFill>
                <a:latin typeface="Calibri"/>
                <a:ea typeface="Calibri"/>
                <a:cs typeface="Calibri"/>
                <a:sym typeface="Calibri"/>
              </a:endParaRPr>
            </a:p>
          </p:txBody>
        </p:sp>
      </p:grpSp>
      <p:grpSp>
        <p:nvGrpSpPr>
          <p:cNvPr id="337" name="Google Shape;337;p28"/>
          <p:cNvGrpSpPr/>
          <p:nvPr/>
        </p:nvGrpSpPr>
        <p:grpSpPr>
          <a:xfrm>
            <a:off x="4670227" y="876300"/>
            <a:ext cx="4048200" cy="3543300"/>
            <a:chOff x="0" y="0"/>
            <a:chExt cx="4048200" cy="3543300"/>
          </a:xfrm>
        </p:grpSpPr>
        <p:sp>
          <p:nvSpPr>
            <p:cNvPr id="338" name="Google Shape;338;p28"/>
            <p:cNvSpPr/>
            <p:nvPr/>
          </p:nvSpPr>
          <p:spPr>
            <a:xfrm>
              <a:off x="0" y="0"/>
              <a:ext cx="4048200" cy="3543300"/>
            </a:xfrm>
            <a:prstGeom prst="roundRect">
              <a:avLst>
                <a:gd fmla="val 2688" name="adj"/>
              </a:avLst>
            </a:prstGeom>
            <a:solidFill>
              <a:schemeClr val="lt1"/>
            </a:solidFill>
            <a:ln cap="flat" cmpd="sng" w="14300">
              <a:solidFill>
                <a:srgbClr val="02809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9" name="Google Shape;339;p28"/>
            <p:cNvSpPr/>
            <p:nvPr/>
          </p:nvSpPr>
          <p:spPr>
            <a:xfrm>
              <a:off x="152400" y="152400"/>
              <a:ext cx="3743400" cy="342900"/>
            </a:xfrm>
            <a:prstGeom prst="roundRect">
              <a:avLst>
                <a:gd fmla="val 16666" name="adj"/>
              </a:avLst>
            </a:prstGeom>
            <a:solidFill>
              <a:srgbClr val="0280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0" name="Google Shape;340;p28"/>
            <p:cNvSpPr txBox="1"/>
            <p:nvPr/>
          </p:nvSpPr>
          <p:spPr>
            <a:xfrm>
              <a:off x="152400" y="152400"/>
              <a:ext cx="3743400" cy="342900"/>
            </a:xfrm>
            <a:prstGeom prst="rect">
              <a:avLst/>
            </a:prstGeom>
            <a:noFill/>
            <a:ln>
              <a:noFill/>
            </a:ln>
          </p:spPr>
          <p:txBody>
            <a:bodyPr anchorCtr="0" anchor="ctr" bIns="0" lIns="133350" spcFirstLastPara="1" rIns="0" wrap="square" tIns="0">
              <a:noAutofit/>
            </a:bodyPr>
            <a:lstStyle/>
            <a:p>
              <a:pPr indent="0" lvl="0" marL="0" rtl="0" algn="l">
                <a:spcBef>
                  <a:spcPts val="0"/>
                </a:spcBef>
                <a:spcAft>
                  <a:spcPts val="0"/>
                </a:spcAft>
                <a:buNone/>
              </a:pPr>
              <a:r>
                <a:rPr b="1" lang="en" sz="1300">
                  <a:solidFill>
                    <a:srgbClr val="FFFFFF"/>
                  </a:solidFill>
                  <a:latin typeface="Calibri"/>
                  <a:ea typeface="Calibri"/>
                  <a:cs typeface="Calibri"/>
                  <a:sym typeface="Calibri"/>
                </a:rPr>
                <a:t>✓  NEW WAY — With ClaimSure</a:t>
              </a:r>
              <a:endParaRPr b="1" sz="1300">
                <a:solidFill>
                  <a:srgbClr val="FFFFFF"/>
                </a:solidFill>
                <a:latin typeface="Calibri"/>
                <a:ea typeface="Calibri"/>
                <a:cs typeface="Calibri"/>
                <a:sym typeface="Calibri"/>
              </a:endParaRPr>
            </a:p>
          </p:txBody>
        </p:sp>
        <p:sp>
          <p:nvSpPr>
            <p:cNvPr id="341" name="Google Shape;341;p28"/>
            <p:cNvSpPr txBox="1"/>
            <p:nvPr/>
          </p:nvSpPr>
          <p:spPr>
            <a:xfrm>
              <a:off x="190500" y="628650"/>
              <a:ext cx="3667200" cy="2762400"/>
            </a:xfrm>
            <a:prstGeom prst="rect">
              <a:avLst/>
            </a:prstGeom>
            <a:noFill/>
            <a:ln>
              <a:noFill/>
            </a:ln>
          </p:spPr>
          <p:txBody>
            <a:bodyPr anchorCtr="0" anchor="t" bIns="38100" lIns="0" spcFirstLastPara="1" rIns="0" wrap="square" tIns="38100">
              <a:noAutofit/>
            </a:bodyPr>
            <a:lstStyle/>
            <a:p>
              <a:pPr indent="0" lvl="0" marL="0" rtl="0" algn="l">
                <a:lnSpc>
                  <a:spcPct val="150000"/>
                </a:lnSpc>
                <a:spcBef>
                  <a:spcPts val="0"/>
                </a:spcBef>
                <a:spcAft>
                  <a:spcPts val="0"/>
                </a:spcAft>
                <a:buNone/>
              </a:pPr>
              <a:r>
                <a:rPr b="1" lang="en" sz="1200">
                  <a:solidFill>
                    <a:srgbClr val="02C39A"/>
                  </a:solidFill>
                  <a:latin typeface="Calibri"/>
                  <a:ea typeface="Calibri"/>
                  <a:cs typeface="Calibri"/>
                  <a:sym typeface="Calibri"/>
                </a:rPr>
                <a:t>✓</a:t>
              </a:r>
              <a:r>
                <a:rPr lang="en" sz="1200">
                  <a:solidFill>
                    <a:srgbClr val="E0F2FE"/>
                  </a:solidFill>
                  <a:latin typeface="Calibri"/>
                  <a:ea typeface="Calibri"/>
                  <a:cs typeface="Calibri"/>
                  <a:sym typeface="Calibri"/>
                </a:rPr>
                <a:t> </a:t>
              </a:r>
              <a:r>
                <a:rPr lang="en" sz="1200">
                  <a:solidFill>
                    <a:schemeClr val="dk1"/>
                  </a:solidFill>
                  <a:latin typeface="Calibri"/>
                  <a:ea typeface="Calibri"/>
                  <a:cs typeface="Calibri"/>
                  <a:sym typeface="Calibri"/>
                </a:rPr>
                <a:t>Instant exclusion-clause lookup via Cortex Search</a:t>
              </a:r>
              <a:endParaRPr sz="1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 sz="1200">
                  <a:solidFill>
                    <a:srgbClr val="02C39A"/>
                  </a:solidFill>
                  <a:latin typeface="Calibri"/>
                  <a:ea typeface="Calibri"/>
                  <a:cs typeface="Calibri"/>
                  <a:sym typeface="Calibri"/>
                </a:rPr>
                <a:t>✓</a:t>
              </a:r>
              <a:r>
                <a:rPr lang="en" sz="1200">
                  <a:solidFill>
                    <a:srgbClr val="E0F2FE"/>
                  </a:solidFill>
                  <a:latin typeface="Calibri"/>
                  <a:ea typeface="Calibri"/>
                  <a:cs typeface="Calibri"/>
                  <a:sym typeface="Calibri"/>
                </a:rPr>
                <a:t> </a:t>
              </a:r>
              <a:r>
                <a:rPr lang="en" sz="1200">
                  <a:solidFill>
                    <a:schemeClr val="dk1"/>
                  </a:solidFill>
                  <a:latin typeface="Calibri"/>
                  <a:ea typeface="Calibri"/>
                  <a:cs typeface="Calibri"/>
                  <a:sym typeface="Calibri"/>
                </a:rPr>
                <a:t>Plain-English analytics via Cortex Analyst</a:t>
              </a:r>
              <a:endParaRPr sz="1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 sz="1200">
                  <a:solidFill>
                    <a:srgbClr val="02C39A"/>
                  </a:solidFill>
                  <a:latin typeface="Calibri"/>
                  <a:ea typeface="Calibri"/>
                  <a:cs typeface="Calibri"/>
                  <a:sym typeface="Calibri"/>
                </a:rPr>
                <a:t>✓</a:t>
              </a:r>
              <a:r>
                <a:rPr lang="en" sz="1200">
                  <a:solidFill>
                    <a:schemeClr val="dk1"/>
                  </a:solidFill>
                  <a:latin typeface="Calibri"/>
                  <a:ea typeface="Calibri"/>
                  <a:cs typeface="Calibri"/>
                  <a:sym typeface="Calibri"/>
                </a:rPr>
                <a:t> Low-risk claims fast-tracked automatically</a:t>
              </a:r>
              <a:endParaRPr sz="1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 sz="1200">
                  <a:solidFill>
                    <a:srgbClr val="02C39A"/>
                  </a:solidFill>
                  <a:latin typeface="Calibri"/>
                  <a:ea typeface="Calibri"/>
                  <a:cs typeface="Calibri"/>
                  <a:sym typeface="Calibri"/>
                </a:rPr>
                <a:t>✓</a:t>
              </a:r>
              <a:r>
                <a:rPr lang="en" sz="1200">
                  <a:solidFill>
                    <a:schemeClr val="dk1"/>
                  </a:solidFill>
                  <a:latin typeface="Calibri"/>
                  <a:ea typeface="Calibri"/>
                  <a:cs typeface="Calibri"/>
                  <a:sym typeface="Calibri"/>
                </a:rPr>
                <a:t> Conversational root-cause explanations for anyone</a:t>
              </a:r>
              <a:endParaRPr sz="1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 sz="1200">
                  <a:solidFill>
                    <a:srgbClr val="02C39A"/>
                  </a:solidFill>
                  <a:latin typeface="Calibri"/>
                  <a:ea typeface="Calibri"/>
                  <a:cs typeface="Calibri"/>
                  <a:sym typeface="Calibri"/>
                </a:rPr>
                <a:t>✓</a:t>
              </a:r>
              <a:r>
                <a:rPr lang="en" sz="1200">
                  <a:solidFill>
                    <a:srgbClr val="E0F2FE"/>
                  </a:solidFill>
                  <a:latin typeface="Calibri"/>
                  <a:ea typeface="Calibri"/>
                  <a:cs typeface="Calibri"/>
                  <a:sym typeface="Calibri"/>
                </a:rPr>
                <a:t> </a:t>
              </a:r>
              <a:r>
                <a:rPr lang="en" sz="1200">
                  <a:solidFill>
                    <a:schemeClr val="dk1"/>
                  </a:solidFill>
                  <a:latin typeface="Calibri"/>
                  <a:ea typeface="Calibri"/>
                  <a:cs typeface="Calibri"/>
                  <a:sym typeface="Calibri"/>
                </a:rPr>
                <a:t>Self-serve coverage answers, fewer calls</a:t>
              </a:r>
              <a:endParaRPr sz="1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 sz="1200">
                  <a:solidFill>
                    <a:srgbClr val="02C39A"/>
                  </a:solidFill>
                  <a:latin typeface="Calibri"/>
                  <a:ea typeface="Calibri"/>
                  <a:cs typeface="Calibri"/>
                  <a:sym typeface="Calibri"/>
                </a:rPr>
                <a:t>✓</a:t>
              </a:r>
              <a:r>
                <a:rPr lang="en" sz="1200">
                  <a:solidFill>
                    <a:schemeClr val="dk1"/>
                  </a:solidFill>
                  <a:latin typeface="Calibri"/>
                  <a:ea typeface="Calibri"/>
                  <a:cs typeface="Calibri"/>
                  <a:sym typeface="Calibri"/>
                </a:rPr>
                <a:t> Reasoned verdict combining score, history &amp; policy text</a:t>
              </a:r>
              <a:endParaRPr sz="1200">
                <a:solidFill>
                  <a:schemeClr val="dk1"/>
                </a:solidFill>
                <a:latin typeface="Calibri"/>
                <a:ea typeface="Calibri"/>
                <a:cs typeface="Calibri"/>
                <a:sym typeface="Calibri"/>
              </a:endParaRPr>
            </a:p>
          </p:txBody>
        </p:sp>
      </p:grpSp>
      <p:grpSp>
        <p:nvGrpSpPr>
          <p:cNvPr id="342" name="Google Shape;342;p28"/>
          <p:cNvGrpSpPr/>
          <p:nvPr/>
        </p:nvGrpSpPr>
        <p:grpSpPr>
          <a:xfrm>
            <a:off x="0" y="4789100"/>
            <a:ext cx="9143924" cy="354391"/>
            <a:chOff x="0" y="0"/>
            <a:chExt cx="8382000" cy="419100"/>
          </a:xfrm>
        </p:grpSpPr>
        <p:sp>
          <p:nvSpPr>
            <p:cNvPr id="343" name="Google Shape;343;p28"/>
            <p:cNvSpPr/>
            <p:nvPr/>
          </p:nvSpPr>
          <p:spPr>
            <a:xfrm>
              <a:off x="0" y="0"/>
              <a:ext cx="8382000" cy="419100"/>
            </a:xfrm>
            <a:prstGeom prst="roundRect">
              <a:avLst>
                <a:gd fmla="val 18181" name="adj"/>
              </a:avLst>
            </a:prstGeom>
            <a:solidFill>
              <a:srgbClr val="072226"/>
            </a:solidFill>
            <a:ln cap="flat" cmpd="sng" w="9525">
              <a:solidFill>
                <a:srgbClr val="1A4A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4" name="Google Shape;344;p28"/>
            <p:cNvSpPr txBox="1"/>
            <p:nvPr/>
          </p:nvSpPr>
          <p:spPr>
            <a:xfrm>
              <a:off x="0" y="0"/>
              <a:ext cx="83820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 sz="1000">
                  <a:solidFill>
                    <a:srgbClr val="CFE9E8"/>
                  </a:solidFill>
                  <a:latin typeface="Calibri"/>
                  <a:ea typeface="Calibri"/>
                  <a:cs typeface="Calibri"/>
                  <a:sym typeface="Calibri"/>
                </a:rPr>
                <a:t>⚡ </a:t>
              </a:r>
              <a:r>
                <a:rPr b="1" i="0" lang="en" sz="1000">
                  <a:solidFill>
                    <a:srgbClr val="02C39A"/>
                  </a:solidFill>
                  <a:latin typeface="Calibri"/>
                  <a:ea typeface="Calibri"/>
                  <a:cs typeface="Calibri"/>
                  <a:sym typeface="Calibri"/>
                </a:rPr>
                <a:t>ClaimSure doesn't just speed up lookups</a:t>
              </a:r>
              <a:r>
                <a:rPr i="1" lang="en" sz="1000">
                  <a:solidFill>
                    <a:srgbClr val="CFE9E8"/>
                  </a:solidFill>
                  <a:latin typeface="Calibri"/>
                  <a:ea typeface="Calibri"/>
                  <a:cs typeface="Calibri"/>
                  <a:sym typeface="Calibri"/>
                </a:rPr>
                <a:t> — it changes how claims get triaged entirely.</a:t>
              </a:r>
              <a:endParaRPr i="1" sz="1000">
                <a:solidFill>
                  <a:srgbClr val="CFE9E8"/>
                </a:solidFill>
                <a:latin typeface="Calibri"/>
                <a:ea typeface="Calibri"/>
                <a:cs typeface="Calibri"/>
                <a:sym typeface="Calibri"/>
              </a:endParaRPr>
            </a:p>
          </p:txBody>
        </p:sp>
      </p:grpSp>
      <p:pic>
        <p:nvPicPr>
          <p:cNvPr id="345" name="Google Shape;345;p28" title="STREAMLIT_MEDIA_FILE_E7251326BB6F491788A5E45AD5FFB55C.png"/>
          <p:cNvPicPr preferRelativeResize="0"/>
          <p:nvPr/>
        </p:nvPicPr>
        <p:blipFill rotWithShape="1">
          <a:blip r:embed="rId4">
            <a:alphaModFix/>
          </a:blip>
          <a:srcRect b="12381" l="3078" r="70812" t="0"/>
          <a:stretch/>
        </p:blipFill>
        <p:spPr>
          <a:xfrm>
            <a:off x="8386232" y="38775"/>
            <a:ext cx="638443" cy="704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9" name="Shape 349"/>
        <p:cNvGrpSpPr/>
        <p:nvPr/>
      </p:nvGrpSpPr>
      <p:grpSpPr>
        <a:xfrm>
          <a:off x="0" y="0"/>
          <a:ext cx="0" cy="0"/>
          <a:chOff x="0" y="0"/>
          <a:chExt cx="0" cy="0"/>
        </a:xfrm>
      </p:grpSpPr>
      <p:pic>
        <p:nvPicPr>
          <p:cNvPr id="350" name="Google Shape;350;p29"/>
          <p:cNvPicPr preferRelativeResize="0"/>
          <p:nvPr/>
        </p:nvPicPr>
        <p:blipFill rotWithShape="1">
          <a:blip r:embed="rId4">
            <a:alphaModFix/>
          </a:blip>
          <a:srcRect b="14008" l="3078" r="70812" t="2163"/>
          <a:stretch/>
        </p:blipFill>
        <p:spPr>
          <a:xfrm>
            <a:off x="8386229" y="38775"/>
            <a:ext cx="638400" cy="704100"/>
          </a:xfrm>
          <a:prstGeom prst="rect">
            <a:avLst/>
          </a:prstGeom>
          <a:noFill/>
          <a:ln>
            <a:noFill/>
          </a:ln>
        </p:spPr>
      </p:pic>
      <p:sp>
        <p:nvSpPr>
          <p:cNvPr id="351" name="Google Shape;351;p29"/>
          <p:cNvSpPr txBox="1"/>
          <p:nvPr/>
        </p:nvSpPr>
        <p:spPr>
          <a:xfrm>
            <a:off x="381000" y="190500"/>
            <a:ext cx="76200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i="0" lang="en" sz="2300">
                <a:solidFill>
                  <a:srgbClr val="02C39A"/>
                </a:solidFill>
                <a:latin typeface="Cambria"/>
                <a:ea typeface="Cambria"/>
                <a:cs typeface="Cambria"/>
                <a:sym typeface="Cambria"/>
              </a:rPr>
              <a:t>Expected Outcomes &amp; Measurable Impact</a:t>
            </a:r>
            <a:endParaRPr b="1" i="0" sz="2300">
              <a:solidFill>
                <a:srgbClr val="02C39A"/>
              </a:solidFill>
              <a:latin typeface="Cambria"/>
              <a:ea typeface="Cambria"/>
              <a:cs typeface="Cambria"/>
              <a:sym typeface="Cambria"/>
            </a:endParaRPr>
          </a:p>
          <a:p>
            <a:pPr indent="0" lvl="0" marL="0" rtl="0" algn="l">
              <a:spcBef>
                <a:spcPts val="300"/>
              </a:spcBef>
              <a:spcAft>
                <a:spcPts val="0"/>
              </a:spcAft>
              <a:buNone/>
            </a:pPr>
            <a:r>
              <a:rPr b="0" i="1" lang="en" sz="1100">
                <a:solidFill>
                  <a:srgbClr val="8EC3C1"/>
                </a:solidFill>
                <a:latin typeface="Calibri"/>
                <a:ea typeface="Calibri"/>
                <a:cs typeface="Calibri"/>
                <a:sym typeface="Calibri"/>
              </a:rPr>
              <a:t>Quantifiable business value delivered by AI-driven claims triage</a:t>
            </a:r>
            <a:endParaRPr b="0" i="1" sz="1100">
              <a:solidFill>
                <a:srgbClr val="8EC3C1"/>
              </a:solidFill>
              <a:latin typeface="Calibri"/>
              <a:ea typeface="Calibri"/>
              <a:cs typeface="Calibri"/>
              <a:sym typeface="Calibri"/>
            </a:endParaRPr>
          </a:p>
        </p:txBody>
      </p:sp>
      <p:grpSp>
        <p:nvGrpSpPr>
          <p:cNvPr id="352" name="Google Shape;352;p29"/>
          <p:cNvGrpSpPr/>
          <p:nvPr/>
        </p:nvGrpSpPr>
        <p:grpSpPr>
          <a:xfrm>
            <a:off x="381000" y="904875"/>
            <a:ext cx="1943100" cy="1762200"/>
            <a:chOff x="0" y="0"/>
            <a:chExt cx="1943100" cy="1762200"/>
          </a:xfrm>
        </p:grpSpPr>
        <p:sp>
          <p:nvSpPr>
            <p:cNvPr id="353" name="Google Shape;353;p29"/>
            <p:cNvSpPr/>
            <p:nvPr/>
          </p:nvSpPr>
          <p:spPr>
            <a:xfrm>
              <a:off x="0" y="0"/>
              <a:ext cx="1943100" cy="1762200"/>
            </a:xfrm>
            <a:prstGeom prst="roundRect">
              <a:avLst>
                <a:gd fmla="val 4324" name="adj"/>
              </a:avLst>
            </a:prstGeom>
            <a:solidFill>
              <a:srgbClr val="FFFFFF"/>
            </a:solidFill>
            <a:ln cap="flat" cmpd="sng" w="9525">
              <a:solidFill>
                <a:srgbClr val="CAD8D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4" name="Google Shape;354;p29"/>
            <p:cNvSpPr txBox="1"/>
            <p:nvPr/>
          </p:nvSpPr>
          <p:spPr>
            <a:xfrm>
              <a:off x="133350" y="133350"/>
              <a:ext cx="1676400" cy="1495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3000">
                  <a:solidFill>
                    <a:srgbClr val="028090"/>
                  </a:solidFill>
                  <a:latin typeface="Calibri"/>
                  <a:ea typeface="Calibri"/>
                  <a:cs typeface="Calibri"/>
                  <a:sym typeface="Calibri"/>
                </a:rPr>
                <a:t>80%</a:t>
              </a:r>
              <a:endParaRPr b="1" sz="3000">
                <a:solidFill>
                  <a:srgbClr val="028090"/>
                </a:solidFill>
                <a:latin typeface="Calibri"/>
                <a:ea typeface="Calibri"/>
                <a:cs typeface="Calibri"/>
                <a:sym typeface="Calibri"/>
              </a:endParaRPr>
            </a:p>
            <a:p>
              <a:pPr indent="0" lvl="0" marL="0" rtl="0" algn="ctr">
                <a:spcBef>
                  <a:spcPts val="450"/>
                </a:spcBef>
                <a:spcAft>
                  <a:spcPts val="0"/>
                </a:spcAft>
                <a:buNone/>
              </a:pPr>
              <a:r>
                <a:rPr b="1" lang="en" sz="1200">
                  <a:solidFill>
                    <a:srgbClr val="1A1A1A"/>
                  </a:solidFill>
                  <a:latin typeface="Cambria"/>
                  <a:ea typeface="Cambria"/>
                  <a:cs typeface="Cambria"/>
                  <a:sym typeface="Cambria"/>
                </a:rPr>
                <a:t>Claims Fast-Tracked</a:t>
              </a:r>
              <a:endParaRPr b="1" sz="1200">
                <a:solidFill>
                  <a:srgbClr val="1A1A1A"/>
                </a:solidFill>
                <a:latin typeface="Cambria"/>
                <a:ea typeface="Cambria"/>
                <a:cs typeface="Cambria"/>
                <a:sym typeface="Cambria"/>
              </a:endParaRPr>
            </a:p>
            <a:p>
              <a:pPr indent="0" lvl="0" marL="0" rtl="0" algn="ctr">
                <a:spcBef>
                  <a:spcPts val="600"/>
                </a:spcBef>
                <a:spcAft>
                  <a:spcPts val="0"/>
                </a:spcAft>
                <a:buNone/>
              </a:pPr>
              <a:r>
                <a:rPr b="0" lang="en" sz="950">
                  <a:solidFill>
                    <a:srgbClr val="5B6B6B"/>
                  </a:solidFill>
                  <a:latin typeface="Calibri"/>
                  <a:ea typeface="Calibri"/>
                  <a:cs typeface="Calibri"/>
                  <a:sym typeface="Calibri"/>
                </a:rPr>
                <a:t>Low-risk claims identified instantly by AI — skip full manual review</a:t>
              </a:r>
              <a:endParaRPr b="0" sz="950">
                <a:solidFill>
                  <a:srgbClr val="5B6B6B"/>
                </a:solidFill>
                <a:latin typeface="Calibri"/>
                <a:ea typeface="Calibri"/>
                <a:cs typeface="Calibri"/>
                <a:sym typeface="Calibri"/>
              </a:endParaRPr>
            </a:p>
          </p:txBody>
        </p:sp>
      </p:grpSp>
      <p:grpSp>
        <p:nvGrpSpPr>
          <p:cNvPr id="355" name="Google Shape;355;p29"/>
          <p:cNvGrpSpPr/>
          <p:nvPr/>
        </p:nvGrpSpPr>
        <p:grpSpPr>
          <a:xfrm>
            <a:off x="2476500" y="904875"/>
            <a:ext cx="1943100" cy="1762200"/>
            <a:chOff x="0" y="0"/>
            <a:chExt cx="1943100" cy="1762200"/>
          </a:xfrm>
        </p:grpSpPr>
        <p:sp>
          <p:nvSpPr>
            <p:cNvPr id="356" name="Google Shape;356;p29"/>
            <p:cNvSpPr/>
            <p:nvPr/>
          </p:nvSpPr>
          <p:spPr>
            <a:xfrm>
              <a:off x="0" y="0"/>
              <a:ext cx="1943100" cy="1762200"/>
            </a:xfrm>
            <a:prstGeom prst="roundRect">
              <a:avLst>
                <a:gd fmla="val 4324" name="adj"/>
              </a:avLst>
            </a:prstGeom>
            <a:solidFill>
              <a:srgbClr val="FFFFFF"/>
            </a:solidFill>
            <a:ln cap="flat" cmpd="sng" w="9525">
              <a:solidFill>
                <a:srgbClr val="CAD8D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7" name="Google Shape;357;p29"/>
            <p:cNvSpPr txBox="1"/>
            <p:nvPr/>
          </p:nvSpPr>
          <p:spPr>
            <a:xfrm>
              <a:off x="133350" y="133350"/>
              <a:ext cx="1676400" cy="1495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3000">
                  <a:solidFill>
                    <a:srgbClr val="028090"/>
                  </a:solidFill>
                  <a:latin typeface="Calibri"/>
                  <a:ea typeface="Calibri"/>
                  <a:cs typeface="Calibri"/>
                  <a:sym typeface="Calibri"/>
                </a:rPr>
                <a:t>100%</a:t>
              </a:r>
              <a:endParaRPr b="1" sz="3000">
                <a:solidFill>
                  <a:srgbClr val="028090"/>
                </a:solidFill>
                <a:latin typeface="Calibri"/>
                <a:ea typeface="Calibri"/>
                <a:cs typeface="Calibri"/>
                <a:sym typeface="Calibri"/>
              </a:endParaRPr>
            </a:p>
            <a:p>
              <a:pPr indent="0" lvl="0" marL="0" rtl="0" algn="ctr">
                <a:spcBef>
                  <a:spcPts val="450"/>
                </a:spcBef>
                <a:spcAft>
                  <a:spcPts val="0"/>
                </a:spcAft>
                <a:buNone/>
              </a:pPr>
              <a:r>
                <a:rPr b="1" lang="en" sz="1200">
                  <a:solidFill>
                    <a:srgbClr val="1A1A1A"/>
                  </a:solidFill>
                  <a:latin typeface="Cambria"/>
                  <a:ea typeface="Cambria"/>
                  <a:cs typeface="Cambria"/>
                  <a:sym typeface="Cambria"/>
                </a:rPr>
                <a:t>Consistency</a:t>
              </a:r>
              <a:endParaRPr b="1" sz="1200">
                <a:solidFill>
                  <a:srgbClr val="1A1A1A"/>
                </a:solidFill>
                <a:latin typeface="Cambria"/>
                <a:ea typeface="Cambria"/>
                <a:cs typeface="Cambria"/>
                <a:sym typeface="Cambria"/>
              </a:endParaRPr>
            </a:p>
            <a:p>
              <a:pPr indent="0" lvl="0" marL="0" rtl="0" algn="ctr">
                <a:spcBef>
                  <a:spcPts val="600"/>
                </a:spcBef>
                <a:spcAft>
                  <a:spcPts val="0"/>
                </a:spcAft>
                <a:buNone/>
              </a:pPr>
              <a:r>
                <a:rPr b="0" lang="en" sz="950">
                  <a:solidFill>
                    <a:srgbClr val="5B6B6B"/>
                  </a:solidFill>
                  <a:latin typeface="Calibri"/>
                  <a:ea typeface="Calibri"/>
                  <a:cs typeface="Calibri"/>
                  <a:sym typeface="Calibri"/>
                </a:rPr>
                <a:t>Every claim gets the same checks every time, regardless of workload</a:t>
              </a:r>
              <a:endParaRPr b="0" sz="950">
                <a:solidFill>
                  <a:srgbClr val="5B6B6B"/>
                </a:solidFill>
                <a:latin typeface="Calibri"/>
                <a:ea typeface="Calibri"/>
                <a:cs typeface="Calibri"/>
                <a:sym typeface="Calibri"/>
              </a:endParaRPr>
            </a:p>
          </p:txBody>
        </p:sp>
      </p:grpSp>
      <p:grpSp>
        <p:nvGrpSpPr>
          <p:cNvPr id="358" name="Google Shape;358;p29"/>
          <p:cNvGrpSpPr/>
          <p:nvPr/>
        </p:nvGrpSpPr>
        <p:grpSpPr>
          <a:xfrm>
            <a:off x="4572000" y="904875"/>
            <a:ext cx="1943100" cy="1762200"/>
            <a:chOff x="0" y="0"/>
            <a:chExt cx="1943100" cy="1762200"/>
          </a:xfrm>
        </p:grpSpPr>
        <p:sp>
          <p:nvSpPr>
            <p:cNvPr id="359" name="Google Shape;359;p29"/>
            <p:cNvSpPr/>
            <p:nvPr/>
          </p:nvSpPr>
          <p:spPr>
            <a:xfrm>
              <a:off x="0" y="0"/>
              <a:ext cx="1943100" cy="1762200"/>
            </a:xfrm>
            <a:prstGeom prst="roundRect">
              <a:avLst>
                <a:gd fmla="val 4324" name="adj"/>
              </a:avLst>
            </a:prstGeom>
            <a:solidFill>
              <a:srgbClr val="FFFFFF"/>
            </a:solidFill>
            <a:ln cap="flat" cmpd="sng" w="9525">
              <a:solidFill>
                <a:srgbClr val="CAD8D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0" name="Google Shape;360;p29"/>
            <p:cNvSpPr txBox="1"/>
            <p:nvPr/>
          </p:nvSpPr>
          <p:spPr>
            <a:xfrm>
              <a:off x="133350" y="133350"/>
              <a:ext cx="1676400" cy="1495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3000">
                  <a:solidFill>
                    <a:srgbClr val="028090"/>
                  </a:solidFill>
                  <a:latin typeface="Calibri"/>
                  <a:ea typeface="Calibri"/>
                  <a:cs typeface="Calibri"/>
                  <a:sym typeface="Calibri"/>
                </a:rPr>
                <a:t>0</a:t>
              </a:r>
              <a:endParaRPr b="1" sz="3000">
                <a:solidFill>
                  <a:srgbClr val="028090"/>
                </a:solidFill>
                <a:latin typeface="Calibri"/>
                <a:ea typeface="Calibri"/>
                <a:cs typeface="Calibri"/>
                <a:sym typeface="Calibri"/>
              </a:endParaRPr>
            </a:p>
            <a:p>
              <a:pPr indent="0" lvl="0" marL="0" rtl="0" algn="ctr">
                <a:spcBef>
                  <a:spcPts val="450"/>
                </a:spcBef>
                <a:spcAft>
                  <a:spcPts val="0"/>
                </a:spcAft>
                <a:buNone/>
              </a:pPr>
              <a:r>
                <a:rPr b="1" lang="en" sz="1200">
                  <a:solidFill>
                    <a:srgbClr val="1A1A1A"/>
                  </a:solidFill>
                  <a:latin typeface="Cambria"/>
                  <a:ea typeface="Cambria"/>
                  <a:cs typeface="Cambria"/>
                  <a:sym typeface="Cambria"/>
                </a:rPr>
                <a:t>New Infrastructure</a:t>
              </a:r>
              <a:endParaRPr b="1" sz="1200">
                <a:solidFill>
                  <a:srgbClr val="1A1A1A"/>
                </a:solidFill>
                <a:latin typeface="Cambria"/>
                <a:ea typeface="Cambria"/>
                <a:cs typeface="Cambria"/>
                <a:sym typeface="Cambria"/>
              </a:endParaRPr>
            </a:p>
            <a:p>
              <a:pPr indent="0" lvl="0" marL="0" rtl="0" algn="ctr">
                <a:spcBef>
                  <a:spcPts val="600"/>
                </a:spcBef>
                <a:spcAft>
                  <a:spcPts val="0"/>
                </a:spcAft>
                <a:buNone/>
              </a:pPr>
              <a:r>
                <a:rPr b="0" lang="en" sz="950">
                  <a:solidFill>
                    <a:srgbClr val="5B6B6B"/>
                  </a:solidFill>
                  <a:latin typeface="Calibri"/>
                  <a:ea typeface="Calibri"/>
                  <a:cs typeface="Calibri"/>
                  <a:sym typeface="Calibri"/>
                </a:rPr>
                <a:t>Built entirely on Snowflake Cortex, Streamlit, and existing warehouse data</a:t>
              </a:r>
              <a:endParaRPr b="0" sz="950">
                <a:solidFill>
                  <a:srgbClr val="5B6B6B"/>
                </a:solidFill>
                <a:latin typeface="Calibri"/>
                <a:ea typeface="Calibri"/>
                <a:cs typeface="Calibri"/>
                <a:sym typeface="Calibri"/>
              </a:endParaRPr>
            </a:p>
          </p:txBody>
        </p:sp>
      </p:grpSp>
      <p:grpSp>
        <p:nvGrpSpPr>
          <p:cNvPr id="361" name="Google Shape;361;p29"/>
          <p:cNvGrpSpPr/>
          <p:nvPr/>
        </p:nvGrpSpPr>
        <p:grpSpPr>
          <a:xfrm>
            <a:off x="6667500" y="904875"/>
            <a:ext cx="1943100" cy="1762200"/>
            <a:chOff x="0" y="0"/>
            <a:chExt cx="1943100" cy="1762200"/>
          </a:xfrm>
        </p:grpSpPr>
        <p:sp>
          <p:nvSpPr>
            <p:cNvPr id="362" name="Google Shape;362;p29"/>
            <p:cNvSpPr/>
            <p:nvPr/>
          </p:nvSpPr>
          <p:spPr>
            <a:xfrm>
              <a:off x="0" y="0"/>
              <a:ext cx="1943100" cy="1762200"/>
            </a:xfrm>
            <a:prstGeom prst="roundRect">
              <a:avLst>
                <a:gd fmla="val 4324" name="adj"/>
              </a:avLst>
            </a:prstGeom>
            <a:solidFill>
              <a:srgbClr val="FFFFFF"/>
            </a:solidFill>
            <a:ln cap="flat" cmpd="sng" w="9525">
              <a:solidFill>
                <a:srgbClr val="CAD8D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3" name="Google Shape;363;p29"/>
            <p:cNvSpPr txBox="1"/>
            <p:nvPr/>
          </p:nvSpPr>
          <p:spPr>
            <a:xfrm>
              <a:off x="133350" y="133350"/>
              <a:ext cx="1676400" cy="1495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3000">
                  <a:solidFill>
                    <a:srgbClr val="028090"/>
                  </a:solidFill>
                  <a:latin typeface="Calibri"/>
                  <a:ea typeface="Calibri"/>
                  <a:cs typeface="Calibri"/>
                  <a:sym typeface="Calibri"/>
                </a:rPr>
                <a:t>~90%</a:t>
              </a:r>
              <a:endParaRPr b="1" sz="3000">
                <a:solidFill>
                  <a:srgbClr val="028090"/>
                </a:solidFill>
                <a:latin typeface="Calibri"/>
                <a:ea typeface="Calibri"/>
                <a:cs typeface="Calibri"/>
                <a:sym typeface="Calibri"/>
              </a:endParaRPr>
            </a:p>
            <a:p>
              <a:pPr indent="0" lvl="0" marL="0" rtl="0" algn="ctr">
                <a:spcBef>
                  <a:spcPts val="450"/>
                </a:spcBef>
                <a:spcAft>
                  <a:spcPts val="0"/>
                </a:spcAft>
                <a:buNone/>
              </a:pPr>
              <a:r>
                <a:rPr b="1" lang="en" sz="1200">
                  <a:solidFill>
                    <a:srgbClr val="1A1A1A"/>
                  </a:solidFill>
                  <a:latin typeface="Cambria"/>
                  <a:ea typeface="Cambria"/>
                  <a:cs typeface="Cambria"/>
                  <a:sym typeface="Cambria"/>
                </a:rPr>
                <a:t>Triage Time Saved</a:t>
              </a:r>
              <a:endParaRPr b="1" sz="1200">
                <a:solidFill>
                  <a:srgbClr val="1A1A1A"/>
                </a:solidFill>
                <a:latin typeface="Cambria"/>
                <a:ea typeface="Cambria"/>
                <a:cs typeface="Cambria"/>
                <a:sym typeface="Cambria"/>
              </a:endParaRPr>
            </a:p>
            <a:p>
              <a:pPr indent="0" lvl="0" marL="0" rtl="0" algn="ctr">
                <a:spcBef>
                  <a:spcPts val="600"/>
                </a:spcBef>
                <a:spcAft>
                  <a:spcPts val="0"/>
                </a:spcAft>
                <a:buNone/>
              </a:pPr>
              <a:r>
                <a:rPr b="0" lang="en" sz="950">
                  <a:solidFill>
                    <a:srgbClr val="5B6B6B"/>
                  </a:solidFill>
                  <a:latin typeface="Calibri"/>
                  <a:ea typeface="Calibri"/>
                  <a:cs typeface="Calibri"/>
                  <a:sym typeface="Calibri"/>
                </a:rPr>
                <a:t>Seconds for AI verdict vs hours of manual cross-referencing across systems</a:t>
              </a:r>
              <a:endParaRPr b="0" sz="950">
                <a:solidFill>
                  <a:srgbClr val="5B6B6B"/>
                </a:solidFill>
                <a:latin typeface="Calibri"/>
                <a:ea typeface="Calibri"/>
                <a:cs typeface="Calibri"/>
                <a:sym typeface="Calibri"/>
              </a:endParaRPr>
            </a:p>
          </p:txBody>
        </p:sp>
      </p:grpSp>
      <p:grpSp>
        <p:nvGrpSpPr>
          <p:cNvPr id="364" name="Google Shape;364;p29"/>
          <p:cNvGrpSpPr/>
          <p:nvPr/>
        </p:nvGrpSpPr>
        <p:grpSpPr>
          <a:xfrm>
            <a:off x="381000" y="2838450"/>
            <a:ext cx="4019700" cy="838200"/>
            <a:chOff x="0" y="0"/>
            <a:chExt cx="4019700" cy="838200"/>
          </a:xfrm>
        </p:grpSpPr>
        <p:sp>
          <p:nvSpPr>
            <p:cNvPr id="365" name="Google Shape;365;p29"/>
            <p:cNvSpPr/>
            <p:nvPr/>
          </p:nvSpPr>
          <p:spPr>
            <a:xfrm>
              <a:off x="0" y="0"/>
              <a:ext cx="4019700" cy="838200"/>
            </a:xfrm>
            <a:prstGeom prst="roundRect">
              <a:avLst>
                <a:gd fmla="val 6818" name="adj"/>
              </a:avLst>
            </a:prstGeom>
            <a:solidFill>
              <a:srgbClr val="072226"/>
            </a:solidFill>
            <a:ln cap="flat" cmpd="sng" w="9525">
              <a:solidFill>
                <a:srgbClr val="1A4A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6" name="Google Shape;366;p29"/>
            <p:cNvSpPr txBox="1"/>
            <p:nvPr/>
          </p:nvSpPr>
          <p:spPr>
            <a:xfrm>
              <a:off x="152400" y="114300"/>
              <a:ext cx="37149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02C39A"/>
                  </a:solidFill>
                  <a:latin typeface="Calibri"/>
                  <a:ea typeface="Calibri"/>
                  <a:cs typeface="Calibri"/>
                  <a:sym typeface="Calibri"/>
                </a:rPr>
                <a:t>✦ Fraud Detection Accuracy</a:t>
              </a:r>
              <a:endParaRPr b="1" sz="1100">
                <a:solidFill>
                  <a:srgbClr val="02C39A"/>
                </a:solidFill>
                <a:latin typeface="Calibri"/>
                <a:ea typeface="Calibri"/>
                <a:cs typeface="Calibri"/>
                <a:sym typeface="Calibri"/>
              </a:endParaRPr>
            </a:p>
            <a:p>
              <a:pPr indent="0" lvl="0" marL="0" rtl="0" algn="l">
                <a:spcBef>
                  <a:spcPts val="300"/>
                </a:spcBef>
                <a:spcAft>
                  <a:spcPts val="0"/>
                </a:spcAft>
                <a:buNone/>
              </a:pPr>
              <a:r>
                <a:rPr lang="en" sz="950">
                  <a:solidFill>
                    <a:srgbClr val="CFE9E8"/>
                  </a:solidFill>
                  <a:latin typeface="Calibri"/>
                  <a:ea typeface="Calibri"/>
                  <a:cs typeface="Calibri"/>
                  <a:sym typeface="Calibri"/>
                </a:rPr>
                <a:t>AI-scored fraud probability enables data-driven investigation prioritization.</a:t>
              </a:r>
              <a:endParaRPr sz="950">
                <a:solidFill>
                  <a:srgbClr val="CFE9E8"/>
                </a:solidFill>
                <a:latin typeface="Calibri"/>
                <a:ea typeface="Calibri"/>
                <a:cs typeface="Calibri"/>
                <a:sym typeface="Calibri"/>
              </a:endParaRPr>
            </a:p>
          </p:txBody>
        </p:sp>
      </p:grpSp>
      <p:grpSp>
        <p:nvGrpSpPr>
          <p:cNvPr id="367" name="Google Shape;367;p29"/>
          <p:cNvGrpSpPr/>
          <p:nvPr/>
        </p:nvGrpSpPr>
        <p:grpSpPr>
          <a:xfrm>
            <a:off x="4743450" y="2838450"/>
            <a:ext cx="4019700" cy="838200"/>
            <a:chOff x="0" y="0"/>
            <a:chExt cx="4019700" cy="838200"/>
          </a:xfrm>
        </p:grpSpPr>
        <p:sp>
          <p:nvSpPr>
            <p:cNvPr id="368" name="Google Shape;368;p29"/>
            <p:cNvSpPr/>
            <p:nvPr/>
          </p:nvSpPr>
          <p:spPr>
            <a:xfrm>
              <a:off x="0" y="0"/>
              <a:ext cx="4019700" cy="838200"/>
            </a:xfrm>
            <a:prstGeom prst="roundRect">
              <a:avLst>
                <a:gd fmla="val 6818" name="adj"/>
              </a:avLst>
            </a:prstGeom>
            <a:solidFill>
              <a:srgbClr val="072226"/>
            </a:solidFill>
            <a:ln cap="flat" cmpd="sng" w="9525">
              <a:solidFill>
                <a:srgbClr val="1A4A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9" name="Google Shape;369;p29"/>
            <p:cNvSpPr txBox="1"/>
            <p:nvPr/>
          </p:nvSpPr>
          <p:spPr>
            <a:xfrm>
              <a:off x="152400" y="114300"/>
              <a:ext cx="37149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02C39A"/>
                  </a:solidFill>
                  <a:latin typeface="Calibri"/>
                  <a:ea typeface="Calibri"/>
                  <a:cs typeface="Calibri"/>
                  <a:sym typeface="Calibri"/>
                </a:rPr>
                <a:t>✦ Cost Savings</a:t>
              </a:r>
              <a:endParaRPr b="1" sz="1100">
                <a:solidFill>
                  <a:srgbClr val="02C39A"/>
                </a:solidFill>
                <a:latin typeface="Calibri"/>
                <a:ea typeface="Calibri"/>
                <a:cs typeface="Calibri"/>
                <a:sym typeface="Calibri"/>
              </a:endParaRPr>
            </a:p>
            <a:p>
              <a:pPr indent="0" lvl="0" marL="0" rtl="0" algn="l">
                <a:spcBef>
                  <a:spcPts val="300"/>
                </a:spcBef>
                <a:spcAft>
                  <a:spcPts val="0"/>
                </a:spcAft>
                <a:buNone/>
              </a:pPr>
              <a:r>
                <a:rPr lang="en" sz="950">
                  <a:solidFill>
                    <a:srgbClr val="CFE9E8"/>
                  </a:solidFill>
                  <a:latin typeface="Calibri"/>
                  <a:ea typeface="Calibri"/>
                  <a:cs typeface="Calibri"/>
                  <a:sym typeface="Calibri"/>
                </a:rPr>
                <a:t>Reduce fraud investigation team scaling needs — AI handles triage at any volume.</a:t>
              </a:r>
              <a:endParaRPr sz="950">
                <a:solidFill>
                  <a:srgbClr val="CFE9E8"/>
                </a:solidFill>
                <a:latin typeface="Calibri"/>
                <a:ea typeface="Calibri"/>
                <a:cs typeface="Calibri"/>
                <a:sym typeface="Calibri"/>
              </a:endParaRPr>
            </a:p>
          </p:txBody>
        </p:sp>
      </p:grpSp>
      <p:grpSp>
        <p:nvGrpSpPr>
          <p:cNvPr id="370" name="Google Shape;370;p29"/>
          <p:cNvGrpSpPr/>
          <p:nvPr/>
        </p:nvGrpSpPr>
        <p:grpSpPr>
          <a:xfrm>
            <a:off x="381000" y="3771900"/>
            <a:ext cx="4019700" cy="838200"/>
            <a:chOff x="0" y="0"/>
            <a:chExt cx="4019700" cy="838200"/>
          </a:xfrm>
        </p:grpSpPr>
        <p:sp>
          <p:nvSpPr>
            <p:cNvPr id="371" name="Google Shape;371;p29"/>
            <p:cNvSpPr/>
            <p:nvPr/>
          </p:nvSpPr>
          <p:spPr>
            <a:xfrm>
              <a:off x="0" y="0"/>
              <a:ext cx="4019700" cy="838200"/>
            </a:xfrm>
            <a:prstGeom prst="roundRect">
              <a:avLst>
                <a:gd fmla="val 6818" name="adj"/>
              </a:avLst>
            </a:prstGeom>
            <a:solidFill>
              <a:srgbClr val="072226"/>
            </a:solidFill>
            <a:ln cap="flat" cmpd="sng" w="9525">
              <a:solidFill>
                <a:srgbClr val="1A4A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2" name="Google Shape;372;p29"/>
            <p:cNvSpPr txBox="1"/>
            <p:nvPr/>
          </p:nvSpPr>
          <p:spPr>
            <a:xfrm>
              <a:off x="152400" y="114300"/>
              <a:ext cx="37149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02C39A"/>
                  </a:solidFill>
                  <a:latin typeface="Calibri"/>
                  <a:ea typeface="Calibri"/>
                  <a:cs typeface="Calibri"/>
                  <a:sym typeface="Calibri"/>
                </a:rPr>
                <a:t>✦ Customer Satisfaction</a:t>
              </a:r>
              <a:endParaRPr b="1" sz="1100">
                <a:solidFill>
                  <a:srgbClr val="02C39A"/>
                </a:solidFill>
                <a:latin typeface="Calibri"/>
                <a:ea typeface="Calibri"/>
                <a:cs typeface="Calibri"/>
                <a:sym typeface="Calibri"/>
              </a:endParaRPr>
            </a:p>
            <a:p>
              <a:pPr indent="0" lvl="0" marL="0" rtl="0" algn="l">
                <a:spcBef>
                  <a:spcPts val="300"/>
                </a:spcBef>
                <a:spcAft>
                  <a:spcPts val="0"/>
                </a:spcAft>
                <a:buNone/>
              </a:pPr>
              <a:r>
                <a:rPr lang="en" sz="950">
                  <a:solidFill>
                    <a:srgbClr val="CFE9E8"/>
                  </a:solidFill>
                  <a:latin typeface="Calibri"/>
                  <a:ea typeface="Calibri"/>
                  <a:cs typeface="Calibri"/>
                  <a:sym typeface="Calibri"/>
                </a:rPr>
                <a:t>Faster payouts for genuine claims — 80% processed without full manual review.</a:t>
              </a:r>
              <a:endParaRPr sz="950">
                <a:solidFill>
                  <a:srgbClr val="CFE9E8"/>
                </a:solidFill>
                <a:latin typeface="Calibri"/>
                <a:ea typeface="Calibri"/>
                <a:cs typeface="Calibri"/>
                <a:sym typeface="Calibri"/>
              </a:endParaRPr>
            </a:p>
          </p:txBody>
        </p:sp>
      </p:grpSp>
      <p:grpSp>
        <p:nvGrpSpPr>
          <p:cNvPr id="373" name="Google Shape;373;p29"/>
          <p:cNvGrpSpPr/>
          <p:nvPr/>
        </p:nvGrpSpPr>
        <p:grpSpPr>
          <a:xfrm>
            <a:off x="4743450" y="3771900"/>
            <a:ext cx="4019700" cy="838200"/>
            <a:chOff x="0" y="0"/>
            <a:chExt cx="4019700" cy="838200"/>
          </a:xfrm>
        </p:grpSpPr>
        <p:sp>
          <p:nvSpPr>
            <p:cNvPr id="374" name="Google Shape;374;p29"/>
            <p:cNvSpPr/>
            <p:nvPr/>
          </p:nvSpPr>
          <p:spPr>
            <a:xfrm>
              <a:off x="0" y="0"/>
              <a:ext cx="4019700" cy="838200"/>
            </a:xfrm>
            <a:prstGeom prst="roundRect">
              <a:avLst>
                <a:gd fmla="val 6818" name="adj"/>
              </a:avLst>
            </a:prstGeom>
            <a:solidFill>
              <a:srgbClr val="072226"/>
            </a:solidFill>
            <a:ln cap="flat" cmpd="sng" w="9525">
              <a:solidFill>
                <a:srgbClr val="1A4A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5" name="Google Shape;375;p29"/>
            <p:cNvSpPr txBox="1"/>
            <p:nvPr/>
          </p:nvSpPr>
          <p:spPr>
            <a:xfrm>
              <a:off x="152400" y="114300"/>
              <a:ext cx="37149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02C39A"/>
                  </a:solidFill>
                  <a:latin typeface="Calibri"/>
                  <a:ea typeface="Calibri"/>
                  <a:cs typeface="Calibri"/>
                  <a:sym typeface="Calibri"/>
                </a:rPr>
                <a:t>✦ Data Trust</a:t>
              </a:r>
              <a:endParaRPr b="1" sz="1100">
                <a:solidFill>
                  <a:srgbClr val="02C39A"/>
                </a:solidFill>
                <a:latin typeface="Calibri"/>
                <a:ea typeface="Calibri"/>
                <a:cs typeface="Calibri"/>
                <a:sym typeface="Calibri"/>
              </a:endParaRPr>
            </a:p>
            <a:p>
              <a:pPr indent="0" lvl="0" marL="0" rtl="0" algn="l">
                <a:spcBef>
                  <a:spcPts val="300"/>
                </a:spcBef>
                <a:spcAft>
                  <a:spcPts val="0"/>
                </a:spcAft>
                <a:buNone/>
              </a:pPr>
              <a:r>
                <a:rPr lang="en" sz="950">
                  <a:solidFill>
                    <a:srgbClr val="CFE9E8"/>
                  </a:solidFill>
                  <a:latin typeface="Calibri"/>
                  <a:ea typeface="Calibri"/>
                  <a:cs typeface="Calibri"/>
                  <a:sym typeface="Calibri"/>
                </a:rPr>
                <a:t>Built-in Data Quality monitoring ensures AI verdicts are based on reliable, timely data.</a:t>
              </a:r>
              <a:endParaRPr sz="950">
                <a:solidFill>
                  <a:srgbClr val="CFE9E8"/>
                </a:solidFill>
                <a:latin typeface="Calibri"/>
                <a:ea typeface="Calibri"/>
                <a:cs typeface="Calibri"/>
                <a:sym typeface="Calibri"/>
              </a:endParaRPr>
            </a:p>
          </p:txBody>
        </p:sp>
      </p:grpSp>
      <p:grpSp>
        <p:nvGrpSpPr>
          <p:cNvPr id="376" name="Google Shape;376;p29"/>
          <p:cNvGrpSpPr/>
          <p:nvPr/>
        </p:nvGrpSpPr>
        <p:grpSpPr>
          <a:xfrm>
            <a:off x="0" y="4724400"/>
            <a:ext cx="9144000" cy="419100"/>
            <a:chOff x="0" y="0"/>
            <a:chExt cx="9144000" cy="419100"/>
          </a:xfrm>
        </p:grpSpPr>
        <p:sp>
          <p:nvSpPr>
            <p:cNvPr id="377" name="Google Shape;377;p29"/>
            <p:cNvSpPr/>
            <p:nvPr/>
          </p:nvSpPr>
          <p:spPr>
            <a:xfrm>
              <a:off x="0" y="0"/>
              <a:ext cx="9144000" cy="419100"/>
            </a:xfrm>
            <a:prstGeom prst="rect">
              <a:avLst/>
            </a:prstGeom>
            <a:solidFill>
              <a:srgbClr val="04181B"/>
            </a:solidFill>
            <a:ln cap="flat" cmpd="sng" w="9525">
              <a:solidFill>
                <a:srgbClr val="1A4A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8" name="Google Shape;378;p29"/>
            <p:cNvSpPr txBox="1"/>
            <p:nvPr/>
          </p:nvSpPr>
          <p:spPr>
            <a:xfrm>
              <a:off x="0" y="0"/>
              <a:ext cx="91440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 sz="1000">
                  <a:solidFill>
                    <a:srgbClr val="CFE9E8"/>
                  </a:solidFill>
                  <a:latin typeface="Calibri"/>
                  <a:ea typeface="Calibri"/>
                  <a:cs typeface="Calibri"/>
                  <a:sym typeface="Calibri"/>
                </a:rPr>
                <a:t>⚡ </a:t>
              </a:r>
              <a:r>
                <a:rPr b="1" i="0" lang="en" sz="1000">
                  <a:solidFill>
                    <a:srgbClr val="02C39A"/>
                  </a:solidFill>
                  <a:latin typeface="Calibri"/>
                  <a:ea typeface="Calibri"/>
                  <a:cs typeface="Calibri"/>
                  <a:sym typeface="Calibri"/>
                </a:rPr>
                <a:t>Claims Fraud Triage Copilot</a:t>
              </a:r>
              <a:r>
                <a:rPr i="1" lang="en" sz="1000">
                  <a:solidFill>
                    <a:srgbClr val="CFE9E8"/>
                  </a:solidFill>
                  <a:latin typeface="Calibri"/>
                  <a:ea typeface="Calibri"/>
                  <a:cs typeface="Calibri"/>
                  <a:sym typeface="Calibri"/>
                </a:rPr>
                <a:t> — Powered by Snowflake Cortex for end-to-end operational efficiency.</a:t>
              </a:r>
              <a:endParaRPr i="1" sz="1000">
                <a:solidFill>
                  <a:srgbClr val="CFE9E8"/>
                </a:solidFill>
                <a:latin typeface="Calibri"/>
                <a:ea typeface="Calibri"/>
                <a:cs typeface="Calibri"/>
                <a:sym typeface="Calibri"/>
              </a:endParaRPr>
            </a:p>
          </p:txBody>
        </p:sp>
      </p:grpSp>
      <p:pic>
        <p:nvPicPr>
          <p:cNvPr id="379" name="Google Shape;379;p29" title="STREAMLIT_MEDIA_FILE_E7251326BB6F491788A5E45AD5FFB55C.png"/>
          <p:cNvPicPr preferRelativeResize="0"/>
          <p:nvPr/>
        </p:nvPicPr>
        <p:blipFill rotWithShape="1">
          <a:blip r:embed="rId5">
            <a:alphaModFix/>
          </a:blip>
          <a:srcRect b="12381" l="3078" r="70812" t="0"/>
          <a:stretch/>
        </p:blipFill>
        <p:spPr>
          <a:xfrm>
            <a:off x="8386232" y="38775"/>
            <a:ext cx="638443" cy="704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3" name="Shape 383"/>
        <p:cNvGrpSpPr/>
        <p:nvPr/>
      </p:nvGrpSpPr>
      <p:grpSpPr>
        <a:xfrm>
          <a:off x="0" y="0"/>
          <a:ext cx="0" cy="0"/>
          <a:chOff x="0" y="0"/>
          <a:chExt cx="0" cy="0"/>
        </a:xfrm>
      </p:grpSpPr>
      <p:pic>
        <p:nvPicPr>
          <p:cNvPr id="384" name="Google Shape;384;p30"/>
          <p:cNvPicPr preferRelativeResize="0"/>
          <p:nvPr/>
        </p:nvPicPr>
        <p:blipFill rotWithShape="1">
          <a:blip r:embed="rId4">
            <a:alphaModFix/>
          </a:blip>
          <a:srcRect b="14008" l="3078" r="70812" t="2163"/>
          <a:stretch/>
        </p:blipFill>
        <p:spPr>
          <a:xfrm>
            <a:off x="8386229" y="38775"/>
            <a:ext cx="638400" cy="704100"/>
          </a:xfrm>
          <a:prstGeom prst="rect">
            <a:avLst/>
          </a:prstGeom>
          <a:noFill/>
          <a:ln>
            <a:noFill/>
          </a:ln>
        </p:spPr>
      </p:pic>
      <p:grpSp>
        <p:nvGrpSpPr>
          <p:cNvPr id="385" name="Google Shape;385;p30"/>
          <p:cNvGrpSpPr/>
          <p:nvPr/>
        </p:nvGrpSpPr>
        <p:grpSpPr>
          <a:xfrm>
            <a:off x="0" y="4724400"/>
            <a:ext cx="9144000" cy="419100"/>
            <a:chOff x="0" y="0"/>
            <a:chExt cx="9144000" cy="419100"/>
          </a:xfrm>
        </p:grpSpPr>
        <p:sp>
          <p:nvSpPr>
            <p:cNvPr id="386" name="Google Shape;386;p30"/>
            <p:cNvSpPr/>
            <p:nvPr/>
          </p:nvSpPr>
          <p:spPr>
            <a:xfrm>
              <a:off x="0" y="0"/>
              <a:ext cx="9144000" cy="419100"/>
            </a:xfrm>
            <a:prstGeom prst="rect">
              <a:avLst/>
            </a:prstGeom>
            <a:solidFill>
              <a:srgbClr val="04181B"/>
            </a:solidFill>
            <a:ln cap="flat" cmpd="sng" w="9525">
              <a:solidFill>
                <a:srgbClr val="1A4A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7" name="Google Shape;387;p30"/>
            <p:cNvSpPr txBox="1"/>
            <p:nvPr/>
          </p:nvSpPr>
          <p:spPr>
            <a:xfrm>
              <a:off x="0" y="0"/>
              <a:ext cx="91440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 sz="1000">
                  <a:solidFill>
                    <a:srgbClr val="CFE9E8"/>
                  </a:solidFill>
                  <a:latin typeface="Calibri"/>
                  <a:ea typeface="Calibri"/>
                  <a:cs typeface="Calibri"/>
                  <a:sym typeface="Calibri"/>
                </a:rPr>
                <a:t>⚡ </a:t>
              </a:r>
              <a:r>
                <a:rPr b="1" i="0" lang="en" sz="1000">
                  <a:solidFill>
                    <a:srgbClr val="02C39A"/>
                  </a:solidFill>
                  <a:latin typeface="Calibri"/>
                  <a:ea typeface="Calibri"/>
                  <a:cs typeface="Calibri"/>
                  <a:sym typeface="Calibri"/>
                </a:rPr>
                <a:t>Claims Fraud Triage Copilot</a:t>
              </a:r>
              <a:r>
                <a:rPr i="1" lang="en" sz="1000">
                  <a:solidFill>
                    <a:srgbClr val="CFE9E8"/>
                  </a:solidFill>
                  <a:latin typeface="Calibri"/>
                  <a:ea typeface="Calibri"/>
                  <a:cs typeface="Calibri"/>
                  <a:sym typeface="Calibri"/>
                </a:rPr>
                <a:t> — Powered by Snowflake Cortex for end-to-end operational efficiency.</a:t>
              </a:r>
              <a:endParaRPr i="1" sz="1000">
                <a:solidFill>
                  <a:srgbClr val="CFE9E8"/>
                </a:solidFill>
                <a:latin typeface="Calibri"/>
                <a:ea typeface="Calibri"/>
                <a:cs typeface="Calibri"/>
                <a:sym typeface="Calibri"/>
              </a:endParaRPr>
            </a:p>
          </p:txBody>
        </p:sp>
      </p:grpSp>
      <p:pic>
        <p:nvPicPr>
          <p:cNvPr id="388" name="Google Shape;388;p30" title="STREAMLIT_MEDIA_FILE_E7251326BB6F491788A5E45AD5FFB55C.png"/>
          <p:cNvPicPr preferRelativeResize="0"/>
          <p:nvPr/>
        </p:nvPicPr>
        <p:blipFill rotWithShape="1">
          <a:blip r:embed="rId5">
            <a:alphaModFix/>
          </a:blip>
          <a:srcRect b="12381" l="3078" r="70812" t="0"/>
          <a:stretch/>
        </p:blipFill>
        <p:spPr>
          <a:xfrm>
            <a:off x="8386232" y="38775"/>
            <a:ext cx="638443" cy="704175"/>
          </a:xfrm>
          <a:prstGeom prst="rect">
            <a:avLst/>
          </a:prstGeom>
          <a:noFill/>
          <a:ln>
            <a:noFill/>
          </a:ln>
        </p:spPr>
      </p:pic>
      <p:sp>
        <p:nvSpPr>
          <p:cNvPr id="389" name="Google Shape;389;p30"/>
          <p:cNvSpPr txBox="1"/>
          <p:nvPr/>
        </p:nvSpPr>
        <p:spPr>
          <a:xfrm>
            <a:off x="333375" y="209025"/>
            <a:ext cx="5879700" cy="363600"/>
          </a:xfrm>
          <a:prstGeom prst="rect">
            <a:avLst/>
          </a:prstGeom>
          <a:noFill/>
          <a:ln>
            <a:noFill/>
          </a:ln>
        </p:spPr>
        <p:txBody>
          <a:bodyPr anchorCtr="0" anchor="t" bIns="0" lIns="0" spcFirstLastPara="1" rIns="0" wrap="square" tIns="9525">
            <a:spAutoFit/>
          </a:bodyPr>
          <a:lstStyle/>
          <a:p>
            <a:pPr indent="0" lvl="0" marL="0" rtl="0" algn="l">
              <a:lnSpc>
                <a:spcPct val="100000"/>
              </a:lnSpc>
              <a:spcBef>
                <a:spcPts val="0"/>
              </a:spcBef>
              <a:spcAft>
                <a:spcPts val="0"/>
              </a:spcAft>
              <a:buNone/>
            </a:pPr>
            <a:r>
              <a:rPr b="1" lang="en" sz="2300">
                <a:solidFill>
                  <a:srgbClr val="02C39A"/>
                </a:solidFill>
                <a:latin typeface="Cambria"/>
                <a:ea typeface="Cambria"/>
                <a:cs typeface="Cambria"/>
                <a:sym typeface="Cambria"/>
              </a:rPr>
              <a:t>Streamlit APP User Interface (Agent)</a:t>
            </a:r>
            <a:endParaRPr sz="2300">
              <a:solidFill>
                <a:srgbClr val="02C39A"/>
              </a:solidFill>
              <a:latin typeface="Cambria"/>
              <a:ea typeface="Cambria"/>
              <a:cs typeface="Cambria"/>
              <a:sym typeface="Cambria"/>
            </a:endParaRPr>
          </a:p>
        </p:txBody>
      </p:sp>
      <p:sp>
        <p:nvSpPr>
          <p:cNvPr descr="$PPTXTitle" id="390" name="Google Shape;390;p30"/>
          <p:cNvSpPr txBox="1"/>
          <p:nvPr>
            <p:ph idx="4294967295" type="title"/>
          </p:nvPr>
        </p:nvSpPr>
        <p:spPr>
          <a:xfrm>
            <a:off x="333375" y="606732"/>
            <a:ext cx="7596600" cy="2097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None/>
            </a:pPr>
            <a:r>
              <a:rPr b="0" i="1" lang="en" sz="1300">
                <a:solidFill>
                  <a:srgbClr val="8EC3C1"/>
                </a:solidFill>
              </a:rPr>
              <a:t>The interface: one chat, every question type</a:t>
            </a:r>
            <a:endParaRPr b="0" i="1" sz="1300">
              <a:solidFill>
                <a:srgbClr val="8EC3C1"/>
              </a:solidFill>
            </a:endParaRPr>
          </a:p>
        </p:txBody>
      </p:sp>
      <p:sp>
        <p:nvSpPr>
          <p:cNvPr id="391" name="Google Shape;391;p30"/>
          <p:cNvSpPr txBox="1"/>
          <p:nvPr/>
        </p:nvSpPr>
        <p:spPr>
          <a:xfrm>
            <a:off x="309225" y="840725"/>
            <a:ext cx="4567800" cy="1944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None/>
            </a:pPr>
            <a:r>
              <a:rPr i="1" lang="en" sz="1200">
                <a:solidFill>
                  <a:schemeClr val="accent6"/>
                </a:solidFill>
                <a:latin typeface="Calibri"/>
                <a:ea typeface="Calibri"/>
                <a:cs typeface="Calibri"/>
                <a:sym typeface="Calibri"/>
              </a:rPr>
              <a:t>Question asked: "How’s our claims data quality trending?"</a:t>
            </a:r>
            <a:endParaRPr sz="1200">
              <a:solidFill>
                <a:schemeClr val="accent6"/>
              </a:solidFill>
              <a:latin typeface="Calibri"/>
              <a:ea typeface="Calibri"/>
              <a:cs typeface="Calibri"/>
              <a:sym typeface="Calibri"/>
            </a:endParaRPr>
          </a:p>
        </p:txBody>
      </p:sp>
      <p:pic>
        <p:nvPicPr>
          <p:cNvPr id="392" name="Google Shape;392;p30"/>
          <p:cNvPicPr preferRelativeResize="0"/>
          <p:nvPr/>
        </p:nvPicPr>
        <p:blipFill>
          <a:blip r:embed="rId6">
            <a:alphaModFix/>
          </a:blip>
          <a:stretch>
            <a:fillRect/>
          </a:stretch>
        </p:blipFill>
        <p:spPr>
          <a:xfrm>
            <a:off x="333375" y="1134350"/>
            <a:ext cx="7539734" cy="348636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6" name="Shape 396"/>
        <p:cNvGrpSpPr/>
        <p:nvPr/>
      </p:nvGrpSpPr>
      <p:grpSpPr>
        <a:xfrm>
          <a:off x="0" y="0"/>
          <a:ext cx="0" cy="0"/>
          <a:chOff x="0" y="0"/>
          <a:chExt cx="0" cy="0"/>
        </a:xfrm>
      </p:grpSpPr>
      <p:pic>
        <p:nvPicPr>
          <p:cNvPr id="397" name="Google Shape;397;p31"/>
          <p:cNvPicPr preferRelativeResize="0"/>
          <p:nvPr/>
        </p:nvPicPr>
        <p:blipFill rotWithShape="1">
          <a:blip r:embed="rId4">
            <a:alphaModFix/>
          </a:blip>
          <a:srcRect b="14008" l="3078" r="70812" t="2163"/>
          <a:stretch/>
        </p:blipFill>
        <p:spPr>
          <a:xfrm>
            <a:off x="8386229" y="38775"/>
            <a:ext cx="638400" cy="704100"/>
          </a:xfrm>
          <a:prstGeom prst="rect">
            <a:avLst/>
          </a:prstGeom>
          <a:noFill/>
          <a:ln>
            <a:noFill/>
          </a:ln>
        </p:spPr>
      </p:pic>
      <p:grpSp>
        <p:nvGrpSpPr>
          <p:cNvPr id="398" name="Google Shape;398;p31"/>
          <p:cNvGrpSpPr/>
          <p:nvPr/>
        </p:nvGrpSpPr>
        <p:grpSpPr>
          <a:xfrm>
            <a:off x="0" y="4724400"/>
            <a:ext cx="9144000" cy="419100"/>
            <a:chOff x="0" y="0"/>
            <a:chExt cx="9144000" cy="419100"/>
          </a:xfrm>
        </p:grpSpPr>
        <p:sp>
          <p:nvSpPr>
            <p:cNvPr id="399" name="Google Shape;399;p31"/>
            <p:cNvSpPr/>
            <p:nvPr/>
          </p:nvSpPr>
          <p:spPr>
            <a:xfrm>
              <a:off x="0" y="0"/>
              <a:ext cx="9144000" cy="419100"/>
            </a:xfrm>
            <a:prstGeom prst="rect">
              <a:avLst/>
            </a:prstGeom>
            <a:solidFill>
              <a:srgbClr val="04181B"/>
            </a:solidFill>
            <a:ln cap="flat" cmpd="sng" w="9525">
              <a:solidFill>
                <a:srgbClr val="1A4A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0" name="Google Shape;400;p31"/>
            <p:cNvSpPr txBox="1"/>
            <p:nvPr/>
          </p:nvSpPr>
          <p:spPr>
            <a:xfrm>
              <a:off x="0" y="0"/>
              <a:ext cx="91440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 sz="1000">
                  <a:solidFill>
                    <a:srgbClr val="CFE9E8"/>
                  </a:solidFill>
                  <a:latin typeface="Calibri"/>
                  <a:ea typeface="Calibri"/>
                  <a:cs typeface="Calibri"/>
                  <a:sym typeface="Calibri"/>
                </a:rPr>
                <a:t>⚡ </a:t>
              </a:r>
              <a:r>
                <a:rPr b="1" i="0" lang="en" sz="1000">
                  <a:solidFill>
                    <a:srgbClr val="02C39A"/>
                  </a:solidFill>
                  <a:latin typeface="Calibri"/>
                  <a:ea typeface="Calibri"/>
                  <a:cs typeface="Calibri"/>
                  <a:sym typeface="Calibri"/>
                </a:rPr>
                <a:t>Claims Fraud Triage Copilot</a:t>
              </a:r>
              <a:r>
                <a:rPr i="1" lang="en" sz="1000">
                  <a:solidFill>
                    <a:srgbClr val="CFE9E8"/>
                  </a:solidFill>
                  <a:latin typeface="Calibri"/>
                  <a:ea typeface="Calibri"/>
                  <a:cs typeface="Calibri"/>
                  <a:sym typeface="Calibri"/>
                </a:rPr>
                <a:t> — Powered by Snowflake Cortex for end-to-end operational efficiency.</a:t>
              </a:r>
              <a:endParaRPr i="1" sz="1000">
                <a:solidFill>
                  <a:srgbClr val="CFE9E8"/>
                </a:solidFill>
                <a:latin typeface="Calibri"/>
                <a:ea typeface="Calibri"/>
                <a:cs typeface="Calibri"/>
                <a:sym typeface="Calibri"/>
              </a:endParaRPr>
            </a:p>
          </p:txBody>
        </p:sp>
      </p:grpSp>
      <p:pic>
        <p:nvPicPr>
          <p:cNvPr id="401" name="Google Shape;401;p31" title="STREAMLIT_MEDIA_FILE_E7251326BB6F491788A5E45AD5FFB55C.png"/>
          <p:cNvPicPr preferRelativeResize="0"/>
          <p:nvPr/>
        </p:nvPicPr>
        <p:blipFill rotWithShape="1">
          <a:blip r:embed="rId5">
            <a:alphaModFix/>
          </a:blip>
          <a:srcRect b="12381" l="3078" r="70812" t="0"/>
          <a:stretch/>
        </p:blipFill>
        <p:spPr>
          <a:xfrm>
            <a:off x="8386232" y="38775"/>
            <a:ext cx="638443" cy="704175"/>
          </a:xfrm>
          <a:prstGeom prst="rect">
            <a:avLst/>
          </a:prstGeom>
          <a:noFill/>
          <a:ln>
            <a:noFill/>
          </a:ln>
        </p:spPr>
      </p:pic>
      <p:sp>
        <p:nvSpPr>
          <p:cNvPr id="402" name="Google Shape;402;p31"/>
          <p:cNvSpPr txBox="1"/>
          <p:nvPr/>
        </p:nvSpPr>
        <p:spPr>
          <a:xfrm>
            <a:off x="333375" y="209025"/>
            <a:ext cx="6183300" cy="363600"/>
          </a:xfrm>
          <a:prstGeom prst="rect">
            <a:avLst/>
          </a:prstGeom>
          <a:noFill/>
          <a:ln>
            <a:noFill/>
          </a:ln>
        </p:spPr>
        <p:txBody>
          <a:bodyPr anchorCtr="0" anchor="t" bIns="0" lIns="0" spcFirstLastPara="1" rIns="0" wrap="square" tIns="9525">
            <a:spAutoFit/>
          </a:bodyPr>
          <a:lstStyle/>
          <a:p>
            <a:pPr indent="0" lvl="0" marL="0" rtl="0" algn="l">
              <a:lnSpc>
                <a:spcPct val="100000"/>
              </a:lnSpc>
              <a:spcBef>
                <a:spcPts val="0"/>
              </a:spcBef>
              <a:spcAft>
                <a:spcPts val="0"/>
              </a:spcAft>
              <a:buNone/>
            </a:pPr>
            <a:r>
              <a:rPr b="1" lang="en" sz="2300">
                <a:solidFill>
                  <a:srgbClr val="02C39A"/>
                </a:solidFill>
                <a:latin typeface="Cambria"/>
                <a:ea typeface="Cambria"/>
                <a:cs typeface="Cambria"/>
                <a:sym typeface="Cambria"/>
              </a:rPr>
              <a:t>Streamlit APP User Interface (Dashboard)</a:t>
            </a:r>
            <a:endParaRPr sz="2300">
              <a:solidFill>
                <a:srgbClr val="02C39A"/>
              </a:solidFill>
              <a:latin typeface="Cambria"/>
              <a:ea typeface="Cambria"/>
              <a:cs typeface="Cambria"/>
              <a:sym typeface="Cambria"/>
            </a:endParaRPr>
          </a:p>
        </p:txBody>
      </p:sp>
      <p:sp>
        <p:nvSpPr>
          <p:cNvPr descr="$PPTXTitle" id="403" name="Google Shape;403;p31"/>
          <p:cNvSpPr txBox="1"/>
          <p:nvPr>
            <p:ph idx="4294967295" type="title"/>
          </p:nvPr>
        </p:nvSpPr>
        <p:spPr>
          <a:xfrm>
            <a:off x="333375" y="606732"/>
            <a:ext cx="7596600" cy="2097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None/>
            </a:pPr>
            <a:r>
              <a:rPr i="1" lang="en" sz="1300">
                <a:solidFill>
                  <a:srgbClr val="8EC3C1"/>
                </a:solidFill>
              </a:rPr>
              <a:t>Claims Dashboard</a:t>
            </a:r>
            <a:endParaRPr i="1" sz="1300">
              <a:solidFill>
                <a:srgbClr val="8EC3C1"/>
              </a:solidFill>
            </a:endParaRPr>
          </a:p>
        </p:txBody>
      </p:sp>
      <p:pic>
        <p:nvPicPr>
          <p:cNvPr id="404" name="Google Shape;404;p31"/>
          <p:cNvPicPr preferRelativeResize="0"/>
          <p:nvPr/>
        </p:nvPicPr>
        <p:blipFill>
          <a:blip r:embed="rId6">
            <a:alphaModFix/>
          </a:blip>
          <a:stretch>
            <a:fillRect/>
          </a:stretch>
        </p:blipFill>
        <p:spPr>
          <a:xfrm>
            <a:off x="333375" y="892450"/>
            <a:ext cx="7905583" cy="375593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8" name="Shape 408"/>
        <p:cNvGrpSpPr/>
        <p:nvPr/>
      </p:nvGrpSpPr>
      <p:grpSpPr>
        <a:xfrm>
          <a:off x="0" y="0"/>
          <a:ext cx="0" cy="0"/>
          <a:chOff x="0" y="0"/>
          <a:chExt cx="0" cy="0"/>
        </a:xfrm>
      </p:grpSpPr>
      <p:pic>
        <p:nvPicPr>
          <p:cNvPr id="409" name="Google Shape;409;p32"/>
          <p:cNvPicPr preferRelativeResize="0"/>
          <p:nvPr/>
        </p:nvPicPr>
        <p:blipFill rotWithShape="1">
          <a:blip r:embed="rId4">
            <a:alphaModFix/>
          </a:blip>
          <a:srcRect b="14008" l="3078" r="70812" t="2163"/>
          <a:stretch/>
        </p:blipFill>
        <p:spPr>
          <a:xfrm>
            <a:off x="8386229" y="38775"/>
            <a:ext cx="638400" cy="704100"/>
          </a:xfrm>
          <a:prstGeom prst="rect">
            <a:avLst/>
          </a:prstGeom>
          <a:noFill/>
          <a:ln>
            <a:noFill/>
          </a:ln>
        </p:spPr>
      </p:pic>
      <p:grpSp>
        <p:nvGrpSpPr>
          <p:cNvPr id="410" name="Google Shape;410;p32"/>
          <p:cNvGrpSpPr/>
          <p:nvPr/>
        </p:nvGrpSpPr>
        <p:grpSpPr>
          <a:xfrm>
            <a:off x="0" y="4724400"/>
            <a:ext cx="9144000" cy="419100"/>
            <a:chOff x="0" y="0"/>
            <a:chExt cx="9144000" cy="419100"/>
          </a:xfrm>
        </p:grpSpPr>
        <p:sp>
          <p:nvSpPr>
            <p:cNvPr id="411" name="Google Shape;411;p32"/>
            <p:cNvSpPr/>
            <p:nvPr/>
          </p:nvSpPr>
          <p:spPr>
            <a:xfrm>
              <a:off x="0" y="0"/>
              <a:ext cx="9144000" cy="419100"/>
            </a:xfrm>
            <a:prstGeom prst="rect">
              <a:avLst/>
            </a:prstGeom>
            <a:solidFill>
              <a:srgbClr val="04181B"/>
            </a:solidFill>
            <a:ln cap="flat" cmpd="sng" w="9525">
              <a:solidFill>
                <a:srgbClr val="1A4A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2" name="Google Shape;412;p32"/>
            <p:cNvSpPr txBox="1"/>
            <p:nvPr/>
          </p:nvSpPr>
          <p:spPr>
            <a:xfrm>
              <a:off x="0" y="0"/>
              <a:ext cx="91440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 sz="1000">
                  <a:solidFill>
                    <a:srgbClr val="CFE9E8"/>
                  </a:solidFill>
                  <a:latin typeface="Calibri"/>
                  <a:ea typeface="Calibri"/>
                  <a:cs typeface="Calibri"/>
                  <a:sym typeface="Calibri"/>
                </a:rPr>
                <a:t>⚡ </a:t>
              </a:r>
              <a:r>
                <a:rPr b="1" i="0" lang="en" sz="1000">
                  <a:solidFill>
                    <a:srgbClr val="02C39A"/>
                  </a:solidFill>
                  <a:latin typeface="Calibri"/>
                  <a:ea typeface="Calibri"/>
                  <a:cs typeface="Calibri"/>
                  <a:sym typeface="Calibri"/>
                </a:rPr>
                <a:t>Claims Fraud Triage Copilot</a:t>
              </a:r>
              <a:r>
                <a:rPr i="1" lang="en" sz="1000">
                  <a:solidFill>
                    <a:srgbClr val="CFE9E8"/>
                  </a:solidFill>
                  <a:latin typeface="Calibri"/>
                  <a:ea typeface="Calibri"/>
                  <a:cs typeface="Calibri"/>
                  <a:sym typeface="Calibri"/>
                </a:rPr>
                <a:t> — Powered by Snowflake Cortex for end-to-end operational efficiency.</a:t>
              </a:r>
              <a:endParaRPr i="1" sz="1000">
                <a:solidFill>
                  <a:srgbClr val="CFE9E8"/>
                </a:solidFill>
                <a:latin typeface="Calibri"/>
                <a:ea typeface="Calibri"/>
                <a:cs typeface="Calibri"/>
                <a:sym typeface="Calibri"/>
              </a:endParaRPr>
            </a:p>
          </p:txBody>
        </p:sp>
      </p:grpSp>
      <p:pic>
        <p:nvPicPr>
          <p:cNvPr id="413" name="Google Shape;413;p32" title="STREAMLIT_MEDIA_FILE_E7251326BB6F491788A5E45AD5FFB55C.png"/>
          <p:cNvPicPr preferRelativeResize="0"/>
          <p:nvPr/>
        </p:nvPicPr>
        <p:blipFill rotWithShape="1">
          <a:blip r:embed="rId5">
            <a:alphaModFix/>
          </a:blip>
          <a:srcRect b="12381" l="3078" r="70812" t="0"/>
          <a:stretch/>
        </p:blipFill>
        <p:spPr>
          <a:xfrm>
            <a:off x="8386232" y="38775"/>
            <a:ext cx="638443" cy="704175"/>
          </a:xfrm>
          <a:prstGeom prst="rect">
            <a:avLst/>
          </a:prstGeom>
          <a:noFill/>
          <a:ln>
            <a:noFill/>
          </a:ln>
        </p:spPr>
      </p:pic>
      <p:sp>
        <p:nvSpPr>
          <p:cNvPr id="414" name="Google Shape;414;p32"/>
          <p:cNvSpPr txBox="1"/>
          <p:nvPr/>
        </p:nvSpPr>
        <p:spPr>
          <a:xfrm>
            <a:off x="333375" y="209025"/>
            <a:ext cx="6183300" cy="363600"/>
          </a:xfrm>
          <a:prstGeom prst="rect">
            <a:avLst/>
          </a:prstGeom>
          <a:noFill/>
          <a:ln>
            <a:noFill/>
          </a:ln>
        </p:spPr>
        <p:txBody>
          <a:bodyPr anchorCtr="0" anchor="t" bIns="0" lIns="0" spcFirstLastPara="1" rIns="0" wrap="square" tIns="9525">
            <a:spAutoFit/>
          </a:bodyPr>
          <a:lstStyle/>
          <a:p>
            <a:pPr indent="0" lvl="0" marL="0" rtl="0" algn="l">
              <a:lnSpc>
                <a:spcPct val="100000"/>
              </a:lnSpc>
              <a:spcBef>
                <a:spcPts val="0"/>
              </a:spcBef>
              <a:spcAft>
                <a:spcPts val="0"/>
              </a:spcAft>
              <a:buNone/>
            </a:pPr>
            <a:r>
              <a:rPr b="1" lang="en" sz="2300">
                <a:solidFill>
                  <a:srgbClr val="02C39A"/>
                </a:solidFill>
                <a:latin typeface="Cambria"/>
                <a:ea typeface="Cambria"/>
                <a:cs typeface="Cambria"/>
                <a:sym typeface="Cambria"/>
              </a:rPr>
              <a:t>Streamlit APP User Interface (Dashboard)</a:t>
            </a:r>
            <a:endParaRPr sz="2300">
              <a:solidFill>
                <a:srgbClr val="02C39A"/>
              </a:solidFill>
              <a:latin typeface="Cambria"/>
              <a:ea typeface="Cambria"/>
              <a:cs typeface="Cambria"/>
              <a:sym typeface="Cambria"/>
            </a:endParaRPr>
          </a:p>
        </p:txBody>
      </p:sp>
      <p:sp>
        <p:nvSpPr>
          <p:cNvPr descr="$PPTXTitle" id="415" name="Google Shape;415;p32"/>
          <p:cNvSpPr txBox="1"/>
          <p:nvPr>
            <p:ph idx="4294967295" type="title"/>
          </p:nvPr>
        </p:nvSpPr>
        <p:spPr>
          <a:xfrm>
            <a:off x="333375" y="606732"/>
            <a:ext cx="7596600" cy="2097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None/>
            </a:pPr>
            <a:r>
              <a:rPr i="1" lang="en" sz="1300">
                <a:solidFill>
                  <a:srgbClr val="8EC3C1"/>
                </a:solidFill>
              </a:rPr>
              <a:t>Data Quality </a:t>
            </a:r>
            <a:r>
              <a:rPr i="1" lang="en" sz="1300">
                <a:solidFill>
                  <a:srgbClr val="8EC3C1"/>
                </a:solidFill>
              </a:rPr>
              <a:t>Dashboard</a:t>
            </a:r>
            <a:endParaRPr i="1" sz="1300">
              <a:solidFill>
                <a:srgbClr val="8EC3C1"/>
              </a:solidFill>
            </a:endParaRPr>
          </a:p>
        </p:txBody>
      </p:sp>
      <p:pic>
        <p:nvPicPr>
          <p:cNvPr id="416" name="Google Shape;416;p32"/>
          <p:cNvPicPr preferRelativeResize="0"/>
          <p:nvPr/>
        </p:nvPicPr>
        <p:blipFill>
          <a:blip r:embed="rId6">
            <a:alphaModFix/>
          </a:blip>
          <a:stretch>
            <a:fillRect/>
          </a:stretch>
        </p:blipFill>
        <p:spPr>
          <a:xfrm>
            <a:off x="333375" y="942875"/>
            <a:ext cx="8430700" cy="35815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0" name="Shape 420"/>
        <p:cNvGrpSpPr/>
        <p:nvPr/>
      </p:nvGrpSpPr>
      <p:grpSpPr>
        <a:xfrm>
          <a:off x="0" y="0"/>
          <a:ext cx="0" cy="0"/>
          <a:chOff x="0" y="0"/>
          <a:chExt cx="0" cy="0"/>
        </a:xfrm>
      </p:grpSpPr>
      <p:pic>
        <p:nvPicPr>
          <p:cNvPr id="421" name="Google Shape;421;p33"/>
          <p:cNvPicPr preferRelativeResize="0"/>
          <p:nvPr/>
        </p:nvPicPr>
        <p:blipFill rotWithShape="1">
          <a:blip r:embed="rId4">
            <a:alphaModFix/>
          </a:blip>
          <a:srcRect b="14008" l="3078" r="70812" t="2163"/>
          <a:stretch/>
        </p:blipFill>
        <p:spPr>
          <a:xfrm>
            <a:off x="8386229" y="38775"/>
            <a:ext cx="638400" cy="704100"/>
          </a:xfrm>
          <a:prstGeom prst="rect">
            <a:avLst/>
          </a:prstGeom>
          <a:noFill/>
          <a:ln>
            <a:noFill/>
          </a:ln>
        </p:spPr>
      </p:pic>
      <p:grpSp>
        <p:nvGrpSpPr>
          <p:cNvPr id="422" name="Google Shape;422;p33"/>
          <p:cNvGrpSpPr/>
          <p:nvPr/>
        </p:nvGrpSpPr>
        <p:grpSpPr>
          <a:xfrm>
            <a:off x="0" y="4724400"/>
            <a:ext cx="9144000" cy="419100"/>
            <a:chOff x="0" y="0"/>
            <a:chExt cx="9144000" cy="419100"/>
          </a:xfrm>
        </p:grpSpPr>
        <p:sp>
          <p:nvSpPr>
            <p:cNvPr id="423" name="Google Shape;423;p33"/>
            <p:cNvSpPr/>
            <p:nvPr/>
          </p:nvSpPr>
          <p:spPr>
            <a:xfrm>
              <a:off x="0" y="0"/>
              <a:ext cx="9144000" cy="419100"/>
            </a:xfrm>
            <a:prstGeom prst="rect">
              <a:avLst/>
            </a:prstGeom>
            <a:solidFill>
              <a:srgbClr val="04181B"/>
            </a:solidFill>
            <a:ln cap="flat" cmpd="sng" w="9525">
              <a:solidFill>
                <a:srgbClr val="1A4A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4" name="Google Shape;424;p33"/>
            <p:cNvSpPr txBox="1"/>
            <p:nvPr/>
          </p:nvSpPr>
          <p:spPr>
            <a:xfrm>
              <a:off x="0" y="0"/>
              <a:ext cx="91440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 sz="1000">
                  <a:solidFill>
                    <a:srgbClr val="CFE9E8"/>
                  </a:solidFill>
                  <a:latin typeface="Calibri"/>
                  <a:ea typeface="Calibri"/>
                  <a:cs typeface="Calibri"/>
                  <a:sym typeface="Calibri"/>
                </a:rPr>
                <a:t>⚡ </a:t>
              </a:r>
              <a:r>
                <a:rPr b="1" i="0" lang="en" sz="1000">
                  <a:solidFill>
                    <a:srgbClr val="02C39A"/>
                  </a:solidFill>
                  <a:latin typeface="Calibri"/>
                  <a:ea typeface="Calibri"/>
                  <a:cs typeface="Calibri"/>
                  <a:sym typeface="Calibri"/>
                </a:rPr>
                <a:t>Claims Fraud Triage Copilot</a:t>
              </a:r>
              <a:r>
                <a:rPr i="1" lang="en" sz="1000">
                  <a:solidFill>
                    <a:srgbClr val="CFE9E8"/>
                  </a:solidFill>
                  <a:latin typeface="Calibri"/>
                  <a:ea typeface="Calibri"/>
                  <a:cs typeface="Calibri"/>
                  <a:sym typeface="Calibri"/>
                </a:rPr>
                <a:t> — Powered by Snowflake Cortex for end-to-end operational efficiency.</a:t>
              </a:r>
              <a:endParaRPr i="1" sz="1000">
                <a:solidFill>
                  <a:srgbClr val="CFE9E8"/>
                </a:solidFill>
                <a:latin typeface="Calibri"/>
                <a:ea typeface="Calibri"/>
                <a:cs typeface="Calibri"/>
                <a:sym typeface="Calibri"/>
              </a:endParaRPr>
            </a:p>
          </p:txBody>
        </p:sp>
      </p:grpSp>
      <p:pic>
        <p:nvPicPr>
          <p:cNvPr id="425" name="Google Shape;425;p33" title="STREAMLIT_MEDIA_FILE_E7251326BB6F491788A5E45AD5FFB55C.png"/>
          <p:cNvPicPr preferRelativeResize="0"/>
          <p:nvPr/>
        </p:nvPicPr>
        <p:blipFill rotWithShape="1">
          <a:blip r:embed="rId5">
            <a:alphaModFix/>
          </a:blip>
          <a:srcRect b="12381" l="3078" r="70812" t="0"/>
          <a:stretch/>
        </p:blipFill>
        <p:spPr>
          <a:xfrm>
            <a:off x="8386232" y="38775"/>
            <a:ext cx="638443" cy="704175"/>
          </a:xfrm>
          <a:prstGeom prst="rect">
            <a:avLst/>
          </a:prstGeom>
          <a:noFill/>
          <a:ln>
            <a:noFill/>
          </a:ln>
        </p:spPr>
      </p:pic>
      <p:sp>
        <p:nvSpPr>
          <p:cNvPr id="426" name="Google Shape;426;p33"/>
          <p:cNvSpPr txBox="1"/>
          <p:nvPr/>
        </p:nvSpPr>
        <p:spPr>
          <a:xfrm>
            <a:off x="333375" y="209025"/>
            <a:ext cx="6183300" cy="363600"/>
          </a:xfrm>
          <a:prstGeom prst="rect">
            <a:avLst/>
          </a:prstGeom>
          <a:noFill/>
          <a:ln>
            <a:noFill/>
          </a:ln>
        </p:spPr>
        <p:txBody>
          <a:bodyPr anchorCtr="0" anchor="t" bIns="0" lIns="0" spcFirstLastPara="1" rIns="0" wrap="square" tIns="9525">
            <a:spAutoFit/>
          </a:bodyPr>
          <a:lstStyle/>
          <a:p>
            <a:pPr indent="0" lvl="0" marL="0" rtl="0" algn="l">
              <a:lnSpc>
                <a:spcPct val="100000"/>
              </a:lnSpc>
              <a:spcBef>
                <a:spcPts val="0"/>
              </a:spcBef>
              <a:spcAft>
                <a:spcPts val="0"/>
              </a:spcAft>
              <a:buNone/>
            </a:pPr>
            <a:r>
              <a:rPr b="1" lang="en" sz="2300">
                <a:solidFill>
                  <a:srgbClr val="02C39A"/>
                </a:solidFill>
                <a:latin typeface="Cambria"/>
                <a:ea typeface="Cambria"/>
                <a:cs typeface="Cambria"/>
                <a:sym typeface="Cambria"/>
              </a:rPr>
              <a:t>Streamlit APP User Interface </a:t>
            </a:r>
            <a:endParaRPr sz="2300">
              <a:solidFill>
                <a:srgbClr val="02C39A"/>
              </a:solidFill>
              <a:latin typeface="Cambria"/>
              <a:ea typeface="Cambria"/>
              <a:cs typeface="Cambria"/>
              <a:sym typeface="Cambria"/>
            </a:endParaRPr>
          </a:p>
        </p:txBody>
      </p:sp>
      <p:sp>
        <p:nvSpPr>
          <p:cNvPr descr="$PPTXTitle" id="427" name="Google Shape;427;p33"/>
          <p:cNvSpPr txBox="1"/>
          <p:nvPr>
            <p:ph idx="4294967295" type="title"/>
          </p:nvPr>
        </p:nvSpPr>
        <p:spPr>
          <a:xfrm>
            <a:off x="333375" y="606732"/>
            <a:ext cx="7596600" cy="2097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None/>
            </a:pPr>
            <a:r>
              <a:rPr i="1" lang="en" sz="1300">
                <a:solidFill>
                  <a:srgbClr val="8EC3C1"/>
                </a:solidFill>
              </a:rPr>
              <a:t>Main KPI Metrics</a:t>
            </a:r>
            <a:endParaRPr i="1" sz="1300">
              <a:solidFill>
                <a:srgbClr val="8EC3C1"/>
              </a:solidFill>
            </a:endParaRPr>
          </a:p>
        </p:txBody>
      </p:sp>
      <p:pic>
        <p:nvPicPr>
          <p:cNvPr id="428" name="Google Shape;428;p33"/>
          <p:cNvPicPr preferRelativeResize="0"/>
          <p:nvPr/>
        </p:nvPicPr>
        <p:blipFill rotWithShape="1">
          <a:blip r:embed="rId6">
            <a:alphaModFix/>
          </a:blip>
          <a:srcRect b="14966" l="0" r="0" t="0"/>
          <a:stretch/>
        </p:blipFill>
        <p:spPr>
          <a:xfrm>
            <a:off x="333375" y="980438"/>
            <a:ext cx="8161789" cy="3506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3" name="Shape 433"/>
        <p:cNvGrpSpPr/>
        <p:nvPr/>
      </p:nvGrpSpPr>
      <p:grpSpPr>
        <a:xfrm>
          <a:off x="0" y="0"/>
          <a:ext cx="0" cy="0"/>
          <a:chOff x="0" y="0"/>
          <a:chExt cx="0" cy="0"/>
        </a:xfrm>
      </p:grpSpPr>
      <p:sp>
        <p:nvSpPr>
          <p:cNvPr id="434" name="Google Shape;434;p34"/>
          <p:cNvSpPr txBox="1"/>
          <p:nvPr/>
        </p:nvSpPr>
        <p:spPr>
          <a:xfrm>
            <a:off x="342900" y="219413"/>
            <a:ext cx="71439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300">
                <a:solidFill>
                  <a:srgbClr val="02C39A"/>
                </a:solidFill>
                <a:latin typeface="Cambria"/>
                <a:ea typeface="Cambria"/>
                <a:cs typeface="Cambria"/>
                <a:sym typeface="Cambria"/>
              </a:rPr>
              <a:t>Worked Example — From Question to Verdict</a:t>
            </a:r>
            <a:endParaRPr b="1" sz="2300">
              <a:solidFill>
                <a:srgbClr val="02C39A"/>
              </a:solidFill>
              <a:latin typeface="Cambria"/>
              <a:ea typeface="Cambria"/>
              <a:cs typeface="Cambria"/>
              <a:sym typeface="Cambria"/>
            </a:endParaRPr>
          </a:p>
        </p:txBody>
      </p:sp>
      <p:grpSp>
        <p:nvGrpSpPr>
          <p:cNvPr id="435" name="Google Shape;435;p34"/>
          <p:cNvGrpSpPr/>
          <p:nvPr/>
        </p:nvGrpSpPr>
        <p:grpSpPr>
          <a:xfrm>
            <a:off x="342900" y="742950"/>
            <a:ext cx="8458200" cy="333530"/>
            <a:chOff x="0" y="0"/>
            <a:chExt cx="8458200" cy="362100"/>
          </a:xfrm>
        </p:grpSpPr>
        <p:sp>
          <p:nvSpPr>
            <p:cNvPr id="436" name="Google Shape;436;p34"/>
            <p:cNvSpPr/>
            <p:nvPr/>
          </p:nvSpPr>
          <p:spPr>
            <a:xfrm>
              <a:off x="0" y="0"/>
              <a:ext cx="8458200" cy="362100"/>
            </a:xfrm>
            <a:prstGeom prst="roundRect">
              <a:avLst>
                <a:gd fmla="val 15789" name="adj"/>
              </a:avLst>
            </a:prstGeom>
            <a:solidFill>
              <a:srgbClr val="06242B"/>
            </a:solidFill>
            <a:ln cap="flat" cmpd="sng" w="11425">
              <a:solidFill>
                <a:srgbClr val="1D5A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7" name="Google Shape;437;p34"/>
            <p:cNvSpPr txBox="1"/>
            <p:nvPr/>
          </p:nvSpPr>
          <p:spPr>
            <a:xfrm>
              <a:off x="152400" y="94488"/>
              <a:ext cx="8153400" cy="267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i="1" lang="en" sz="1100">
                  <a:solidFill>
                    <a:schemeClr val="accent6"/>
                  </a:solidFill>
                  <a:latin typeface="Calibri"/>
                  <a:ea typeface="Calibri"/>
                  <a:cs typeface="Calibri"/>
                  <a:sym typeface="Calibri"/>
                </a:rPr>
                <a:t>“Claim CLM-4521 — is this a valid claim, and is anything about it suspicious?”</a:t>
              </a:r>
              <a:endParaRPr b="1" i="1" sz="1100">
                <a:solidFill>
                  <a:schemeClr val="accent6"/>
                </a:solidFill>
                <a:latin typeface="Calibri"/>
                <a:ea typeface="Calibri"/>
                <a:cs typeface="Calibri"/>
                <a:sym typeface="Calibri"/>
              </a:endParaRPr>
            </a:p>
          </p:txBody>
        </p:sp>
      </p:grpSp>
      <p:grpSp>
        <p:nvGrpSpPr>
          <p:cNvPr id="438" name="Google Shape;438;p34"/>
          <p:cNvGrpSpPr/>
          <p:nvPr/>
        </p:nvGrpSpPr>
        <p:grpSpPr>
          <a:xfrm>
            <a:off x="342900" y="1171575"/>
            <a:ext cx="4114800" cy="1666800"/>
            <a:chOff x="0" y="0"/>
            <a:chExt cx="4114800" cy="1666800"/>
          </a:xfrm>
        </p:grpSpPr>
        <p:sp>
          <p:nvSpPr>
            <p:cNvPr id="439" name="Google Shape;439;p34"/>
            <p:cNvSpPr/>
            <p:nvPr/>
          </p:nvSpPr>
          <p:spPr>
            <a:xfrm>
              <a:off x="0" y="0"/>
              <a:ext cx="4114800" cy="1666800"/>
            </a:xfrm>
            <a:prstGeom prst="roundRect">
              <a:avLst>
                <a:gd fmla="val 4571" name="adj"/>
              </a:avLst>
            </a:prstGeom>
            <a:solidFill>
              <a:srgbClr val="0E3E47"/>
            </a:solidFill>
            <a:ln cap="flat" cmpd="sng" w="14300">
              <a:solidFill>
                <a:srgbClr val="1D5A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0" name="Google Shape;440;p34"/>
            <p:cNvSpPr txBox="1"/>
            <p:nvPr/>
          </p:nvSpPr>
          <p:spPr>
            <a:xfrm>
              <a:off x="152400" y="114300"/>
              <a:ext cx="3810000" cy="228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100">
                  <a:solidFill>
                    <a:srgbClr val="02C39A"/>
                  </a:solidFill>
                  <a:latin typeface="Calibri"/>
                  <a:ea typeface="Calibri"/>
                  <a:cs typeface="Calibri"/>
                  <a:sym typeface="Calibri"/>
                </a:rPr>
                <a:t>What Cortex Analyst Pulls Back</a:t>
              </a:r>
              <a:endParaRPr b="1" sz="1100">
                <a:solidFill>
                  <a:srgbClr val="02C39A"/>
                </a:solidFill>
                <a:latin typeface="Calibri"/>
                <a:ea typeface="Calibri"/>
                <a:cs typeface="Calibri"/>
                <a:sym typeface="Calibri"/>
              </a:endParaRPr>
            </a:p>
          </p:txBody>
        </p:sp>
        <p:sp>
          <p:nvSpPr>
            <p:cNvPr id="441" name="Google Shape;441;p34"/>
            <p:cNvSpPr txBox="1"/>
            <p:nvPr/>
          </p:nvSpPr>
          <p:spPr>
            <a:xfrm>
              <a:off x="152400" y="381000"/>
              <a:ext cx="3810000" cy="11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50">
                  <a:solidFill>
                    <a:srgbClr val="8EC3C1"/>
                  </a:solidFill>
                  <a:latin typeface="Calibri"/>
                  <a:ea typeface="Calibri"/>
                  <a:cs typeface="Calibri"/>
                  <a:sym typeface="Calibri"/>
                </a:rPr>
                <a:t>Claim type - </a:t>
              </a:r>
              <a:r>
                <a:rPr lang="en" sz="950">
                  <a:solidFill>
                    <a:srgbClr val="FFFFFF"/>
                  </a:solidFill>
                  <a:latin typeface="Calibri"/>
                  <a:ea typeface="Calibri"/>
                  <a:cs typeface="Calibri"/>
                  <a:sym typeface="Calibri"/>
                </a:rPr>
                <a:t>Water damage — residential</a:t>
              </a:r>
              <a:endParaRPr sz="950">
                <a:latin typeface="Calibri"/>
                <a:ea typeface="Calibri"/>
                <a:cs typeface="Calibri"/>
                <a:sym typeface="Calibri"/>
              </a:endParaRPr>
            </a:p>
            <a:p>
              <a:pPr indent="0" lvl="0" marL="0" rtl="0" algn="l">
                <a:spcBef>
                  <a:spcPts val="0"/>
                </a:spcBef>
                <a:spcAft>
                  <a:spcPts val="0"/>
                </a:spcAft>
                <a:buNone/>
              </a:pPr>
              <a:r>
                <a:rPr b="1" lang="en" sz="950">
                  <a:solidFill>
                    <a:srgbClr val="8EC3C1"/>
                  </a:solidFill>
                  <a:latin typeface="Calibri"/>
                  <a:ea typeface="Calibri"/>
                  <a:cs typeface="Calibri"/>
                  <a:sym typeface="Calibri"/>
                </a:rPr>
                <a:t>Claim amount - </a:t>
              </a:r>
              <a:r>
                <a:rPr b="1" lang="en" sz="950">
                  <a:solidFill>
                    <a:srgbClr val="FFFFFF"/>
                  </a:solidFill>
                  <a:latin typeface="Calibri"/>
                  <a:ea typeface="Calibri"/>
                  <a:cs typeface="Calibri"/>
                  <a:sym typeface="Calibri"/>
                </a:rPr>
                <a:t>$18,400</a:t>
              </a:r>
              <a:endParaRPr sz="950">
                <a:latin typeface="Calibri"/>
                <a:ea typeface="Calibri"/>
                <a:cs typeface="Calibri"/>
                <a:sym typeface="Calibri"/>
              </a:endParaRPr>
            </a:p>
            <a:p>
              <a:pPr indent="0" lvl="0" marL="0" rtl="0" algn="l">
                <a:spcBef>
                  <a:spcPts val="0"/>
                </a:spcBef>
                <a:spcAft>
                  <a:spcPts val="0"/>
                </a:spcAft>
                <a:buNone/>
              </a:pPr>
              <a:r>
                <a:rPr b="1" lang="en" sz="950">
                  <a:solidFill>
                    <a:srgbClr val="8EC3C1"/>
                  </a:solidFill>
                  <a:latin typeface="Calibri"/>
                  <a:ea typeface="Calibri"/>
                  <a:cs typeface="Calibri"/>
                  <a:sym typeface="Calibri"/>
                </a:rPr>
                <a:t>Fraud score - </a:t>
              </a:r>
              <a:r>
                <a:rPr b="1" lang="en" sz="950">
                  <a:solidFill>
                    <a:srgbClr val="FF6B6B"/>
                  </a:solidFill>
                  <a:latin typeface="Calibri"/>
                  <a:ea typeface="Calibri"/>
                  <a:cs typeface="Calibri"/>
                  <a:sym typeface="Calibri"/>
                </a:rPr>
                <a:t>0.71 (elevated)</a:t>
              </a:r>
              <a:endParaRPr sz="950">
                <a:latin typeface="Calibri"/>
                <a:ea typeface="Calibri"/>
                <a:cs typeface="Calibri"/>
                <a:sym typeface="Calibri"/>
              </a:endParaRPr>
            </a:p>
            <a:p>
              <a:pPr indent="0" lvl="0" marL="0" rtl="0" algn="l">
                <a:spcBef>
                  <a:spcPts val="0"/>
                </a:spcBef>
                <a:spcAft>
                  <a:spcPts val="0"/>
                </a:spcAft>
                <a:buNone/>
              </a:pPr>
              <a:r>
                <a:rPr b="1" lang="en" sz="950">
                  <a:solidFill>
                    <a:srgbClr val="8EC3C1"/>
                  </a:solidFill>
                  <a:latin typeface="Calibri"/>
                  <a:ea typeface="Calibri"/>
                  <a:cs typeface="Calibri"/>
                  <a:sym typeface="Calibri"/>
                </a:rPr>
                <a:t>Policy status - </a:t>
              </a:r>
              <a:r>
                <a:rPr lang="en" sz="950">
                  <a:solidFill>
                    <a:srgbClr val="FFFFFF"/>
                  </a:solidFill>
                  <a:latin typeface="Calibri"/>
                  <a:ea typeface="Calibri"/>
                  <a:cs typeface="Calibri"/>
                  <a:sym typeface="Calibri"/>
                </a:rPr>
                <a:t>Active, valid coverage window</a:t>
              </a:r>
              <a:endParaRPr sz="950">
                <a:latin typeface="Calibri"/>
                <a:ea typeface="Calibri"/>
                <a:cs typeface="Calibri"/>
                <a:sym typeface="Calibri"/>
              </a:endParaRPr>
            </a:p>
            <a:p>
              <a:pPr indent="0" lvl="0" marL="0" rtl="0" algn="l">
                <a:spcBef>
                  <a:spcPts val="0"/>
                </a:spcBef>
                <a:spcAft>
                  <a:spcPts val="0"/>
                </a:spcAft>
                <a:buNone/>
              </a:pPr>
              <a:r>
                <a:rPr b="1" lang="en" sz="950">
                  <a:solidFill>
                    <a:srgbClr val="8EC3C1"/>
                  </a:solidFill>
                  <a:latin typeface="Calibri"/>
                  <a:ea typeface="Calibri"/>
                  <a:cs typeface="Calibri"/>
                  <a:sym typeface="Calibri"/>
                </a:rPr>
                <a:t>Claims, last 6 months - </a:t>
              </a:r>
              <a:r>
                <a:rPr lang="en" sz="950">
                  <a:solidFill>
                    <a:srgbClr val="FFFFFF"/>
                  </a:solidFill>
                  <a:latin typeface="Calibri"/>
                  <a:ea typeface="Calibri"/>
                  <a:cs typeface="Calibri"/>
                  <a:sym typeface="Calibri"/>
                </a:rPr>
                <a:t>2 prior claims (same customer)</a:t>
              </a:r>
              <a:endParaRPr sz="950">
                <a:latin typeface="Calibri"/>
                <a:ea typeface="Calibri"/>
                <a:cs typeface="Calibri"/>
                <a:sym typeface="Calibri"/>
              </a:endParaRPr>
            </a:p>
          </p:txBody>
        </p:sp>
      </p:grpSp>
      <p:grpSp>
        <p:nvGrpSpPr>
          <p:cNvPr id="442" name="Google Shape;442;p34"/>
          <p:cNvGrpSpPr/>
          <p:nvPr/>
        </p:nvGrpSpPr>
        <p:grpSpPr>
          <a:xfrm>
            <a:off x="4686300" y="1171575"/>
            <a:ext cx="4114800" cy="1666800"/>
            <a:chOff x="0" y="0"/>
            <a:chExt cx="4114800" cy="1666800"/>
          </a:xfrm>
        </p:grpSpPr>
        <p:sp>
          <p:nvSpPr>
            <p:cNvPr id="443" name="Google Shape;443;p34"/>
            <p:cNvSpPr/>
            <p:nvPr/>
          </p:nvSpPr>
          <p:spPr>
            <a:xfrm>
              <a:off x="0" y="0"/>
              <a:ext cx="4114800" cy="1666800"/>
            </a:xfrm>
            <a:prstGeom prst="roundRect">
              <a:avLst>
                <a:gd fmla="val 4571" name="adj"/>
              </a:avLst>
            </a:prstGeom>
            <a:solidFill>
              <a:srgbClr val="0E3E47"/>
            </a:solidFill>
            <a:ln cap="flat" cmpd="sng" w="14300">
              <a:solidFill>
                <a:srgbClr val="1D5A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4" name="Google Shape;444;p34"/>
            <p:cNvSpPr txBox="1"/>
            <p:nvPr/>
          </p:nvSpPr>
          <p:spPr>
            <a:xfrm>
              <a:off x="152400" y="114300"/>
              <a:ext cx="3810000" cy="228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100">
                  <a:solidFill>
                    <a:srgbClr val="02C39A"/>
                  </a:solidFill>
                  <a:latin typeface="Calibri"/>
                  <a:ea typeface="Calibri"/>
                  <a:cs typeface="Calibri"/>
                  <a:sym typeface="Calibri"/>
                </a:rPr>
                <a:t>What Cortex Search Finds</a:t>
              </a:r>
              <a:endParaRPr b="1" sz="1100">
                <a:solidFill>
                  <a:srgbClr val="02C39A"/>
                </a:solidFill>
                <a:latin typeface="Calibri"/>
                <a:ea typeface="Calibri"/>
                <a:cs typeface="Calibri"/>
                <a:sym typeface="Calibri"/>
              </a:endParaRPr>
            </a:p>
          </p:txBody>
        </p:sp>
        <p:sp>
          <p:nvSpPr>
            <p:cNvPr id="445" name="Google Shape;445;p34"/>
            <p:cNvSpPr txBox="1"/>
            <p:nvPr/>
          </p:nvSpPr>
          <p:spPr>
            <a:xfrm>
              <a:off x="152400" y="361950"/>
              <a:ext cx="38100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950">
                  <a:solidFill>
                    <a:srgbClr val="FFFFFF"/>
                  </a:solidFill>
                  <a:latin typeface="Calibri"/>
                  <a:ea typeface="Calibri"/>
                  <a:cs typeface="Calibri"/>
                  <a:sym typeface="Calibri"/>
                </a:rPr>
                <a:t>Retrieved clause — Section 4.2, Exclusions:</a:t>
              </a:r>
              <a:endParaRPr b="1" sz="950">
                <a:solidFill>
                  <a:srgbClr val="FFFFFF"/>
                </a:solidFill>
                <a:latin typeface="Calibri"/>
                <a:ea typeface="Calibri"/>
                <a:cs typeface="Calibri"/>
                <a:sym typeface="Calibri"/>
              </a:endParaRPr>
            </a:p>
          </p:txBody>
        </p:sp>
        <p:sp>
          <p:nvSpPr>
            <p:cNvPr id="446" name="Google Shape;446;p34"/>
            <p:cNvSpPr/>
            <p:nvPr/>
          </p:nvSpPr>
          <p:spPr>
            <a:xfrm>
              <a:off x="152400" y="590550"/>
              <a:ext cx="3810000" cy="590700"/>
            </a:xfrm>
            <a:prstGeom prst="roundRect">
              <a:avLst>
                <a:gd fmla="val 6451" name="adj"/>
              </a:avLst>
            </a:prstGeom>
            <a:solidFill>
              <a:srgbClr val="06242B"/>
            </a:solidFill>
            <a:ln cap="flat" cmpd="sng" w="9525">
              <a:solidFill>
                <a:srgbClr val="1D5A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7" name="Google Shape;447;p34"/>
            <p:cNvSpPr txBox="1"/>
            <p:nvPr/>
          </p:nvSpPr>
          <p:spPr>
            <a:xfrm>
              <a:off x="247650" y="590550"/>
              <a:ext cx="3619500" cy="590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t/>
              </a:r>
              <a:endParaRPr i="1" sz="1000">
                <a:solidFill>
                  <a:srgbClr val="E0F2F1"/>
                </a:solidFill>
                <a:latin typeface="Calibri"/>
                <a:ea typeface="Calibri"/>
                <a:cs typeface="Calibri"/>
                <a:sym typeface="Calibri"/>
              </a:endParaRPr>
            </a:p>
            <a:p>
              <a:pPr indent="0" lvl="0" marL="0" rtl="0" algn="ctr">
                <a:spcBef>
                  <a:spcPts val="0"/>
                </a:spcBef>
                <a:spcAft>
                  <a:spcPts val="0"/>
                </a:spcAft>
                <a:buNone/>
              </a:pPr>
              <a:r>
                <a:rPr i="1" lang="en" sz="1000">
                  <a:solidFill>
                    <a:srgbClr val="E0F2F1"/>
                  </a:solidFill>
                  <a:latin typeface="Calibri"/>
                  <a:ea typeface="Calibri"/>
                  <a:cs typeface="Calibri"/>
                  <a:sym typeface="Calibri"/>
                </a:rPr>
                <a:t>“Water damage originating from gradual seepage is not covered under this policy.”</a:t>
              </a:r>
              <a:endParaRPr i="1" sz="1000">
                <a:solidFill>
                  <a:srgbClr val="E0F2F1"/>
                </a:solidFill>
                <a:latin typeface="Calibri"/>
                <a:ea typeface="Calibri"/>
                <a:cs typeface="Calibri"/>
                <a:sym typeface="Calibri"/>
              </a:endParaRPr>
            </a:p>
          </p:txBody>
        </p:sp>
        <p:sp>
          <p:nvSpPr>
            <p:cNvPr id="448" name="Google Shape;448;p34"/>
            <p:cNvSpPr txBox="1"/>
            <p:nvPr/>
          </p:nvSpPr>
          <p:spPr>
            <a:xfrm>
              <a:off x="152400" y="1257300"/>
              <a:ext cx="3810000" cy="324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800">
                  <a:solidFill>
                    <a:srgbClr val="8EC3C1"/>
                  </a:solidFill>
                  <a:latin typeface="Calibri"/>
                  <a:ea typeface="Calibri"/>
                  <a:cs typeface="Calibri"/>
                  <a:sym typeface="Calibri"/>
                </a:rPr>
                <a:t>Matched from POLICY_DOCUMENTS via Cortex Search over DOCUMENT_CHUNKS</a:t>
              </a:r>
              <a:endParaRPr sz="800">
                <a:solidFill>
                  <a:srgbClr val="8EC3C1"/>
                </a:solidFill>
                <a:latin typeface="Calibri"/>
                <a:ea typeface="Calibri"/>
                <a:cs typeface="Calibri"/>
                <a:sym typeface="Calibri"/>
              </a:endParaRPr>
            </a:p>
            <a:p>
              <a:pPr indent="0" lvl="0" marL="0" rtl="0" algn="ctr">
                <a:spcBef>
                  <a:spcPts val="0"/>
                </a:spcBef>
                <a:spcAft>
                  <a:spcPts val="0"/>
                </a:spcAft>
                <a:buNone/>
              </a:pPr>
              <a:r>
                <a:rPr lang="en" sz="800">
                  <a:solidFill>
                    <a:srgbClr val="8EC3C1"/>
                  </a:solidFill>
                  <a:latin typeface="Calibri"/>
                  <a:ea typeface="Calibri"/>
                  <a:cs typeface="Calibri"/>
                  <a:sym typeface="Calibri"/>
                </a:rPr>
                <a:t>— no manual PDF reading required.</a:t>
              </a:r>
              <a:endParaRPr sz="800">
                <a:solidFill>
                  <a:srgbClr val="8EC3C1"/>
                </a:solidFill>
                <a:latin typeface="Calibri"/>
                <a:ea typeface="Calibri"/>
                <a:cs typeface="Calibri"/>
                <a:sym typeface="Calibri"/>
              </a:endParaRPr>
            </a:p>
          </p:txBody>
        </p:sp>
      </p:grpSp>
      <p:grpSp>
        <p:nvGrpSpPr>
          <p:cNvPr id="449" name="Google Shape;449;p34"/>
          <p:cNvGrpSpPr/>
          <p:nvPr/>
        </p:nvGrpSpPr>
        <p:grpSpPr>
          <a:xfrm>
            <a:off x="315291" y="2952750"/>
            <a:ext cx="8458200" cy="1600200"/>
            <a:chOff x="0" y="0"/>
            <a:chExt cx="8458200" cy="1600200"/>
          </a:xfrm>
        </p:grpSpPr>
        <p:sp>
          <p:nvSpPr>
            <p:cNvPr id="450" name="Google Shape;450;p34"/>
            <p:cNvSpPr/>
            <p:nvPr/>
          </p:nvSpPr>
          <p:spPr>
            <a:xfrm>
              <a:off x="0" y="0"/>
              <a:ext cx="8458200" cy="1600200"/>
            </a:xfrm>
            <a:prstGeom prst="roundRect">
              <a:avLst>
                <a:gd fmla="val 4761" name="adj"/>
              </a:avLst>
            </a:prstGeom>
            <a:solidFill>
              <a:srgbClr val="09282E"/>
            </a:solidFill>
            <a:ln cap="flat" cmpd="sng" w="17150">
              <a:solidFill>
                <a:srgbClr val="E74C3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1" name="Google Shape;451;p34"/>
            <p:cNvSpPr/>
            <p:nvPr/>
          </p:nvSpPr>
          <p:spPr>
            <a:xfrm>
              <a:off x="190500" y="171450"/>
              <a:ext cx="1238400" cy="342900"/>
            </a:xfrm>
            <a:prstGeom prst="roundRect">
              <a:avLst>
                <a:gd fmla="val 16666" name="adj"/>
              </a:avLst>
            </a:prstGeom>
            <a:solidFill>
              <a:srgbClr val="C0392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2" name="Google Shape;452;p34"/>
            <p:cNvSpPr txBox="1"/>
            <p:nvPr/>
          </p:nvSpPr>
          <p:spPr>
            <a:xfrm>
              <a:off x="190500" y="171450"/>
              <a:ext cx="12384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HIGH RISK</a:t>
              </a:r>
              <a:endParaRPr b="1" sz="1100">
                <a:solidFill>
                  <a:srgbClr val="FFFFFF"/>
                </a:solidFill>
                <a:latin typeface="Calibri"/>
                <a:ea typeface="Calibri"/>
                <a:cs typeface="Calibri"/>
                <a:sym typeface="Calibri"/>
              </a:endParaRPr>
            </a:p>
          </p:txBody>
        </p:sp>
        <p:sp>
          <p:nvSpPr>
            <p:cNvPr id="453" name="Google Shape;453;p34"/>
            <p:cNvSpPr txBox="1"/>
            <p:nvPr/>
          </p:nvSpPr>
          <p:spPr>
            <a:xfrm>
              <a:off x="1619250" y="133350"/>
              <a:ext cx="6667500" cy="1352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050">
                  <a:solidFill>
                    <a:srgbClr val="FFFFFF"/>
                  </a:solidFill>
                  <a:latin typeface="Calibri"/>
                  <a:ea typeface="Calibri"/>
                  <a:cs typeface="Calibri"/>
                  <a:sym typeface="Calibri"/>
                </a:rPr>
                <a:t>• Claimed damage (gradual seepage) falls under a documented policy exclusion</a:t>
              </a:r>
              <a:endParaRPr sz="1050">
                <a:solidFill>
                  <a:srgbClr val="FFFFFF"/>
                </a:solidFill>
                <a:latin typeface="Calibri"/>
                <a:ea typeface="Calibri"/>
                <a:cs typeface="Calibri"/>
                <a:sym typeface="Calibri"/>
              </a:endParaRPr>
            </a:p>
            <a:p>
              <a:pPr indent="0" lvl="0" marL="0" rtl="0" algn="l">
                <a:spcBef>
                  <a:spcPts val="450"/>
                </a:spcBef>
                <a:spcAft>
                  <a:spcPts val="0"/>
                </a:spcAft>
                <a:buNone/>
              </a:pPr>
              <a:r>
                <a:rPr lang="en" sz="1050">
                  <a:solidFill>
                    <a:srgbClr val="FFFFFF"/>
                  </a:solidFill>
                  <a:latin typeface="Calibri"/>
                  <a:ea typeface="Calibri"/>
                  <a:cs typeface="Calibri"/>
                  <a:sym typeface="Calibri"/>
                </a:rPr>
                <a:t>• Customer has filed 2 similar claims in the past 6 months</a:t>
              </a:r>
              <a:endParaRPr sz="1050">
                <a:solidFill>
                  <a:srgbClr val="FFFFFF"/>
                </a:solidFill>
                <a:latin typeface="Calibri"/>
                <a:ea typeface="Calibri"/>
                <a:cs typeface="Calibri"/>
                <a:sym typeface="Calibri"/>
              </a:endParaRPr>
            </a:p>
            <a:p>
              <a:pPr indent="0" lvl="0" marL="0" rtl="0" algn="l">
                <a:spcBef>
                  <a:spcPts val="450"/>
                </a:spcBef>
                <a:spcAft>
                  <a:spcPts val="0"/>
                </a:spcAft>
                <a:buNone/>
              </a:pPr>
              <a:r>
                <a:rPr lang="en" sz="1050">
                  <a:solidFill>
                    <a:srgbClr val="FFFFFF"/>
                  </a:solidFill>
                  <a:latin typeface="Calibri"/>
                  <a:ea typeface="Calibri"/>
                  <a:cs typeface="Calibri"/>
                  <a:sym typeface="Calibri"/>
                </a:rPr>
                <a:t>• Fraud score of 0.71 is above the elevated-risk threshold</a:t>
              </a:r>
              <a:endParaRPr sz="1050">
                <a:solidFill>
                  <a:srgbClr val="FFFFFF"/>
                </a:solidFill>
                <a:latin typeface="Calibri"/>
                <a:ea typeface="Calibri"/>
                <a:cs typeface="Calibri"/>
                <a:sym typeface="Calibri"/>
              </a:endParaRPr>
            </a:p>
            <a:p>
              <a:pPr indent="0" lvl="0" marL="0" rtl="0" algn="l">
                <a:spcBef>
                  <a:spcPts val="900"/>
                </a:spcBef>
                <a:spcAft>
                  <a:spcPts val="0"/>
                </a:spcAft>
                <a:buNone/>
              </a:pPr>
              <a:r>
                <a:rPr b="1" lang="en" sz="1100">
                  <a:solidFill>
                    <a:srgbClr val="FFD54F"/>
                  </a:solidFill>
                  <a:latin typeface="Calibri"/>
                  <a:ea typeface="Calibri"/>
                  <a:cs typeface="Calibri"/>
                  <a:sym typeface="Calibri"/>
                </a:rPr>
                <a:t>Adjuster action: </a:t>
              </a:r>
              <a:r>
                <a:rPr b="1" lang="en" sz="1100">
                  <a:solidFill>
                    <a:srgbClr val="FFFFFF"/>
                  </a:solidFill>
                  <a:latin typeface="Calibri"/>
                  <a:ea typeface="Calibri"/>
                  <a:cs typeface="Calibri"/>
                  <a:sym typeface="Calibri"/>
                </a:rPr>
                <a:t>escalate to fraud investigation queue — skip fast-track approval.</a:t>
              </a:r>
              <a:endParaRPr sz="1100">
                <a:solidFill>
                  <a:srgbClr val="FFFFFF"/>
                </a:solidFill>
                <a:latin typeface="Calibri"/>
                <a:ea typeface="Calibri"/>
                <a:cs typeface="Calibri"/>
                <a:sym typeface="Calibri"/>
              </a:endParaRPr>
            </a:p>
          </p:txBody>
        </p:sp>
      </p:grpSp>
      <p:grpSp>
        <p:nvGrpSpPr>
          <p:cNvPr id="454" name="Google Shape;454;p34"/>
          <p:cNvGrpSpPr/>
          <p:nvPr/>
        </p:nvGrpSpPr>
        <p:grpSpPr>
          <a:xfrm>
            <a:off x="0" y="4686300"/>
            <a:ext cx="9144000" cy="457200"/>
            <a:chOff x="0" y="0"/>
            <a:chExt cx="9144000" cy="457200"/>
          </a:xfrm>
        </p:grpSpPr>
        <p:sp>
          <p:nvSpPr>
            <p:cNvPr id="455" name="Google Shape;455;p34"/>
            <p:cNvSpPr/>
            <p:nvPr/>
          </p:nvSpPr>
          <p:spPr>
            <a:xfrm>
              <a:off x="0" y="0"/>
              <a:ext cx="9144000" cy="457200"/>
            </a:xfrm>
            <a:prstGeom prst="rect">
              <a:avLst/>
            </a:prstGeom>
            <a:solidFill>
              <a:srgbClr val="04181B"/>
            </a:solidFill>
            <a:ln cap="flat" cmpd="sng" w="9525">
              <a:solidFill>
                <a:srgbClr val="1A4A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6" name="Google Shape;456;p34"/>
            <p:cNvSpPr txBox="1"/>
            <p:nvPr/>
          </p:nvSpPr>
          <p:spPr>
            <a:xfrm>
              <a:off x="0" y="0"/>
              <a:ext cx="91440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 sz="1100">
                  <a:solidFill>
                    <a:srgbClr val="CFE9E8"/>
                  </a:solidFill>
                  <a:latin typeface="Calibri"/>
                  <a:ea typeface="Calibri"/>
                  <a:cs typeface="Calibri"/>
                  <a:sym typeface="Calibri"/>
                </a:rPr>
                <a:t>⚡ </a:t>
              </a:r>
              <a:r>
                <a:rPr b="1" i="0" lang="en" sz="1100">
                  <a:solidFill>
                    <a:srgbClr val="02C39A"/>
                  </a:solidFill>
                  <a:latin typeface="Calibri"/>
                  <a:ea typeface="Calibri"/>
                  <a:cs typeface="Calibri"/>
                  <a:sym typeface="Calibri"/>
                </a:rPr>
                <a:t>Plain-English risk verdict</a:t>
              </a:r>
              <a:r>
                <a:rPr i="1" lang="en" sz="1100">
                  <a:solidFill>
                    <a:srgbClr val="CFE9E8"/>
                  </a:solidFill>
                  <a:latin typeface="Calibri"/>
                  <a:ea typeface="Calibri"/>
                  <a:cs typeface="Calibri"/>
                  <a:sym typeface="Calibri"/>
                </a:rPr>
                <a:t>, with the evidence attached — in seconds.</a:t>
              </a:r>
              <a:endParaRPr i="1" sz="1100">
                <a:solidFill>
                  <a:srgbClr val="CFE9E8"/>
                </a:solidFill>
                <a:latin typeface="Calibri"/>
                <a:ea typeface="Calibri"/>
                <a:cs typeface="Calibri"/>
                <a:sym typeface="Calibri"/>
              </a:endParaRPr>
            </a:p>
          </p:txBody>
        </p:sp>
      </p:grpSp>
      <p:pic>
        <p:nvPicPr>
          <p:cNvPr id="457" name="Google Shape;457;p34" title="STREAMLIT_MEDIA_FILE_E7251326BB6F491788A5E45AD5FFB55C.png"/>
          <p:cNvPicPr preferRelativeResize="0"/>
          <p:nvPr/>
        </p:nvPicPr>
        <p:blipFill rotWithShape="1">
          <a:blip r:embed="rId4">
            <a:alphaModFix/>
          </a:blip>
          <a:srcRect b="12381" l="3078" r="70812" t="0"/>
          <a:stretch/>
        </p:blipFill>
        <p:spPr>
          <a:xfrm>
            <a:off x="8386232" y="38775"/>
            <a:ext cx="638443" cy="7041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35"/>
          <p:cNvSpPr/>
          <p:nvPr/>
        </p:nvSpPr>
        <p:spPr>
          <a:xfrm>
            <a:off x="-17859" y="0"/>
            <a:ext cx="9144000" cy="5143500"/>
          </a:xfrm>
          <a:custGeom>
            <a:rect b="b" l="l" r="r" t="t"/>
            <a:pathLst>
              <a:path extrusionOk="0" h="6858000" w="12192000">
                <a:moveTo>
                  <a:pt x="12192000" y="0"/>
                </a:moveTo>
                <a:lnTo>
                  <a:pt x="0" y="0"/>
                </a:lnTo>
                <a:lnTo>
                  <a:pt x="0" y="6858000"/>
                </a:lnTo>
                <a:lnTo>
                  <a:pt x="12192000" y="6858000"/>
                </a:lnTo>
                <a:lnTo>
                  <a:pt x="12192000" y="0"/>
                </a:lnTo>
                <a:close/>
              </a:path>
            </a:pathLst>
          </a:custGeom>
          <a:solidFill>
            <a:srgbClr val="0B2D3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63" name="Google Shape;463;p35"/>
          <p:cNvSpPr txBox="1"/>
          <p:nvPr/>
        </p:nvSpPr>
        <p:spPr>
          <a:xfrm>
            <a:off x="357195" y="213850"/>
            <a:ext cx="5427300" cy="354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 sz="2300">
                <a:solidFill>
                  <a:srgbClr val="02C39A"/>
                </a:solidFill>
                <a:latin typeface="Cambria"/>
                <a:ea typeface="Cambria"/>
                <a:cs typeface="Cambria"/>
                <a:sym typeface="Cambria"/>
              </a:rPr>
              <a:t>Discussion &amp; Next Steps</a:t>
            </a:r>
            <a:endParaRPr b="1" sz="2300">
              <a:solidFill>
                <a:srgbClr val="02C39A"/>
              </a:solidFill>
              <a:latin typeface="Cambria"/>
              <a:ea typeface="Cambria"/>
              <a:cs typeface="Cambria"/>
              <a:sym typeface="Cambria"/>
            </a:endParaRPr>
          </a:p>
        </p:txBody>
      </p:sp>
      <p:sp>
        <p:nvSpPr>
          <p:cNvPr descr="$PPTXTitle" id="464" name="Google Shape;464;p35"/>
          <p:cNvSpPr txBox="1"/>
          <p:nvPr>
            <p:ph type="ctrTitle"/>
          </p:nvPr>
        </p:nvSpPr>
        <p:spPr>
          <a:xfrm>
            <a:off x="357195" y="647700"/>
            <a:ext cx="8001000" cy="854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lang="en" sz="4000">
                <a:solidFill>
                  <a:srgbClr val="FFFFFF"/>
                </a:solidFill>
                <a:latin typeface="Cambria"/>
                <a:ea typeface="Cambria"/>
                <a:cs typeface="Cambria"/>
                <a:sym typeface="Cambria"/>
              </a:rPr>
              <a:t>Any Questions?</a:t>
            </a:r>
            <a:endParaRPr b="1" sz="4000">
              <a:solidFill>
                <a:srgbClr val="FFFFFF"/>
              </a:solidFill>
              <a:latin typeface="Cambria"/>
              <a:ea typeface="Cambria"/>
              <a:cs typeface="Cambria"/>
              <a:sym typeface="Cambria"/>
            </a:endParaRPr>
          </a:p>
          <a:p>
            <a:pPr indent="0" lvl="0" marL="0" rtl="0" algn="l">
              <a:spcBef>
                <a:spcPts val="300"/>
              </a:spcBef>
              <a:spcAft>
                <a:spcPts val="0"/>
              </a:spcAft>
              <a:buNone/>
            </a:pPr>
            <a:r>
              <a:rPr b="0" i="1" lang="en" sz="1300">
                <a:solidFill>
                  <a:srgbClr val="8EC3C1"/>
                </a:solidFill>
                <a:latin typeface="Calibri"/>
                <a:ea typeface="Calibri"/>
                <a:cs typeface="Calibri"/>
                <a:sym typeface="Calibri"/>
              </a:rPr>
              <a:t>Questions, feedback, and next-step alignment welcome.</a:t>
            </a:r>
            <a:endParaRPr b="0" i="1" sz="1300">
              <a:solidFill>
                <a:srgbClr val="8EC3C1"/>
              </a:solidFill>
              <a:latin typeface="Calibri"/>
              <a:ea typeface="Calibri"/>
              <a:cs typeface="Calibri"/>
              <a:sym typeface="Calibri"/>
            </a:endParaRPr>
          </a:p>
        </p:txBody>
      </p:sp>
      <p:grpSp>
        <p:nvGrpSpPr>
          <p:cNvPr id="465" name="Google Shape;465;p35"/>
          <p:cNvGrpSpPr/>
          <p:nvPr/>
        </p:nvGrpSpPr>
        <p:grpSpPr>
          <a:xfrm>
            <a:off x="419695" y="1714500"/>
            <a:ext cx="8001000" cy="2381400"/>
            <a:chOff x="571500" y="1714500"/>
            <a:chExt cx="8001000" cy="2381400"/>
          </a:xfrm>
        </p:grpSpPr>
        <p:grpSp>
          <p:nvGrpSpPr>
            <p:cNvPr id="466" name="Google Shape;466;p35"/>
            <p:cNvGrpSpPr/>
            <p:nvPr/>
          </p:nvGrpSpPr>
          <p:grpSpPr>
            <a:xfrm>
              <a:off x="571500" y="1714500"/>
              <a:ext cx="2476500" cy="2381400"/>
              <a:chOff x="0" y="0"/>
              <a:chExt cx="2476500" cy="2381400"/>
            </a:xfrm>
          </p:grpSpPr>
          <p:sp>
            <p:nvSpPr>
              <p:cNvPr id="467" name="Google Shape;467;p35"/>
              <p:cNvSpPr/>
              <p:nvPr/>
            </p:nvSpPr>
            <p:spPr>
              <a:xfrm>
                <a:off x="0" y="0"/>
                <a:ext cx="2476500" cy="2381400"/>
              </a:xfrm>
              <a:prstGeom prst="roundRect">
                <a:avLst>
                  <a:gd fmla="val 4000" name="adj"/>
                </a:avLst>
              </a:prstGeom>
              <a:solidFill>
                <a:srgbClr val="0E3E47"/>
              </a:solidFill>
              <a:ln cap="flat" cmpd="sng" w="14300">
                <a:solidFill>
                  <a:srgbClr val="1D5A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8" name="Google Shape;468;p35"/>
              <p:cNvSpPr txBox="1"/>
              <p:nvPr/>
            </p:nvSpPr>
            <p:spPr>
              <a:xfrm>
                <a:off x="228600" y="228600"/>
                <a:ext cx="2019300" cy="192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800">
                    <a:solidFill>
                      <a:srgbClr val="02C39A"/>
                    </a:solidFill>
                    <a:latin typeface="Material Icons"/>
                    <a:ea typeface="Material Icons"/>
                    <a:cs typeface="Material Icons"/>
                    <a:sym typeface="Material Icons"/>
                  </a:rPr>
                  <a:t>help_outline</a:t>
                </a:r>
                <a:endParaRPr sz="2800">
                  <a:solidFill>
                    <a:srgbClr val="02C39A"/>
                  </a:solidFill>
                  <a:latin typeface="Material Icons"/>
                  <a:ea typeface="Material Icons"/>
                  <a:cs typeface="Material Icons"/>
                  <a:sym typeface="Material Icons"/>
                </a:endParaRPr>
              </a:p>
              <a:p>
                <a:pPr indent="0" lvl="0" marL="0" rtl="0" algn="l">
                  <a:spcBef>
                    <a:spcPts val="900"/>
                  </a:spcBef>
                  <a:spcAft>
                    <a:spcPts val="0"/>
                  </a:spcAft>
                  <a:buNone/>
                </a:pPr>
                <a:r>
                  <a:rPr b="1" lang="en" sz="1500">
                    <a:solidFill>
                      <a:srgbClr val="FFFFFF"/>
                    </a:solidFill>
                    <a:latin typeface="Cambria"/>
                    <a:ea typeface="Cambria"/>
                    <a:cs typeface="Cambria"/>
                    <a:sym typeface="Cambria"/>
                  </a:rPr>
                  <a:t>Questions</a:t>
                </a:r>
                <a:endParaRPr b="1" sz="1500">
                  <a:solidFill>
                    <a:srgbClr val="FFFFFF"/>
                  </a:solidFill>
                  <a:latin typeface="Cambria"/>
                  <a:ea typeface="Cambria"/>
                  <a:cs typeface="Cambria"/>
                  <a:sym typeface="Cambria"/>
                </a:endParaRPr>
              </a:p>
              <a:p>
                <a:pPr indent="0" lvl="0" marL="0" rtl="0" algn="l">
                  <a:spcBef>
                    <a:spcPts val="600"/>
                  </a:spcBef>
                  <a:spcAft>
                    <a:spcPts val="0"/>
                  </a:spcAft>
                  <a:buNone/>
                </a:pPr>
                <a:r>
                  <a:rPr b="0" lang="en" sz="1000">
                    <a:solidFill>
                      <a:srgbClr val="CFE9E8"/>
                    </a:solidFill>
                    <a:latin typeface="Calibri"/>
                    <a:ea typeface="Calibri"/>
                    <a:cs typeface="Calibri"/>
                    <a:sym typeface="Calibri"/>
                  </a:rPr>
                  <a:t>Deep-dive into Snowflake Cortex architecture, agent routing, or data quality controls.</a:t>
                </a:r>
                <a:endParaRPr b="0" sz="1000">
                  <a:solidFill>
                    <a:srgbClr val="CFE9E8"/>
                  </a:solidFill>
                  <a:latin typeface="Calibri"/>
                  <a:ea typeface="Calibri"/>
                  <a:cs typeface="Calibri"/>
                  <a:sym typeface="Calibri"/>
                </a:endParaRPr>
              </a:p>
            </p:txBody>
          </p:sp>
        </p:grpSp>
        <p:grpSp>
          <p:nvGrpSpPr>
            <p:cNvPr id="469" name="Google Shape;469;p35"/>
            <p:cNvGrpSpPr/>
            <p:nvPr/>
          </p:nvGrpSpPr>
          <p:grpSpPr>
            <a:xfrm>
              <a:off x="3333750" y="1714500"/>
              <a:ext cx="2476500" cy="2381400"/>
              <a:chOff x="0" y="0"/>
              <a:chExt cx="2476500" cy="2381400"/>
            </a:xfrm>
          </p:grpSpPr>
          <p:sp>
            <p:nvSpPr>
              <p:cNvPr id="470" name="Google Shape;470;p35"/>
              <p:cNvSpPr/>
              <p:nvPr/>
            </p:nvSpPr>
            <p:spPr>
              <a:xfrm>
                <a:off x="0" y="0"/>
                <a:ext cx="2476500" cy="2381400"/>
              </a:xfrm>
              <a:prstGeom prst="roundRect">
                <a:avLst>
                  <a:gd fmla="val 4000" name="adj"/>
                </a:avLst>
              </a:prstGeom>
              <a:solidFill>
                <a:srgbClr val="0E3E47"/>
              </a:solidFill>
              <a:ln cap="flat" cmpd="sng" w="14300">
                <a:solidFill>
                  <a:srgbClr val="1D5A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1" name="Google Shape;471;p35"/>
              <p:cNvSpPr txBox="1"/>
              <p:nvPr/>
            </p:nvSpPr>
            <p:spPr>
              <a:xfrm>
                <a:off x="228600" y="228600"/>
                <a:ext cx="2019300" cy="192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800">
                    <a:solidFill>
                      <a:srgbClr val="02C39A"/>
                    </a:solidFill>
                    <a:latin typeface="Material Icons"/>
                    <a:ea typeface="Material Icons"/>
                    <a:cs typeface="Material Icons"/>
                    <a:sym typeface="Material Icons"/>
                  </a:rPr>
                  <a:t>rate_review</a:t>
                </a:r>
                <a:endParaRPr sz="2800">
                  <a:solidFill>
                    <a:srgbClr val="02C39A"/>
                  </a:solidFill>
                  <a:latin typeface="Material Icons"/>
                  <a:ea typeface="Material Icons"/>
                  <a:cs typeface="Material Icons"/>
                  <a:sym typeface="Material Icons"/>
                </a:endParaRPr>
              </a:p>
              <a:p>
                <a:pPr indent="0" lvl="0" marL="0" rtl="0" algn="l">
                  <a:spcBef>
                    <a:spcPts val="900"/>
                  </a:spcBef>
                  <a:spcAft>
                    <a:spcPts val="0"/>
                  </a:spcAft>
                  <a:buNone/>
                </a:pPr>
                <a:r>
                  <a:rPr b="1" lang="en" sz="1500">
                    <a:solidFill>
                      <a:srgbClr val="FFFFFF"/>
                    </a:solidFill>
                    <a:latin typeface="Cambria"/>
                    <a:ea typeface="Cambria"/>
                    <a:cs typeface="Cambria"/>
                    <a:sym typeface="Cambria"/>
                  </a:rPr>
                  <a:t>Feedback</a:t>
                </a:r>
                <a:endParaRPr b="1" sz="1500">
                  <a:solidFill>
                    <a:srgbClr val="FFFFFF"/>
                  </a:solidFill>
                  <a:latin typeface="Cambria"/>
                  <a:ea typeface="Cambria"/>
                  <a:cs typeface="Cambria"/>
                  <a:sym typeface="Cambria"/>
                </a:endParaRPr>
              </a:p>
              <a:p>
                <a:pPr indent="0" lvl="0" marL="0" rtl="0" algn="l">
                  <a:spcBef>
                    <a:spcPts val="600"/>
                  </a:spcBef>
                  <a:spcAft>
                    <a:spcPts val="0"/>
                  </a:spcAft>
                  <a:buNone/>
                </a:pPr>
                <a:r>
                  <a:rPr b="0" lang="en" sz="1000">
                    <a:solidFill>
                      <a:srgbClr val="CFE9E8"/>
                    </a:solidFill>
                    <a:latin typeface="Calibri"/>
                    <a:ea typeface="Calibri"/>
                    <a:cs typeface="Calibri"/>
                    <a:sym typeface="Calibri"/>
                  </a:rPr>
                  <a:t>Share insights on triage accuracy, fraud scoring thresholds, and adjuster workflow ergonomics.</a:t>
                </a:r>
                <a:endParaRPr b="0" sz="1000">
                  <a:solidFill>
                    <a:srgbClr val="CFE9E8"/>
                  </a:solidFill>
                  <a:latin typeface="Calibri"/>
                  <a:ea typeface="Calibri"/>
                  <a:cs typeface="Calibri"/>
                  <a:sym typeface="Calibri"/>
                </a:endParaRPr>
              </a:p>
            </p:txBody>
          </p:sp>
        </p:grpSp>
        <p:grpSp>
          <p:nvGrpSpPr>
            <p:cNvPr id="472" name="Google Shape;472;p35"/>
            <p:cNvGrpSpPr/>
            <p:nvPr/>
          </p:nvGrpSpPr>
          <p:grpSpPr>
            <a:xfrm>
              <a:off x="6096000" y="1714500"/>
              <a:ext cx="2476500" cy="2381400"/>
              <a:chOff x="0" y="0"/>
              <a:chExt cx="2476500" cy="2381400"/>
            </a:xfrm>
          </p:grpSpPr>
          <p:sp>
            <p:nvSpPr>
              <p:cNvPr id="473" name="Google Shape;473;p35"/>
              <p:cNvSpPr/>
              <p:nvPr/>
            </p:nvSpPr>
            <p:spPr>
              <a:xfrm>
                <a:off x="0" y="0"/>
                <a:ext cx="2476500" cy="2381400"/>
              </a:xfrm>
              <a:prstGeom prst="roundRect">
                <a:avLst>
                  <a:gd fmla="val 4000" name="adj"/>
                </a:avLst>
              </a:prstGeom>
              <a:solidFill>
                <a:srgbClr val="0E3E47"/>
              </a:solidFill>
              <a:ln cap="flat" cmpd="sng" w="14300">
                <a:solidFill>
                  <a:srgbClr val="1D5A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4" name="Google Shape;474;p35"/>
              <p:cNvSpPr txBox="1"/>
              <p:nvPr/>
            </p:nvSpPr>
            <p:spPr>
              <a:xfrm>
                <a:off x="228600" y="228600"/>
                <a:ext cx="2019300" cy="192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800">
                    <a:solidFill>
                      <a:srgbClr val="02C39A"/>
                    </a:solidFill>
                    <a:latin typeface="Material Icons"/>
                    <a:ea typeface="Material Icons"/>
                    <a:cs typeface="Material Icons"/>
                    <a:sym typeface="Material Icons"/>
                  </a:rPr>
                  <a:t>alt_route</a:t>
                </a:r>
                <a:endParaRPr sz="2800">
                  <a:solidFill>
                    <a:srgbClr val="02C39A"/>
                  </a:solidFill>
                  <a:latin typeface="Material Icons"/>
                  <a:ea typeface="Material Icons"/>
                  <a:cs typeface="Material Icons"/>
                  <a:sym typeface="Material Icons"/>
                </a:endParaRPr>
              </a:p>
              <a:p>
                <a:pPr indent="0" lvl="0" marL="0" rtl="0" algn="l">
                  <a:spcBef>
                    <a:spcPts val="900"/>
                  </a:spcBef>
                  <a:spcAft>
                    <a:spcPts val="0"/>
                  </a:spcAft>
                  <a:buNone/>
                </a:pPr>
                <a:r>
                  <a:rPr b="1" lang="en" sz="1500">
                    <a:solidFill>
                      <a:srgbClr val="FFFFFF"/>
                    </a:solidFill>
                    <a:latin typeface="Cambria"/>
                    <a:ea typeface="Cambria"/>
                    <a:cs typeface="Cambria"/>
                    <a:sym typeface="Cambria"/>
                  </a:rPr>
                  <a:t>Next Steps</a:t>
                </a:r>
                <a:endParaRPr b="1" sz="1500">
                  <a:solidFill>
                    <a:srgbClr val="FFFFFF"/>
                  </a:solidFill>
                  <a:latin typeface="Cambria"/>
                  <a:ea typeface="Cambria"/>
                  <a:cs typeface="Cambria"/>
                  <a:sym typeface="Cambria"/>
                </a:endParaRPr>
              </a:p>
              <a:p>
                <a:pPr indent="0" lvl="0" marL="0" rtl="0" algn="l">
                  <a:spcBef>
                    <a:spcPts val="600"/>
                  </a:spcBef>
                  <a:spcAft>
                    <a:spcPts val="0"/>
                  </a:spcAft>
                  <a:buNone/>
                </a:pPr>
                <a:r>
                  <a:rPr b="0" lang="en" sz="1000">
                    <a:solidFill>
                      <a:srgbClr val="CFE9E8"/>
                    </a:solidFill>
                    <a:latin typeface="Calibri"/>
                    <a:ea typeface="Calibri"/>
                    <a:cs typeface="Calibri"/>
                    <a:sym typeface="Calibri"/>
                  </a:rPr>
                  <a:t>Align on pilot scope, timeline, MCP system integrations, and row-level security setup.</a:t>
                </a:r>
                <a:endParaRPr b="0" sz="1000">
                  <a:solidFill>
                    <a:srgbClr val="CFE9E8"/>
                  </a:solidFill>
                  <a:latin typeface="Calibri"/>
                  <a:ea typeface="Calibri"/>
                  <a:cs typeface="Calibri"/>
                  <a:sym typeface="Calibri"/>
                </a:endParaRPr>
              </a:p>
            </p:txBody>
          </p:sp>
        </p:grpSp>
      </p:grpSp>
      <p:grpSp>
        <p:nvGrpSpPr>
          <p:cNvPr id="475" name="Google Shape;475;p35"/>
          <p:cNvGrpSpPr/>
          <p:nvPr/>
        </p:nvGrpSpPr>
        <p:grpSpPr>
          <a:xfrm>
            <a:off x="-17859" y="4648200"/>
            <a:ext cx="9144000" cy="495300"/>
            <a:chOff x="0" y="0"/>
            <a:chExt cx="9144000" cy="495300"/>
          </a:xfrm>
        </p:grpSpPr>
        <p:sp>
          <p:nvSpPr>
            <p:cNvPr id="476" name="Google Shape;476;p35"/>
            <p:cNvSpPr/>
            <p:nvPr/>
          </p:nvSpPr>
          <p:spPr>
            <a:xfrm>
              <a:off x="0" y="0"/>
              <a:ext cx="9144000" cy="495300"/>
            </a:xfrm>
            <a:prstGeom prst="rect">
              <a:avLst/>
            </a:prstGeom>
            <a:solidFill>
              <a:srgbClr val="04181B"/>
            </a:solidFill>
            <a:ln cap="flat" cmpd="sng" w="9525">
              <a:solidFill>
                <a:srgbClr val="1A4A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7" name="Google Shape;477;p35"/>
            <p:cNvSpPr txBox="1"/>
            <p:nvPr/>
          </p:nvSpPr>
          <p:spPr>
            <a:xfrm>
              <a:off x="0" y="0"/>
              <a:ext cx="9144000" cy="495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000">
                  <a:solidFill>
                    <a:srgbClr val="CFE9E8"/>
                  </a:solidFill>
                  <a:latin typeface="Calibri"/>
                  <a:ea typeface="Calibri"/>
                  <a:cs typeface="Calibri"/>
                  <a:sym typeface="Calibri"/>
                </a:rPr>
                <a:t>⚡ </a:t>
              </a:r>
              <a:r>
                <a:rPr b="1" lang="en" sz="1000">
                  <a:solidFill>
                    <a:srgbClr val="02C39A"/>
                  </a:solidFill>
                  <a:latin typeface="Calibri"/>
                  <a:ea typeface="Calibri"/>
                  <a:cs typeface="Calibri"/>
                  <a:sym typeface="Calibri"/>
                </a:rPr>
                <a:t>Claims Fraud Triage Copilot</a:t>
              </a:r>
              <a:r>
                <a:rPr lang="en" sz="1000">
                  <a:solidFill>
                    <a:srgbClr val="CFE9E8"/>
                  </a:solidFill>
                  <a:latin typeface="Calibri"/>
                  <a:ea typeface="Calibri"/>
                  <a:cs typeface="Calibri"/>
                  <a:sym typeface="Calibri"/>
                </a:rPr>
                <a:t> — A Unified Enterprise AI Agents Platform powered by Snowflake Cortex</a:t>
              </a:r>
              <a:endParaRPr sz="1000">
                <a:solidFill>
                  <a:srgbClr val="CFE9E8"/>
                </a:solidFill>
                <a:latin typeface="Calibri"/>
                <a:ea typeface="Calibri"/>
                <a:cs typeface="Calibri"/>
                <a:sym typeface="Calibri"/>
              </a:endParaRPr>
            </a:p>
          </p:txBody>
        </p:sp>
      </p:grpSp>
      <p:pic>
        <p:nvPicPr>
          <p:cNvPr id="478" name="Google Shape;478;p35" title="STREAMLIT_MEDIA_FILE_E7251326BB6F491788A5E45AD5FFB55C.png"/>
          <p:cNvPicPr preferRelativeResize="0"/>
          <p:nvPr/>
        </p:nvPicPr>
        <p:blipFill rotWithShape="1">
          <a:blip r:embed="rId4">
            <a:alphaModFix/>
          </a:blip>
          <a:srcRect b="12381" l="3078" r="70812" t="0"/>
          <a:stretch/>
        </p:blipFill>
        <p:spPr>
          <a:xfrm>
            <a:off x="8368373" y="38775"/>
            <a:ext cx="638443" cy="7041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